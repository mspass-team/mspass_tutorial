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58" r:id="rId2"/>
    <p:sldId id="259" r:id="rId3"/>
    <p:sldId id="287" r:id="rId4"/>
    <p:sldId id="463" r:id="rId5"/>
    <p:sldId id="288" r:id="rId6"/>
    <p:sldId id="448" r:id="rId7"/>
    <p:sldId id="450" r:id="rId8"/>
    <p:sldId id="449" r:id="rId9"/>
    <p:sldId id="279" r:id="rId10"/>
    <p:sldId id="282" r:id="rId11"/>
    <p:sldId id="451" r:id="rId12"/>
    <p:sldId id="280" r:id="rId13"/>
    <p:sldId id="283" r:id="rId14"/>
    <p:sldId id="284" r:id="rId15"/>
    <p:sldId id="292" r:id="rId16"/>
    <p:sldId id="452" r:id="rId17"/>
    <p:sldId id="260" r:id="rId18"/>
    <p:sldId id="289" r:id="rId19"/>
    <p:sldId id="458" r:id="rId20"/>
    <p:sldId id="460" r:id="rId21"/>
    <p:sldId id="459" r:id="rId22"/>
    <p:sldId id="461" r:id="rId23"/>
    <p:sldId id="265" r:id="rId24"/>
    <p:sldId id="453" r:id="rId25"/>
    <p:sldId id="454" r:id="rId26"/>
    <p:sldId id="455" r:id="rId27"/>
    <p:sldId id="456" r:id="rId28"/>
    <p:sldId id="457" r:id="rId29"/>
    <p:sldId id="46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/>
    <p:restoredTop sz="94640"/>
  </p:normalViewPr>
  <p:slideViewPr>
    <p:cSldViewPr snapToGrid="0">
      <p:cViewPr varScale="1">
        <p:scale>
          <a:sx n="116" d="100"/>
          <a:sy n="116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6AFF43-F87E-A044-8E96-E4D273BB509B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E6913-E011-9443-A07F-3F023F2AB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1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E6913-E011-9443-A07F-3F023F2AB42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04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7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43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08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351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90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3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5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980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1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54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809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180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0752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305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038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72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021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7F052-21D6-4F4C-A634-E45809372CD2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11856-1CC7-174E-A93C-40BBFBDC8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296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pass.org/user_manual/algorithms.html" TargetMode="External"/><Relationship Id="rId2" Type="http://schemas.openxmlformats.org/officeDocument/2006/relationships/hyperlink" Target="https://www.mspass.org/user_manual/parallel_processing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spass.org/user_manual/components.htm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8039C-7AAA-C74F-AC7F-4A9B279C69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273" y="2712560"/>
            <a:ext cx="6752110" cy="1373070"/>
          </a:xfrm>
        </p:spPr>
        <p:txBody>
          <a:bodyPr anchor="ctr">
            <a:normAutofit/>
          </a:bodyPr>
          <a:lstStyle/>
          <a:p>
            <a:pPr algn="ctr"/>
            <a:r>
              <a:rPr lang="en-US" sz="2400" dirty="0"/>
              <a:t>Using </a:t>
            </a:r>
            <a:r>
              <a:rPr lang="en-US" sz="2400" dirty="0" err="1"/>
              <a:t>MsPASS</a:t>
            </a:r>
            <a:r>
              <a:rPr lang="en-US" sz="2400" dirty="0"/>
              <a:t> for Data Processing on HPC and Cloud Systems</a:t>
            </a:r>
            <a:br>
              <a:rPr lang="en-US" sz="2400" dirty="0"/>
            </a:br>
            <a:br>
              <a:rPr lang="en-US" sz="2400" dirty="0"/>
            </a:br>
            <a:r>
              <a:rPr lang="en-US" sz="2000" dirty="0"/>
              <a:t>Session 2:   Parallel Processing</a:t>
            </a:r>
            <a:endParaRPr lang="en-US" sz="2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708D3A-E36C-974B-BBB5-14EA025C1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6752109" cy="1117687"/>
          </a:xfrm>
        </p:spPr>
        <p:txBody>
          <a:bodyPr>
            <a:normAutofit/>
          </a:bodyPr>
          <a:lstStyle/>
          <a:p>
            <a:r>
              <a:rPr lang="en-US" sz="1700" dirty="0"/>
              <a:t>Prof. Gary L. </a:t>
            </a:r>
            <a:r>
              <a:rPr lang="en-US" sz="1700" dirty="0" err="1"/>
              <a:t>Pavlis</a:t>
            </a:r>
            <a:endParaRPr lang="en-US" sz="1700" dirty="0"/>
          </a:p>
          <a:p>
            <a:r>
              <a:rPr lang="en-US" sz="1700" dirty="0"/>
              <a:t>Department of Earth and Atmospheric Sciences</a:t>
            </a:r>
          </a:p>
          <a:p>
            <a:r>
              <a:rPr lang="en-US" sz="1700" dirty="0"/>
              <a:t>Indiana University, Bloomington, IN</a:t>
            </a:r>
          </a:p>
        </p:txBody>
      </p:sp>
      <p:pic>
        <p:nvPicPr>
          <p:cNvPr id="4" name="Picture 3" descr="NSF_4-Color_bitmap_Logo.png">
            <a:extLst>
              <a:ext uri="{FF2B5EF4-FFF2-40B4-BE49-F238E27FC236}">
                <a16:creationId xmlns:a16="http://schemas.microsoft.com/office/drawing/2014/main" id="{EC636690-7601-D54D-949E-AF401A844E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7091" y="1741322"/>
            <a:ext cx="3358478" cy="3375355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C590E1-5245-0AE3-D3A2-971BC5F4B2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230" y="5326039"/>
            <a:ext cx="3886200" cy="126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991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A5E5C-62A0-2333-58CB-016AE92D9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C1D24-D145-8557-D217-5FF8BC24F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020186"/>
            <a:ext cx="9613861" cy="483781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Questions from Homework</a:t>
            </a:r>
          </a:p>
          <a:p>
            <a:r>
              <a:rPr lang="en-US" dirty="0"/>
              <a:t>Lecture1:   Parallel Processing</a:t>
            </a:r>
          </a:p>
          <a:p>
            <a:pPr lvl="1"/>
            <a:r>
              <a:rPr lang="en-US" dirty="0"/>
              <a:t>Review of key points from </a:t>
            </a:r>
            <a:r>
              <a:rPr lang="en-US" dirty="0" err="1"/>
              <a:t>precourse</a:t>
            </a:r>
            <a:r>
              <a:rPr lang="en-US" dirty="0"/>
              <a:t> lecture on this topic</a:t>
            </a:r>
          </a:p>
          <a:p>
            <a:pPr lvl="1"/>
            <a:r>
              <a:rPr lang="en-US" dirty="0" err="1"/>
              <a:t>MsPASS</a:t>
            </a:r>
            <a:r>
              <a:rPr lang="en-US" dirty="0"/>
              <a:t> services </a:t>
            </a:r>
          </a:p>
          <a:p>
            <a:pPr lvl="1"/>
            <a:r>
              <a:rPr lang="en-US" dirty="0"/>
              <a:t>Parallel containers</a:t>
            </a:r>
          </a:p>
          <a:p>
            <a:pPr lvl="1"/>
            <a:r>
              <a:rPr lang="en-US" dirty="0"/>
              <a:t>Serial database driven workflows in </a:t>
            </a:r>
            <a:r>
              <a:rPr lang="en-US" dirty="0" err="1"/>
              <a:t>MsPASS</a:t>
            </a:r>
            <a:endParaRPr lang="en-US" dirty="0"/>
          </a:p>
          <a:p>
            <a:pPr lvl="1"/>
            <a:r>
              <a:rPr lang="en-US" dirty="0"/>
              <a:t>Converting serial workflow to a parallel one</a:t>
            </a:r>
          </a:p>
          <a:p>
            <a:pPr lvl="1"/>
            <a:r>
              <a:rPr lang="en-US" dirty="0"/>
              <a:t>Futures</a:t>
            </a:r>
          </a:p>
          <a:p>
            <a:r>
              <a:rPr lang="en-US" dirty="0"/>
              <a:t>Hands on work on </a:t>
            </a:r>
            <a:r>
              <a:rPr lang="en-US" dirty="0" err="1"/>
              <a:t>GeoLab</a:t>
            </a:r>
            <a:endParaRPr lang="en-US" dirty="0"/>
          </a:p>
          <a:p>
            <a:pPr lvl="1"/>
            <a:r>
              <a:rPr lang="en-US" dirty="0"/>
              <a:t>Simple serial process prototyping</a:t>
            </a:r>
          </a:p>
          <a:p>
            <a:pPr lvl="1"/>
            <a:r>
              <a:rPr lang="en-US" dirty="0"/>
              <a:t>Debugging serial prototype</a:t>
            </a:r>
          </a:p>
          <a:p>
            <a:pPr lvl="1"/>
            <a:r>
              <a:rPr lang="en-US" dirty="0"/>
              <a:t>Conversion to parallel </a:t>
            </a:r>
          </a:p>
          <a:p>
            <a:pPr lvl="1"/>
            <a:r>
              <a:rPr lang="en-US" dirty="0"/>
              <a:t>Monitoring performance with </a:t>
            </a:r>
            <a:r>
              <a:rPr lang="en-US" dirty="0" err="1"/>
              <a:t>dask</a:t>
            </a:r>
            <a:r>
              <a:rPr lang="en-US" dirty="0"/>
              <a:t> diagnostics</a:t>
            </a:r>
          </a:p>
          <a:p>
            <a:pPr lvl="1"/>
            <a:r>
              <a:rPr lang="en-US" dirty="0"/>
              <a:t>Example of more complicated workflow and conversion to parallel</a:t>
            </a:r>
          </a:p>
          <a:p>
            <a:r>
              <a:rPr lang="en-US" dirty="0"/>
              <a:t>Lecture 2:  Issues with stock </a:t>
            </a:r>
            <a:r>
              <a:rPr lang="en-US" dirty="0" err="1"/>
              <a:t>dask</a:t>
            </a:r>
            <a:r>
              <a:rPr lang="en-US" dirty="0"/>
              <a:t> scheduler</a:t>
            </a:r>
          </a:p>
          <a:p>
            <a:pPr lvl="1"/>
            <a:r>
              <a:rPr lang="en-US" dirty="0"/>
              <a:t>Oversubscribing CPUs</a:t>
            </a:r>
          </a:p>
          <a:p>
            <a:pPr lvl="1"/>
            <a:r>
              <a:rPr lang="en-US" dirty="0"/>
              <a:t>Memory management</a:t>
            </a:r>
          </a:p>
          <a:p>
            <a:pPr lvl="1"/>
            <a:r>
              <a:rPr lang="en-US" dirty="0"/>
              <a:t>Solution in newest </a:t>
            </a:r>
            <a:r>
              <a:rPr lang="en-US" dirty="0" err="1"/>
              <a:t>MsPASS</a:t>
            </a:r>
            <a:r>
              <a:rPr lang="en-US" dirty="0"/>
              <a:t> release using Futures and a “sliding window”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90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0B83-8A60-D642-0279-542A1797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points from </a:t>
            </a:r>
            <a:r>
              <a:rPr lang="en-US" dirty="0" err="1"/>
              <a:t>Precourse</a:t>
            </a:r>
            <a:r>
              <a:rPr lang="en-US" dirty="0"/>
              <a:t> Lecture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8AA94-608F-7165-231C-580589044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HPC and Cloud computers are clusters</a:t>
            </a:r>
          </a:p>
          <a:p>
            <a:pPr lvl="1"/>
            <a:r>
              <a:rPr lang="en-US" dirty="0"/>
              <a:t>Core – </a:t>
            </a:r>
            <a:r>
              <a:rPr lang="en-US" dirty="0" err="1"/>
              <a:t>cpu</a:t>
            </a:r>
            <a:endParaRPr lang="en-US" dirty="0"/>
          </a:p>
          <a:p>
            <a:pPr lvl="1"/>
            <a:r>
              <a:rPr lang="en-US" dirty="0"/>
              <a:t>Blade/Node – one standalone computer</a:t>
            </a:r>
          </a:p>
          <a:p>
            <a:pPr lvl="1"/>
            <a:r>
              <a:rPr lang="en-US" dirty="0"/>
              <a:t>Shared versus distributed memory</a:t>
            </a:r>
          </a:p>
          <a:p>
            <a:r>
              <a:rPr lang="en-US" dirty="0"/>
              <a:t>Parallel processing concepts</a:t>
            </a:r>
          </a:p>
          <a:p>
            <a:pPr lvl="1"/>
            <a:r>
              <a:rPr lang="en-US" dirty="0"/>
              <a:t>Threads – shared memory only</a:t>
            </a:r>
          </a:p>
          <a:p>
            <a:pPr lvl="1"/>
            <a:r>
              <a:rPr lang="en-US" dirty="0"/>
              <a:t>MPI – standard framework for simulation code</a:t>
            </a:r>
          </a:p>
          <a:p>
            <a:pPr lvl="1"/>
            <a:r>
              <a:rPr lang="en-US" dirty="0"/>
              <a:t>Foreman/worker – standard big data approach (what </a:t>
            </a:r>
            <a:r>
              <a:rPr lang="en-US" dirty="0" err="1"/>
              <a:t>MsPASS</a:t>
            </a:r>
            <a:r>
              <a:rPr lang="en-US" dirty="0"/>
              <a:t> uses)</a:t>
            </a:r>
          </a:p>
        </p:txBody>
      </p:sp>
    </p:spTree>
    <p:extLst>
      <p:ext uri="{BB962C8B-B14F-4D97-AF65-F5344CB8AC3E}">
        <p14:creationId xmlns:p14="http://schemas.microsoft.com/office/powerpoint/2010/main" val="1474878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D7CE9F-4F78-172C-71A4-11352D848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that background a short poll to help me understand my audience</a:t>
            </a:r>
          </a:p>
        </p:txBody>
      </p:sp>
    </p:spTree>
    <p:extLst>
      <p:ext uri="{BB962C8B-B14F-4D97-AF65-F5344CB8AC3E}">
        <p14:creationId xmlns:p14="http://schemas.microsoft.com/office/powerpoint/2010/main" val="28105865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2FA5-515A-82FE-3C38-A3A8AD0A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Service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D7C39-E414-3AF6-2A6E-4AFA82C51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Generic abstraction of UNIX daemon (background process)</a:t>
            </a:r>
          </a:p>
          <a:p>
            <a:r>
              <a:rPr lang="en-US" dirty="0"/>
              <a:t>Central to cloud computing </a:t>
            </a:r>
          </a:p>
          <a:p>
            <a:r>
              <a:rPr lang="en-US" dirty="0"/>
              <a:t>Main ideas</a:t>
            </a:r>
          </a:p>
          <a:p>
            <a:pPr lvl="1"/>
            <a:r>
              <a:rPr lang="en-US" dirty="0"/>
              <a:t>A service is a  piece of software that runs in the background</a:t>
            </a:r>
          </a:p>
          <a:p>
            <a:pPr lvl="1"/>
            <a:r>
              <a:rPr lang="en-US" dirty="0"/>
              <a:t>A service responds to requests via an API </a:t>
            </a:r>
          </a:p>
          <a:p>
            <a:pPr lvl="1"/>
            <a:r>
              <a:rPr lang="en-US" dirty="0"/>
              <a:t>A service is often conceptualized as a black box with a name tag</a:t>
            </a:r>
          </a:p>
        </p:txBody>
      </p:sp>
    </p:spTree>
    <p:extLst>
      <p:ext uri="{BB962C8B-B14F-4D97-AF65-F5344CB8AC3E}">
        <p14:creationId xmlns:p14="http://schemas.microsoft.com/office/powerpoint/2010/main" val="2070299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72CD20E-AAEE-8827-036B-9C4B59BF2F16}"/>
              </a:ext>
            </a:extLst>
          </p:cNvPr>
          <p:cNvSpPr/>
          <p:nvPr/>
        </p:nvSpPr>
        <p:spPr>
          <a:xfrm>
            <a:off x="-95250" y="-247651"/>
            <a:ext cx="12382500" cy="7353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79DB8-ABB1-CD05-C5ED-55E0A70FB01B}"/>
              </a:ext>
            </a:extLst>
          </p:cNvPr>
          <p:cNvSpPr txBox="1"/>
          <p:nvPr/>
        </p:nvSpPr>
        <p:spPr>
          <a:xfrm>
            <a:off x="1711841" y="3753289"/>
            <a:ext cx="29877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solidFill>
                  <a:srgbClr val="FF0000"/>
                </a:solidFill>
              </a:rPr>
              <a:t>GeoLab</a:t>
            </a:r>
            <a:endParaRPr lang="en-US" sz="6000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AE1AA-6223-F790-55FC-68B8754FE622}"/>
              </a:ext>
            </a:extLst>
          </p:cNvPr>
          <p:cNvSpPr txBox="1"/>
          <p:nvPr/>
        </p:nvSpPr>
        <p:spPr>
          <a:xfrm>
            <a:off x="6475225" y="116963"/>
            <a:ext cx="26687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B0F0"/>
                </a:solidFill>
              </a:rPr>
              <a:t>MongoDB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69839-7B72-E419-54EA-FD22BA496C5B}"/>
              </a:ext>
            </a:extLst>
          </p:cNvPr>
          <p:cNvSpPr txBox="1"/>
          <p:nvPr/>
        </p:nvSpPr>
        <p:spPr>
          <a:xfrm>
            <a:off x="5114260" y="2477386"/>
            <a:ext cx="21371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solidFill>
                  <a:srgbClr val="FFC000"/>
                </a:solidFill>
              </a:rPr>
              <a:t>Dask</a:t>
            </a:r>
            <a:endParaRPr lang="en-US" sz="4800" dirty="0">
              <a:solidFill>
                <a:srgbClr val="FFC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24CCBF-A97C-9A4D-79F1-DCED13832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491" y="0"/>
            <a:ext cx="9558239" cy="720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44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7F462-457A-694A-46D0-544B66C3E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interact with services via an API</a:t>
            </a:r>
            <a:br>
              <a:rPr lang="en-US" dirty="0"/>
            </a:br>
            <a:r>
              <a:rPr lang="en-US" dirty="0"/>
              <a:t>(Application Programming Interface)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B54E6-6DA1-3CBC-E83B-923E3D09D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Service:   </a:t>
            </a:r>
            <a:r>
              <a:rPr lang="en-US" dirty="0" err="1"/>
              <a:t>pymongo</a:t>
            </a:r>
            <a:endParaRPr lang="en-US" dirty="0"/>
          </a:p>
          <a:p>
            <a:r>
              <a:rPr lang="en-US" dirty="0"/>
              <a:t>Cluster service:  </a:t>
            </a:r>
            <a:r>
              <a:rPr lang="en-US" dirty="0" err="1"/>
              <a:t>dask</a:t>
            </a:r>
            <a:r>
              <a:rPr lang="en-US" dirty="0"/>
              <a:t> distributed</a:t>
            </a:r>
          </a:p>
          <a:p>
            <a:r>
              <a:rPr lang="en-US" dirty="0"/>
              <a:t>Frontend service:   interactive with </a:t>
            </a:r>
            <a:r>
              <a:rPr lang="en-US" dirty="0" err="1"/>
              <a:t>jupyter</a:t>
            </a:r>
            <a:r>
              <a:rPr lang="en-US" dirty="0"/>
              <a:t> notebook or batch python script run</a:t>
            </a:r>
          </a:p>
        </p:txBody>
      </p:sp>
    </p:spTree>
    <p:extLst>
      <p:ext uri="{BB962C8B-B14F-4D97-AF65-F5344CB8AC3E}">
        <p14:creationId xmlns:p14="http://schemas.microsoft.com/office/powerpoint/2010/main" val="1979970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67EB4-8565-0784-73C6-D296DAA93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I need to know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A149A-B817-3001-9113-105C914E3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don’t to get started – Monday was a case in point</a:t>
            </a:r>
          </a:p>
          <a:p>
            <a:r>
              <a:rPr lang="en-US" dirty="0"/>
              <a:t>When this material is important</a:t>
            </a:r>
          </a:p>
          <a:p>
            <a:pPr lvl="1"/>
            <a:r>
              <a:rPr lang="en-US" dirty="0"/>
              <a:t>When you are tuning a workflow for performance</a:t>
            </a:r>
          </a:p>
          <a:p>
            <a:pPr lvl="1"/>
            <a:r>
              <a:rPr lang="en-US" dirty="0"/>
              <a:t>When you are configuring an HPC cluster (Friday topic)</a:t>
            </a:r>
          </a:p>
          <a:p>
            <a:pPr lvl="1"/>
            <a:r>
              <a:rPr lang="en-US" dirty="0"/>
              <a:t>When something goes wrong – it is possible to crash any of these services</a:t>
            </a:r>
          </a:p>
        </p:txBody>
      </p:sp>
    </p:spTree>
    <p:extLst>
      <p:ext uri="{BB962C8B-B14F-4D97-AF65-F5344CB8AC3E}">
        <p14:creationId xmlns:p14="http://schemas.microsoft.com/office/powerpoint/2010/main" val="3955162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57F2-E538-FA54-6545-0F292D2FD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Dask</a:t>
            </a:r>
            <a:r>
              <a:rPr lang="en-US" sz="2800" dirty="0"/>
              <a:t> distributed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E22B4-B360-7E1F-EBAA-FE9F4EFC4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Generic parallel processing framework of </a:t>
            </a:r>
            <a:r>
              <a:rPr lang="en-US" dirty="0" err="1"/>
              <a:t>MsPASS</a:t>
            </a:r>
            <a:endParaRPr lang="en-US" dirty="0"/>
          </a:p>
          <a:p>
            <a:r>
              <a:rPr lang="en-US" dirty="0"/>
              <a:t>Importance:   provide a generic mechanism to run task in parallel</a:t>
            </a:r>
          </a:p>
          <a:p>
            <a:r>
              <a:rPr lang="en-US" dirty="0"/>
              <a:t>Concepts:  next slide</a:t>
            </a:r>
          </a:p>
        </p:txBody>
      </p:sp>
    </p:spTree>
    <p:extLst>
      <p:ext uri="{BB962C8B-B14F-4D97-AF65-F5344CB8AC3E}">
        <p14:creationId xmlns:p14="http://schemas.microsoft.com/office/powerpoint/2010/main" val="2737819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A0A6B-A335-03B2-6C29-28B35A299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Parallel Processing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B2A98-BDA4-789D-1318-5AF0B0DC3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</a:t>
            </a:r>
            <a:r>
              <a:rPr lang="en-US" dirty="0" err="1"/>
              <a:t>Precourse</a:t>
            </a:r>
            <a:r>
              <a:rPr lang="en-US" dirty="0"/>
              <a:t> lecture concepts</a:t>
            </a:r>
          </a:p>
          <a:p>
            <a:pPr lvl="1"/>
            <a:r>
              <a:rPr lang="en-US" dirty="0"/>
              <a:t>Baking a cake analogy</a:t>
            </a:r>
          </a:p>
          <a:p>
            <a:pPr lvl="1"/>
            <a:r>
              <a:rPr lang="en-US" dirty="0"/>
              <a:t>Foreman-worker model</a:t>
            </a:r>
          </a:p>
          <a:p>
            <a:pPr lvl="1"/>
            <a:r>
              <a:rPr lang="en-US" dirty="0"/>
              <a:t>Directed Acyclic Graph – under the hood detail</a:t>
            </a:r>
          </a:p>
          <a:p>
            <a:r>
              <a:rPr lang="en-US" dirty="0"/>
              <a:t>Foreman == scheduler</a:t>
            </a:r>
          </a:p>
          <a:p>
            <a:r>
              <a:rPr lang="en-US" dirty="0"/>
              <a:t>Workers do what the boss tells them to do</a:t>
            </a:r>
          </a:p>
          <a:p>
            <a:r>
              <a:rPr lang="en-US" dirty="0"/>
              <a:t>DAG and “futures” (</a:t>
            </a:r>
            <a:r>
              <a:rPr lang="en-US" dirty="0" err="1"/>
              <a:t>dask</a:t>
            </a:r>
            <a:r>
              <a:rPr lang="en-US" dirty="0"/>
              <a:t>) support generic parallel algorithm</a:t>
            </a:r>
          </a:p>
        </p:txBody>
      </p:sp>
    </p:spTree>
    <p:extLst>
      <p:ext uri="{BB962C8B-B14F-4D97-AF65-F5344CB8AC3E}">
        <p14:creationId xmlns:p14="http://schemas.microsoft.com/office/powerpoint/2010/main" val="1797666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93041-3618-EED5-1941-D57AD1A6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Acyclic Graph – how schedulers manage data flow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A31F3-B1BC-FA6D-D9D7-F545C25AD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Boxes a, b, c, d, and e are compute tasks</a:t>
            </a:r>
          </a:p>
          <a:p>
            <a:r>
              <a:rPr lang="en-US" dirty="0"/>
              <a:t>Arrows show data flow</a:t>
            </a:r>
          </a:p>
          <a:p>
            <a:r>
              <a:rPr lang="en-US" dirty="0"/>
              <a:t>“Acyclic” – data flows only one way</a:t>
            </a:r>
          </a:p>
          <a:p>
            <a:r>
              <a:rPr lang="en-US" dirty="0"/>
              <a:t>Key point is this is a generic scheduling method</a:t>
            </a:r>
          </a:p>
          <a:p>
            <a:pPr lvl="1"/>
            <a:r>
              <a:rPr lang="en-US" dirty="0"/>
              <a:t>Good for goal of flexibility in research computing</a:t>
            </a:r>
          </a:p>
          <a:p>
            <a:pPr lvl="1"/>
            <a:r>
              <a:rPr lang="en-US" dirty="0"/>
              <a:t>Can be bad for efficiency (performance)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60AA0B-74ED-2DC2-56F1-0453638D3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33222B-F36A-0DD4-2242-23E9FA4EE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1" y="1958479"/>
            <a:ext cx="3175000" cy="435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4B7B3D-6BEA-C32E-F49A-A620ABF2A409}"/>
              </a:ext>
            </a:extLst>
          </p:cNvPr>
          <p:cNvSpPr txBox="1"/>
          <p:nvPr/>
        </p:nvSpPr>
        <p:spPr>
          <a:xfrm>
            <a:off x="292100" y="6477000"/>
            <a:ext cx="6831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From:  https://</a:t>
            </a:r>
            <a:r>
              <a:rPr lang="en-US" dirty="0" err="1"/>
              <a:t>en.wikipedia.org</a:t>
            </a:r>
            <a:r>
              <a:rPr lang="en-US" dirty="0"/>
              <a:t>/wiki/</a:t>
            </a:r>
            <a:r>
              <a:rPr lang="en-US" dirty="0" err="1"/>
              <a:t>Directed_acyclic_graph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23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A9614-AF01-00A3-227B-23FBCD2D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map-reduce concept </a:t>
            </a:r>
          </a:p>
        </p:txBody>
      </p:sp>
      <p:pic>
        <p:nvPicPr>
          <p:cNvPr id="5" name="Content Placeholder 4" descr="A diagram of a map&#10;&#10;AI-generated content may be incorrect.">
            <a:extLst>
              <a:ext uri="{FF2B5EF4-FFF2-40B4-BE49-F238E27FC236}">
                <a16:creationId xmlns:a16="http://schemas.microsoft.com/office/drawing/2014/main" id="{51A06573-0DEA-D036-DF7D-CCBE9A66C8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2076537"/>
            <a:ext cx="9202738" cy="460136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63E8AC-0813-8332-10A4-6CE1C85FABB6}"/>
              </a:ext>
            </a:extLst>
          </p:cNvPr>
          <p:cNvSpPr txBox="1"/>
          <p:nvPr/>
        </p:nvSpPr>
        <p:spPr>
          <a:xfrm>
            <a:off x="9617725" y="2831335"/>
            <a:ext cx="239066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input is a (huge) list of the same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Map – apply a common algorithm to each 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Combine things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Order cannot matter</a:t>
            </a:r>
          </a:p>
        </p:txBody>
      </p:sp>
    </p:spTree>
    <p:extLst>
      <p:ext uri="{BB962C8B-B14F-4D97-AF65-F5344CB8AC3E}">
        <p14:creationId xmlns:p14="http://schemas.microsoft.com/office/powerpoint/2010/main" val="2849596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472DCE-DF6D-32FF-160B-4536A8B04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Most seismic processing workflows are pipelines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94D76E-8D3F-5247-2351-AC964FF4F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rgbClr val="FFFFFF"/>
                </a:solidFill>
              </a:rPr>
              <a:t>Origin (reader) is a read operator that loads data into a parallel container (bad/</a:t>
            </a:r>
            <a:r>
              <a:rPr lang="en-US" sz="1400" dirty="0" err="1">
                <a:solidFill>
                  <a:srgbClr val="FFFFFF"/>
                </a:solidFill>
              </a:rPr>
              <a:t>rdd</a:t>
            </a:r>
            <a:r>
              <a:rPr lang="en-US" sz="1400" dirty="0">
                <a:solidFill>
                  <a:srgbClr val="FFFFFF"/>
                </a:solidFill>
              </a:rPr>
              <a:t>)</a:t>
            </a:r>
          </a:p>
          <a:p>
            <a:r>
              <a:rPr lang="en-US" sz="1400" dirty="0">
                <a:solidFill>
                  <a:srgbClr val="FFFFFF"/>
                </a:solidFill>
              </a:rPr>
              <a:t>Process each datum with 5 processing functions (boxes with names at top)</a:t>
            </a:r>
          </a:p>
          <a:p>
            <a:r>
              <a:rPr lang="en-US" sz="1400" dirty="0">
                <a:solidFill>
                  <a:srgbClr val="FFFFFF"/>
                </a:solidFill>
              </a:rPr>
              <a:t>Example shows how scheduler might pass work to 2 processors running in parallel</a:t>
            </a:r>
          </a:p>
          <a:p>
            <a:r>
              <a:rPr lang="en-US" sz="1400" dirty="0">
                <a:solidFill>
                  <a:srgbClr val="FFFFFF"/>
                </a:solidFill>
              </a:rPr>
              <a:t>A pure pipeline DAG is the definition of “embarrassingly parallel”</a:t>
            </a:r>
          </a:p>
          <a:p>
            <a:endParaRPr lang="en-US" sz="1400" dirty="0">
              <a:solidFill>
                <a:srgbClr val="FFFFFF"/>
              </a:solidFill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D6BAA48-18D6-CC61-E656-0F556781E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93085" y="1050400"/>
            <a:ext cx="5629268" cy="47504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1833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E56FC-DF29-E261-837B-31BD61A13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3C490-E510-FCEA-FCFF-A5C3E4DB0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Parallel container (bag) – notebooks will make this clearer</a:t>
            </a:r>
          </a:p>
          <a:p>
            <a:r>
              <a:rPr lang="en-US" dirty="0"/>
              <a:t>Workers run processing functions (detrend, filter, </a:t>
            </a:r>
            <a:r>
              <a:rPr lang="en-US" dirty="0" err="1"/>
              <a:t>WindowData</a:t>
            </a:r>
            <a:r>
              <a:rPr lang="en-US" dirty="0"/>
              <a:t>, </a:t>
            </a:r>
            <a:r>
              <a:rPr lang="en-US" dirty="0" err="1"/>
              <a:t>arrival_snr</a:t>
            </a:r>
            <a:r>
              <a:rPr lang="en-US" dirty="0"/>
              <a:t>, and </a:t>
            </a:r>
            <a:r>
              <a:rPr lang="en-US" dirty="0" err="1"/>
              <a:t>save_data</a:t>
            </a:r>
            <a:r>
              <a:rPr lang="en-US" dirty="0"/>
              <a:t> in previous animated figure)</a:t>
            </a:r>
          </a:p>
          <a:p>
            <a:r>
              <a:rPr lang="en-US" dirty="0"/>
              <a:t>Scheduler tells workers which components of the data set (things in bag/RDD container) to run when</a:t>
            </a:r>
          </a:p>
          <a:p>
            <a:pPr lvl="1"/>
            <a:r>
              <a:rPr lang="en-US" dirty="0"/>
              <a:t>Animation show that happening sequentially</a:t>
            </a:r>
          </a:p>
          <a:p>
            <a:pPr lvl="1"/>
            <a:r>
              <a:rPr lang="en-US" dirty="0"/>
              <a:t>In real life the order is not sequential</a:t>
            </a:r>
          </a:p>
          <a:p>
            <a:pPr lvl="1"/>
            <a:r>
              <a:rPr lang="en-US" dirty="0"/>
              <a:t>Scheduler has to guess how many data to handle simultaneously from</a:t>
            </a:r>
          </a:p>
          <a:p>
            <a:pPr lvl="2"/>
            <a:r>
              <a:rPr lang="en-US" dirty="0"/>
              <a:t>Memory use</a:t>
            </a:r>
          </a:p>
          <a:p>
            <a:pPr lvl="2"/>
            <a:r>
              <a:rPr lang="en-US" dirty="0"/>
              <a:t>How busy CPUs are</a:t>
            </a:r>
          </a:p>
          <a:p>
            <a:pPr lvl="1"/>
            <a:r>
              <a:rPr lang="en-US" dirty="0"/>
              <a:t>We will see a real time version running session2 notebook </a:t>
            </a:r>
          </a:p>
        </p:txBody>
      </p:sp>
    </p:spTree>
    <p:extLst>
      <p:ext uri="{BB962C8B-B14F-4D97-AF65-F5344CB8AC3E}">
        <p14:creationId xmlns:p14="http://schemas.microsoft.com/office/powerpoint/2010/main" val="494136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2862-AABC-4DDE-E853-813F9DB58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restrictions of map-reduce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BFAE7-AAE1-02F0-D9E7-89019B908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All algorithms must be expressed as a function</a:t>
            </a:r>
          </a:p>
          <a:p>
            <a:r>
              <a:rPr lang="en-US" dirty="0"/>
              <a:t>Function input as arg0 should always be the same</a:t>
            </a:r>
          </a:p>
          <a:p>
            <a:r>
              <a:rPr lang="en-US" dirty="0"/>
              <a:t>Arguments must be constant for all data</a:t>
            </a:r>
          </a:p>
          <a:p>
            <a:r>
              <a:rPr lang="en-US" dirty="0"/>
              <a:t>Return type can and often is different from arg0 input</a:t>
            </a:r>
          </a:p>
          <a:p>
            <a:r>
              <a:rPr lang="en-US" dirty="0"/>
              <a:t>Should never throw an exception unless you want the workflow to abort for the entire dataset</a:t>
            </a:r>
          </a:p>
          <a:p>
            <a:r>
              <a:rPr lang="en-US" dirty="0"/>
              <a:t>Reduce has </a:t>
            </a:r>
            <a:r>
              <a:rPr lang="en-US" dirty="0">
                <a:hlinkClick r:id="rId2"/>
              </a:rPr>
              <a:t>additional restrictions</a:t>
            </a:r>
            <a:endParaRPr lang="en-US" dirty="0"/>
          </a:p>
          <a:p>
            <a:r>
              <a:rPr lang="en-US" dirty="0"/>
              <a:t>Use wrapper functions to adapt existing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27162D-7B20-89BD-DEC1-30E76DB230DE}"/>
              </a:ext>
            </a:extLst>
          </p:cNvPr>
          <p:cNvSpPr txBox="1"/>
          <p:nvPr/>
        </p:nvSpPr>
        <p:spPr>
          <a:xfrm>
            <a:off x="563526" y="6113721"/>
            <a:ext cx="9207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</a:t>
            </a:r>
            <a:r>
              <a:rPr lang="en-US" dirty="0">
                <a:hlinkClick r:id="rId3"/>
              </a:rPr>
              <a:t>this section of the </a:t>
            </a:r>
            <a:r>
              <a:rPr lang="en-US" dirty="0" err="1">
                <a:hlinkClick r:id="rId3"/>
              </a:rPr>
              <a:t>MsPASS</a:t>
            </a:r>
            <a:r>
              <a:rPr lang="en-US" dirty="0">
                <a:hlinkClick r:id="rId3"/>
              </a:rPr>
              <a:t> User Manual</a:t>
            </a:r>
            <a:r>
              <a:rPr lang="en-US" dirty="0"/>
              <a:t> for summary of </a:t>
            </a:r>
            <a:r>
              <a:rPr lang="en-US" dirty="0" err="1"/>
              <a:t>MsPASS</a:t>
            </a:r>
            <a:r>
              <a:rPr lang="en-US" dirty="0"/>
              <a:t> algorithms</a:t>
            </a:r>
          </a:p>
        </p:txBody>
      </p:sp>
    </p:spTree>
    <p:extLst>
      <p:ext uri="{BB962C8B-B14F-4D97-AF65-F5344CB8AC3E}">
        <p14:creationId xmlns:p14="http://schemas.microsoft.com/office/powerpoint/2010/main" val="3192443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8E911-209D-7DA5-7139-49593D3D4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briefly at a </a:t>
            </a:r>
            <a:r>
              <a:rPr lang="en-US" dirty="0" err="1"/>
              <a:t>dask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6D336-3E79-7F24-406B-0B0D9E95A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notebook:  </a:t>
            </a:r>
            <a:r>
              <a:rPr lang="en-US" dirty="0" err="1"/>
              <a:t>ParallelProcessingFundamentals.ipynb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Quick look at an example pipeline workflow</a:t>
            </a:r>
          </a:p>
          <a:p>
            <a:r>
              <a:rPr lang="en-US" dirty="0"/>
              <a:t>Open notebook “</a:t>
            </a:r>
            <a:r>
              <a:rPr lang="en-US" dirty="0" err="1"/>
              <a:t>SeismicReduceOperatorExample.ipynb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Quick look to show you flow structure</a:t>
            </a:r>
          </a:p>
          <a:p>
            <a:pPr lvl="1"/>
            <a:r>
              <a:rPr lang="en-US" dirty="0"/>
              <a:t>Run and review this notebook at your leisure – it is largely a reference</a:t>
            </a:r>
          </a:p>
          <a:p>
            <a:pPr lvl="1"/>
            <a:r>
              <a:rPr lang="en-US" dirty="0"/>
              <a:t>An important point is to date we’ve not found a useful example of a Reduce operator in seismic processing – see closing text box of the example </a:t>
            </a:r>
          </a:p>
        </p:txBody>
      </p:sp>
    </p:spTree>
    <p:extLst>
      <p:ext uri="{BB962C8B-B14F-4D97-AF65-F5344CB8AC3E}">
        <p14:creationId xmlns:p14="http://schemas.microsoft.com/office/powerpoint/2010/main" val="3645730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E1826-C4B1-DFFC-9BD9-C7A7500B0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Prototyping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EF241-797E-AF84-5339-98419D502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ALWAYS the starting point for any parallel workflow</a:t>
            </a:r>
          </a:p>
          <a:p>
            <a:pPr lvl="1"/>
            <a:r>
              <a:rPr lang="en-US" dirty="0"/>
              <a:t>Get all the syntax right</a:t>
            </a:r>
          </a:p>
          <a:p>
            <a:pPr lvl="1"/>
            <a:r>
              <a:rPr lang="en-US" dirty="0"/>
              <a:t>Assure the suite of algorithms work together</a:t>
            </a:r>
          </a:p>
          <a:p>
            <a:r>
              <a:rPr lang="en-US" dirty="0"/>
              <a:t>If you don’t need parallel processing don’t bother (feasibility)</a:t>
            </a:r>
          </a:p>
          <a:p>
            <a:r>
              <a:rPr lang="en-US" dirty="0"/>
              <a:t>Used to establish timing data to estimate resources for full data set</a:t>
            </a:r>
          </a:p>
        </p:txBody>
      </p:sp>
    </p:spTree>
    <p:extLst>
      <p:ext uri="{BB962C8B-B14F-4D97-AF65-F5344CB8AC3E}">
        <p14:creationId xmlns:p14="http://schemas.microsoft.com/office/powerpoint/2010/main" val="1235617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CAC0-CC84-4069-9036-A1DCDA54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Parallelization example: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84AE56-0D42-ABA2-8D84-D528C412FE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4000" u="sng" dirty="0"/>
              <a:t>Serial Form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cursor=</a:t>
            </a:r>
            <a:r>
              <a:rPr lang="en-US" dirty="0" err="1"/>
              <a:t>db.wfcollection.find</a:t>
            </a:r>
            <a:r>
              <a:rPr lang="en-US" dirty="0"/>
              <a:t>(query)</a:t>
            </a:r>
          </a:p>
          <a:p>
            <a:pPr marL="0" indent="0">
              <a:buNone/>
            </a:pPr>
            <a:r>
              <a:rPr lang="en-US" dirty="0"/>
              <a:t>for doc in cursor:</a:t>
            </a:r>
          </a:p>
          <a:p>
            <a:pPr marL="0" indent="0">
              <a:buNone/>
            </a:pPr>
            <a:r>
              <a:rPr lang="en-US" dirty="0"/>
              <a:t>  d = </a:t>
            </a:r>
            <a:r>
              <a:rPr lang="en-US" dirty="0" err="1"/>
              <a:t>db.read_data</a:t>
            </a:r>
            <a:r>
              <a:rPr lang="en-US" dirty="0"/>
              <a:t>(doc)</a:t>
            </a:r>
          </a:p>
          <a:p>
            <a:pPr marL="0" indent="0">
              <a:buNone/>
            </a:pPr>
            <a:r>
              <a:rPr lang="en-US" dirty="0"/>
              <a:t>  d = proc1(d)</a:t>
            </a:r>
          </a:p>
          <a:p>
            <a:pPr marL="0" indent="0">
              <a:buNone/>
            </a:pPr>
            <a:r>
              <a:rPr lang="en-US" dirty="0"/>
              <a:t>  d = proc2(d)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db.save_data</a:t>
            </a:r>
            <a:r>
              <a:rPr lang="en-US" dirty="0"/>
              <a:t>(d)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6CB5E08-C606-27DD-392E-6A36AFBE8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6877868" cy="35993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500" u="sng" dirty="0"/>
              <a:t>Parallel Version (</a:t>
            </a:r>
            <a:r>
              <a:rPr lang="en-US" sz="3500" u="sng" dirty="0" err="1"/>
              <a:t>dask</a:t>
            </a:r>
            <a:r>
              <a:rPr lang="en-US" sz="3500" u="sng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cursor = </a:t>
            </a:r>
            <a:r>
              <a:rPr lang="en-US" dirty="0" err="1"/>
              <a:t>db.wfcollection.find</a:t>
            </a:r>
            <a:r>
              <a:rPr lang="en-US" dirty="0"/>
              <a:t>(query)</a:t>
            </a:r>
          </a:p>
          <a:p>
            <a:pPr marL="0" indent="0">
              <a:buNone/>
            </a:pPr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read_to_dataframe</a:t>
            </a:r>
            <a:r>
              <a:rPr lang="en-US" dirty="0"/>
              <a:t>(</a:t>
            </a:r>
            <a:r>
              <a:rPr lang="en-US" dirty="0" err="1"/>
              <a:t>db,cursor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mybag</a:t>
            </a:r>
            <a:r>
              <a:rPr lang="en-US" dirty="0"/>
              <a:t> = </a:t>
            </a:r>
            <a:r>
              <a:rPr lang="en-US" dirty="0" err="1"/>
              <a:t>read_distributed_data</a:t>
            </a:r>
            <a:r>
              <a:rPr lang="en-US" dirty="0"/>
              <a:t>(</a:t>
            </a:r>
            <a:r>
              <a:rPr lang="en-US" dirty="0" err="1"/>
              <a:t>df,db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mybag</a:t>
            </a:r>
            <a:r>
              <a:rPr lang="en-US" dirty="0"/>
              <a:t> = </a:t>
            </a:r>
            <a:r>
              <a:rPr lang="en-US" dirty="0" err="1"/>
              <a:t>mybag.map</a:t>
            </a:r>
            <a:r>
              <a:rPr lang="en-US" dirty="0"/>
              <a:t>(proc1)</a:t>
            </a:r>
          </a:p>
          <a:p>
            <a:pPr marL="0" indent="0">
              <a:buNone/>
            </a:pPr>
            <a:r>
              <a:rPr lang="en-US" dirty="0" err="1"/>
              <a:t>mybag</a:t>
            </a:r>
            <a:r>
              <a:rPr lang="en-US" dirty="0"/>
              <a:t> = </a:t>
            </a:r>
            <a:r>
              <a:rPr lang="en-US" dirty="0" err="1"/>
              <a:t>mybag.map</a:t>
            </a:r>
            <a:r>
              <a:rPr lang="en-US" dirty="0"/>
              <a:t>(proc2)</a:t>
            </a:r>
          </a:p>
          <a:p>
            <a:pPr marL="0" indent="0">
              <a:buNone/>
            </a:pPr>
            <a:r>
              <a:rPr lang="en-US" dirty="0"/>
              <a:t>out = </a:t>
            </a:r>
            <a:r>
              <a:rPr lang="en-US" dirty="0" err="1"/>
              <a:t>write_distributed_data</a:t>
            </a:r>
            <a:r>
              <a:rPr lang="en-US" dirty="0"/>
              <a:t>(</a:t>
            </a:r>
            <a:r>
              <a:rPr lang="en-US" dirty="0" err="1"/>
              <a:t>mybag,db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BA0AA-47AB-E2CA-1C2E-CB09D5853B87}"/>
              </a:ext>
            </a:extLst>
          </p:cNvPr>
          <p:cNvSpPr txBox="1"/>
          <p:nvPr/>
        </p:nvSpPr>
        <p:spPr>
          <a:xfrm>
            <a:off x="967563" y="5922330"/>
            <a:ext cx="10196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Above omits optional arguments for clarity that are nearly always required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We’ll look at real examples shortly in notebooks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CE0CEDF-CCCA-5A67-52BC-2A9751FC6791}"/>
              </a:ext>
            </a:extLst>
          </p:cNvPr>
          <p:cNvGrpSpPr/>
          <p:nvPr/>
        </p:nvGrpSpPr>
        <p:grpSpPr>
          <a:xfrm>
            <a:off x="771181" y="3657600"/>
            <a:ext cx="11420819" cy="815249"/>
            <a:chOff x="771181" y="3657600"/>
            <a:chExt cx="11420819" cy="81524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50D175B-0249-4708-70B4-DFC09DCECA3E}"/>
                </a:ext>
              </a:extLst>
            </p:cNvPr>
            <p:cNvSpPr/>
            <p:nvPr/>
          </p:nvSpPr>
          <p:spPr>
            <a:xfrm>
              <a:off x="771181" y="4043191"/>
              <a:ext cx="10091450" cy="429658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2CEAFA-138F-6FB9-2939-5EAA51D503E7}"/>
                </a:ext>
              </a:extLst>
            </p:cNvPr>
            <p:cNvSpPr txBox="1"/>
            <p:nvPr/>
          </p:nvSpPr>
          <p:spPr>
            <a:xfrm>
              <a:off x="10201619" y="3657600"/>
              <a:ext cx="19903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Creation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4FA106D-9CC9-B724-C3FB-299979BA6C01}"/>
              </a:ext>
            </a:extLst>
          </p:cNvPr>
          <p:cNvGrpSpPr/>
          <p:nvPr/>
        </p:nvGrpSpPr>
        <p:grpSpPr>
          <a:xfrm>
            <a:off x="791377" y="4382879"/>
            <a:ext cx="11400623" cy="839115"/>
            <a:chOff x="791377" y="4382879"/>
            <a:chExt cx="11400623" cy="839115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BBC3373-9B36-4BE1-354E-1967F00F987C}"/>
                </a:ext>
              </a:extLst>
            </p:cNvPr>
            <p:cNvSpPr/>
            <p:nvPr/>
          </p:nvSpPr>
          <p:spPr>
            <a:xfrm>
              <a:off x="791377" y="4382879"/>
              <a:ext cx="10091450" cy="839115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68587F-93B2-BB29-1805-7923E0051997}"/>
                </a:ext>
              </a:extLst>
            </p:cNvPr>
            <p:cNvSpPr txBox="1"/>
            <p:nvPr/>
          </p:nvSpPr>
          <p:spPr>
            <a:xfrm>
              <a:off x="10113484" y="4583017"/>
              <a:ext cx="20785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Process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41AA41B-FD41-F29E-6913-43F5C6C8655D}"/>
              </a:ext>
            </a:extLst>
          </p:cNvPr>
          <p:cNvGrpSpPr/>
          <p:nvPr/>
        </p:nvGrpSpPr>
        <p:grpSpPr>
          <a:xfrm>
            <a:off x="771181" y="5144877"/>
            <a:ext cx="11248221" cy="887125"/>
            <a:chOff x="771181" y="5144877"/>
            <a:chExt cx="11248221" cy="88712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E0CD62-E9FC-1259-5DFD-032B805CCEE7}"/>
                </a:ext>
              </a:extLst>
            </p:cNvPr>
            <p:cNvSpPr/>
            <p:nvPr/>
          </p:nvSpPr>
          <p:spPr>
            <a:xfrm>
              <a:off x="771181" y="5144877"/>
              <a:ext cx="10396250" cy="429658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AEAC83F-E9DC-C2AF-392D-BF6C4CB4A8B0}"/>
                </a:ext>
              </a:extLst>
            </p:cNvPr>
            <p:cNvSpPr txBox="1"/>
            <p:nvPr/>
          </p:nvSpPr>
          <p:spPr>
            <a:xfrm>
              <a:off x="9860096" y="5662670"/>
              <a:ext cx="21593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FF00"/>
                  </a:solidFill>
                </a:rPr>
                <a:t>Save result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523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E5CACB-2AC5-E118-E084-1912F54B6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important detail:   parallel clients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36D1C-3BF8-1B1B-6E13-F79B43700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 happens when workers need access the MongoDB</a:t>
            </a:r>
          </a:p>
          <a:p>
            <a:r>
              <a:rPr lang="en-US" dirty="0"/>
              <a:t>All </a:t>
            </a:r>
            <a:r>
              <a:rPr lang="en-US" dirty="0" err="1"/>
              <a:t>MsPASS</a:t>
            </a:r>
            <a:r>
              <a:rPr lang="en-US" dirty="0"/>
              <a:t> seismic read and write functions require MongoDB</a:t>
            </a:r>
          </a:p>
          <a:p>
            <a:r>
              <a:rPr lang="en-US" dirty="0"/>
              <a:t>Recall </a:t>
            </a:r>
            <a:r>
              <a:rPr lang="en-US" dirty="0" err="1"/>
              <a:t>MsPASS</a:t>
            </a:r>
            <a:r>
              <a:rPr lang="en-US" dirty="0"/>
              <a:t> services wiring diagram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912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0551E-5DE3-CED3-6753-4F626A1B0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1B15DDE-AE7F-BED5-2E1B-35ACB4A557BC}"/>
              </a:ext>
            </a:extLst>
          </p:cNvPr>
          <p:cNvSpPr/>
          <p:nvPr/>
        </p:nvSpPr>
        <p:spPr>
          <a:xfrm>
            <a:off x="-95250" y="-247650"/>
            <a:ext cx="12382500" cy="73533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6C1313D-09C6-42ED-6CAA-3A0C70E662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91" y="0"/>
            <a:ext cx="9558239" cy="72088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8276D9-8553-B9DD-5BC6-B81727ED9228}"/>
              </a:ext>
            </a:extLst>
          </p:cNvPr>
          <p:cNvSpPr txBox="1"/>
          <p:nvPr/>
        </p:nvSpPr>
        <p:spPr>
          <a:xfrm>
            <a:off x="342900" y="4940300"/>
            <a:ext cx="416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Each of those workers needs a database client running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How to set up workers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Prior to 2026 – serialize </a:t>
            </a:r>
            <a:r>
              <a:rPr lang="en-US" dirty="0" err="1">
                <a:solidFill>
                  <a:schemeClr val="bg1"/>
                </a:solidFill>
              </a:rPr>
              <a:t>db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New solution – worker plugin </a:t>
            </a:r>
          </a:p>
        </p:txBody>
      </p:sp>
    </p:spTree>
    <p:extLst>
      <p:ext uri="{BB962C8B-B14F-4D97-AF65-F5344CB8AC3E}">
        <p14:creationId xmlns:p14="http://schemas.microsoft.com/office/powerpoint/2010/main" val="662185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34BD-DDCC-C3DA-2DE0-57CFCA767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set up worker clients: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181CC-DE0E-C0EE-A908-8E08CD0B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mspasspy.util.db_utils</a:t>
            </a:r>
            <a:r>
              <a:rPr lang="en-US" dirty="0"/>
              <a:t> import </a:t>
            </a:r>
            <a:r>
              <a:rPr lang="en-US" dirty="0" err="1"/>
              <a:t>MongoDBWorker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  <a:r>
              <a:rPr lang="en-US" dirty="0" err="1"/>
              <a:t>mspasspy.client</a:t>
            </a:r>
            <a:r>
              <a:rPr lang="en-US" dirty="0"/>
              <a:t> import Client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mspass_client</a:t>
            </a:r>
            <a:r>
              <a:rPr lang="en-US" dirty="0"/>
              <a:t> = Client()</a:t>
            </a:r>
          </a:p>
          <a:p>
            <a:pPr marL="0" indent="0">
              <a:buNone/>
            </a:pPr>
            <a:r>
              <a:rPr lang="en-US" dirty="0" err="1"/>
              <a:t>dask_client</a:t>
            </a:r>
            <a:r>
              <a:rPr lang="en-US" dirty="0"/>
              <a:t> = </a:t>
            </a:r>
            <a:r>
              <a:rPr lang="en-US" dirty="0" err="1"/>
              <a:t>mspass_client.get_scheduler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parallel_dbworker</a:t>
            </a:r>
            <a:r>
              <a:rPr lang="en-US" dirty="0"/>
              <a:t> = </a:t>
            </a:r>
            <a:r>
              <a:rPr lang="en-US" dirty="0" err="1"/>
              <a:t>MongoDBWorker</a:t>
            </a:r>
            <a:r>
              <a:rPr lang="en-US" dirty="0"/>
              <a:t>(</a:t>
            </a:r>
            <a:r>
              <a:rPr lang="en-US" dirty="0" err="1"/>
              <a:t>mspass_client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dask_client.register_worker_plugin</a:t>
            </a:r>
            <a:r>
              <a:rPr lang="en-US" dirty="0"/>
              <a:t>(</a:t>
            </a:r>
            <a:r>
              <a:rPr lang="en-US" dirty="0" err="1"/>
              <a:t>parallel_dbworker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8578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4F750-D145-2DE9-665C-6A06F878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WARNING: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8C03E-6D73-8111-B51B-2E9F71E58E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 to earlier this year we used a serialization approach to push database handle to workers</a:t>
            </a:r>
          </a:p>
          <a:p>
            <a:r>
              <a:rPr lang="en-US" dirty="0"/>
              <a:t>That works for small data sets, but fails with very large data sets</a:t>
            </a:r>
          </a:p>
          <a:p>
            <a:r>
              <a:rPr lang="en-US" dirty="0"/>
              <a:t>We have NOT yet fixed all the documentation </a:t>
            </a:r>
          </a:p>
          <a:p>
            <a:pPr lvl="1"/>
            <a:r>
              <a:rPr lang="en-US" dirty="0"/>
              <a:t>Most of the user manual example have the old (wrong) form</a:t>
            </a:r>
          </a:p>
          <a:p>
            <a:pPr lvl="1"/>
            <a:r>
              <a:rPr lang="en-US" dirty="0"/>
              <a:t>Most of our tutorials are wrong (Earthscope2026 is the main exception)</a:t>
            </a:r>
          </a:p>
          <a:p>
            <a:pPr lvl="1"/>
            <a:r>
              <a:rPr lang="en-US" dirty="0"/>
              <a:t>All previous </a:t>
            </a:r>
            <a:r>
              <a:rPr lang="en-US" dirty="0" err="1"/>
              <a:t>MsPASS</a:t>
            </a:r>
            <a:r>
              <a:rPr lang="en-US" dirty="0"/>
              <a:t> </a:t>
            </a:r>
            <a:r>
              <a:rPr lang="en-US" dirty="0" err="1"/>
              <a:t>Earthscope</a:t>
            </a:r>
            <a:r>
              <a:rPr lang="en-US" dirty="0"/>
              <a:t> tutorials used the old serialization approach</a:t>
            </a:r>
          </a:p>
          <a:p>
            <a:r>
              <a:rPr lang="en-US" dirty="0"/>
              <a:t>Use the tutorials from this course or follow guidance in </a:t>
            </a:r>
            <a:r>
              <a:rPr lang="en-US" dirty="0">
                <a:hlinkClick r:id="rId2"/>
              </a:rPr>
              <a:t>this page of the MsPASS User Manual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42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B5BD6-C46C-0509-8642-27CA3FFD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</a:t>
            </a:r>
            <a:r>
              <a:rPr lang="en-US" dirty="0" err="1"/>
              <a:t>GeoLab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72A4B-2F5D-7C5B-4D63-1CFAAFF26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We’ll first go through ”</a:t>
            </a:r>
            <a:r>
              <a:rPr lang="en-US" dirty="0" err="1"/>
              <a:t>ParallelProcessingFundamentals.ipynb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You should already have that open</a:t>
            </a:r>
          </a:p>
          <a:p>
            <a:r>
              <a:rPr lang="en-US" dirty="0"/>
              <a:t>Step 2 is running the “Session2.ipynb” notebook</a:t>
            </a:r>
          </a:p>
        </p:txBody>
      </p:sp>
    </p:spTree>
    <p:extLst>
      <p:ext uri="{BB962C8B-B14F-4D97-AF65-F5344CB8AC3E}">
        <p14:creationId xmlns:p14="http://schemas.microsoft.com/office/powerpoint/2010/main" val="4249348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A6B7A4-57BC-8595-BBF5-B50258E4E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2:   </a:t>
            </a:r>
            <a:r>
              <a:rPr lang="en-US" dirty="0" err="1"/>
              <a:t>Dask</a:t>
            </a:r>
            <a:r>
              <a:rPr lang="en-US" dirty="0"/>
              <a:t> Futures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3E396E-DB75-0F44-C42D-FF83416A26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memory implementation of </a:t>
            </a:r>
            <a:r>
              <a:rPr lang="en-US" dirty="0" err="1"/>
              <a:t>concurrent.futures</a:t>
            </a:r>
            <a:r>
              <a:rPr lang="en-US" dirty="0"/>
              <a:t> that became a standard in python 3.2 (2011)</a:t>
            </a:r>
          </a:p>
          <a:p>
            <a:r>
              <a:rPr lang="en-US" dirty="0"/>
              <a:t>The standard python futures interface is a useful thing to know independent of </a:t>
            </a:r>
            <a:r>
              <a:rPr lang="en-US" dirty="0" err="1"/>
              <a:t>MsPASS</a:t>
            </a:r>
            <a:r>
              <a:rPr lang="en-US" dirty="0"/>
              <a:t> (numerous online sources)</a:t>
            </a:r>
          </a:p>
          <a:p>
            <a:r>
              <a:rPr lang="en-US" dirty="0" err="1"/>
              <a:t>Dask</a:t>
            </a:r>
            <a:r>
              <a:rPr lang="en-US" dirty="0"/>
              <a:t> uses the futures API under the hood for almost everything</a:t>
            </a:r>
          </a:p>
          <a:p>
            <a:r>
              <a:rPr lang="en-US" dirty="0"/>
              <a:t>More primitive so it has fewer safeties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108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4817-4894-81EE-B2EC-9090C9D45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Dask</a:t>
            </a:r>
            <a:r>
              <a:rPr lang="en-US" dirty="0"/>
              <a:t> Futures API key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34961-2184-4AB9-CC53-8E4C708CB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submit – Send a function to run one datum on the cluster</a:t>
            </a:r>
          </a:p>
          <a:p>
            <a:r>
              <a:rPr lang="en-US" dirty="0" err="1"/>
              <a:t>future.result</a:t>
            </a:r>
            <a:r>
              <a:rPr lang="en-US" dirty="0"/>
              <a:t> – block until a single future completes</a:t>
            </a:r>
          </a:p>
          <a:p>
            <a:r>
              <a:rPr lang="en-US" dirty="0"/>
              <a:t>gather – block while a list of futures complete and return results as a list</a:t>
            </a:r>
          </a:p>
          <a:p>
            <a:r>
              <a:rPr lang="en-US" dirty="0" err="1"/>
              <a:t>as_completed</a:t>
            </a:r>
            <a:r>
              <a:rPr lang="en-US" dirty="0"/>
              <a:t> – handle a list of futures as they finish</a:t>
            </a:r>
          </a:p>
          <a:p>
            <a:r>
              <a:rPr lang="en-US" dirty="0"/>
              <a:t>scatter – broadcast data to workers (improves performance for a large data set needing common large objects like a travel time </a:t>
            </a:r>
            <a:r>
              <a:rPr lang="en-US" dirty="0" err="1"/>
              <a:t>calbulator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53575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EEFBD-87CD-2681-D4A1-5823517B8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C3EF-3656-357F-DCD7-629C8267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a pipeline workflow for futures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25A3E-B12A-94E7-7698-1F1C1C4ED9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4000" u="sng" dirty="0"/>
              <a:t>Map Operator 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dask.bag</a:t>
            </a:r>
            <a:r>
              <a:rPr lang="en-US" dirty="0"/>
              <a:t> as </a:t>
            </a:r>
            <a:r>
              <a:rPr lang="en-US" dirty="0" err="1"/>
              <a:t>dbg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mybag</a:t>
            </a:r>
            <a:r>
              <a:rPr lang="en-US" dirty="0"/>
              <a:t> = </a:t>
            </a:r>
            <a:r>
              <a:rPr lang="en-US" dirty="0" err="1"/>
              <a:t>dbg.from_sequence</a:t>
            </a:r>
            <a:r>
              <a:rPr lang="en-US" dirty="0"/>
              <a:t>(x)</a:t>
            </a:r>
          </a:p>
          <a:p>
            <a:pPr marL="0" indent="0">
              <a:buNone/>
            </a:pPr>
            <a:r>
              <a:rPr lang="en-US" dirty="0" err="1"/>
              <a:t>mybag</a:t>
            </a:r>
            <a:r>
              <a:rPr lang="en-US" dirty="0"/>
              <a:t> = </a:t>
            </a:r>
            <a:r>
              <a:rPr lang="en-US" dirty="0" err="1"/>
              <a:t>mybag.map</a:t>
            </a:r>
            <a:r>
              <a:rPr lang="en-US" dirty="0"/>
              <a:t>(</a:t>
            </a:r>
            <a:r>
              <a:rPr lang="en-US" dirty="0" err="1"/>
              <a:t>convert_to_query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mybag</a:t>
            </a:r>
            <a:r>
              <a:rPr lang="en-US" dirty="0"/>
              <a:t> = </a:t>
            </a:r>
            <a:r>
              <a:rPr lang="en-US" dirty="0" err="1"/>
              <a:t>mybag.map</a:t>
            </a:r>
            <a:r>
              <a:rPr lang="en-US" dirty="0"/>
              <a:t>(</a:t>
            </a:r>
            <a:r>
              <a:rPr lang="en-US" dirty="0" err="1"/>
              <a:t>read_data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mybag</a:t>
            </a:r>
            <a:r>
              <a:rPr lang="en-US" dirty="0"/>
              <a:t> = </a:t>
            </a:r>
            <a:r>
              <a:rPr lang="en-US" dirty="0" err="1"/>
              <a:t>mybag.map</a:t>
            </a:r>
            <a:r>
              <a:rPr lang="en-US" dirty="0"/>
              <a:t>(proc1)</a:t>
            </a:r>
          </a:p>
          <a:p>
            <a:pPr marL="0" indent="0">
              <a:buNone/>
            </a:pPr>
            <a:r>
              <a:rPr lang="en-US" dirty="0" err="1"/>
              <a:t>mybag</a:t>
            </a:r>
            <a:r>
              <a:rPr lang="en-US" dirty="0"/>
              <a:t> = </a:t>
            </a:r>
            <a:r>
              <a:rPr lang="en-US" dirty="0" err="1"/>
              <a:t>mybag.map</a:t>
            </a:r>
            <a:r>
              <a:rPr lang="en-US" dirty="0"/>
              <a:t>(proc2)</a:t>
            </a:r>
          </a:p>
          <a:p>
            <a:pPr marL="0" indent="0">
              <a:buNone/>
            </a:pPr>
            <a:r>
              <a:rPr lang="en-US" dirty="0" err="1"/>
              <a:t>mybag</a:t>
            </a:r>
            <a:r>
              <a:rPr lang="en-US" dirty="0"/>
              <a:t> = </a:t>
            </a:r>
            <a:r>
              <a:rPr lang="en-US" dirty="0" err="1"/>
              <a:t>mybag.map</a:t>
            </a:r>
            <a:r>
              <a:rPr lang="en-US" dirty="0"/>
              <a:t>(</a:t>
            </a:r>
            <a:r>
              <a:rPr lang="en-US" dirty="0" err="1"/>
              <a:t>db.save_data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mybag.compute</a:t>
            </a:r>
            <a:r>
              <a:rPr lang="en-US" dirty="0"/>
              <a:t>()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04314-B81A-FB01-F238-CC0C4165A6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4122" y="2336872"/>
            <a:ext cx="6597877" cy="437227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3500" u="sng" dirty="0"/>
              <a:t>Futures 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dask_client</a:t>
            </a:r>
            <a:r>
              <a:rPr lang="en-US" dirty="0"/>
              <a:t> = </a:t>
            </a:r>
            <a:r>
              <a:rPr lang="en-US" dirty="0" err="1"/>
              <a:t>mspass_client.get_scheduler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/>
              <a:t>def </a:t>
            </a:r>
            <a:r>
              <a:rPr lang="en-US" dirty="0" err="1"/>
              <a:t>process_one</a:t>
            </a:r>
            <a:r>
              <a:rPr lang="en-US" dirty="0"/>
              <a:t>(x):</a:t>
            </a:r>
          </a:p>
          <a:p>
            <a:pPr marL="0" indent="0">
              <a:buNone/>
            </a:pPr>
            <a:r>
              <a:rPr lang="en-US" dirty="0"/>
              <a:t>    q = </a:t>
            </a:r>
            <a:r>
              <a:rPr lang="en-US" dirty="0" err="1"/>
              <a:t>convert_to_query</a:t>
            </a:r>
            <a:r>
              <a:rPr lang="en-US" dirty="0"/>
              <a:t>(x)</a:t>
            </a:r>
          </a:p>
          <a:p>
            <a:pPr marL="0" indent="0">
              <a:buNone/>
            </a:pPr>
            <a:r>
              <a:rPr lang="en-US" dirty="0"/>
              <a:t>    d = </a:t>
            </a:r>
            <a:r>
              <a:rPr lang="en-US" dirty="0" err="1"/>
              <a:t>read_data</a:t>
            </a:r>
            <a:r>
              <a:rPr lang="en-US" dirty="0"/>
              <a:t>(q)</a:t>
            </a:r>
          </a:p>
          <a:p>
            <a:pPr marL="0" indent="0">
              <a:buNone/>
            </a:pPr>
            <a:r>
              <a:rPr lang="en-US" dirty="0"/>
              <a:t>    d = proc1(d)</a:t>
            </a:r>
          </a:p>
          <a:p>
            <a:pPr marL="0" indent="0">
              <a:buNone/>
            </a:pPr>
            <a:r>
              <a:rPr lang="en-US" dirty="0"/>
              <a:t>    d = proc2(d)</a:t>
            </a:r>
          </a:p>
          <a:p>
            <a:pPr marL="0" indent="0">
              <a:buNone/>
            </a:pPr>
            <a:r>
              <a:rPr lang="en-US" dirty="0"/>
              <a:t>    return d</a:t>
            </a:r>
          </a:p>
          <a:p>
            <a:pPr marL="0" indent="0">
              <a:buNone/>
            </a:pPr>
            <a:r>
              <a:rPr lang="en-US" dirty="0" err="1"/>
              <a:t>data_list</a:t>
            </a:r>
            <a:r>
              <a:rPr lang="en-US" dirty="0"/>
              <a:t> = </a:t>
            </a:r>
            <a:r>
              <a:rPr lang="en-US" dirty="0" err="1"/>
              <a:t>generate_list_to_drive_processing</a:t>
            </a:r>
            <a:r>
              <a:rPr lang="en-US" dirty="0"/>
              <a:t>()</a:t>
            </a:r>
          </a:p>
          <a:p>
            <a:pPr marL="0" indent="0">
              <a:buNone/>
            </a:pPr>
            <a:r>
              <a:rPr lang="en-US" dirty="0" err="1"/>
              <a:t>Flist</a:t>
            </a:r>
            <a:r>
              <a:rPr lang="en-US" dirty="0"/>
              <a:t>=list()</a:t>
            </a:r>
          </a:p>
          <a:p>
            <a:pPr marL="0" indent="0">
              <a:buNone/>
            </a:pPr>
            <a:r>
              <a:rPr lang="en-US" dirty="0"/>
              <a:t>for x in </a:t>
            </a:r>
            <a:r>
              <a:rPr lang="en-US" dirty="0" err="1"/>
              <a:t>data_list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    f = </a:t>
            </a:r>
            <a:r>
              <a:rPr lang="en-US" dirty="0" err="1"/>
              <a:t>dask_client.submit</a:t>
            </a:r>
            <a:r>
              <a:rPr lang="en-US" dirty="0"/>
              <a:t>(</a:t>
            </a:r>
            <a:r>
              <a:rPr lang="en-US" dirty="0" err="1"/>
              <a:t>process_one,x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Flist.append</a:t>
            </a:r>
            <a:r>
              <a:rPr lang="en-US" dirty="0"/>
              <a:t>(f)</a:t>
            </a:r>
          </a:p>
          <a:p>
            <a:pPr marL="0" indent="0">
              <a:buNone/>
            </a:pPr>
            <a:r>
              <a:rPr lang="en-US" dirty="0"/>
              <a:t>Result = </a:t>
            </a:r>
            <a:r>
              <a:rPr lang="en-US" dirty="0" err="1"/>
              <a:t>dask_clent.gather</a:t>
            </a:r>
            <a:r>
              <a:rPr lang="en-US" dirty="0"/>
              <a:t>(</a:t>
            </a:r>
            <a:r>
              <a:rPr lang="en-US" dirty="0" err="1"/>
              <a:t>Flist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4249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1349BAB-98F5-5A8A-15CF-F4208008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that crude 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7BC73C-295D-8301-AFCA-1B64A6A02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list is huge it will overwhelm the scheduler</a:t>
            </a:r>
          </a:p>
          <a:p>
            <a:r>
              <a:rPr lang="en-US" dirty="0"/>
              <a:t>Memory use will grow out of control </a:t>
            </a:r>
          </a:p>
          <a:p>
            <a:r>
              <a:rPr lang="en-US" dirty="0"/>
              <a:t>Return result can be huge</a:t>
            </a:r>
          </a:p>
        </p:txBody>
      </p:sp>
    </p:spTree>
    <p:extLst>
      <p:ext uri="{BB962C8B-B14F-4D97-AF65-F5344CB8AC3E}">
        <p14:creationId xmlns:p14="http://schemas.microsoft.com/office/powerpoint/2010/main" val="30995811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3E0E5-0CF6-9B76-3D12-87571970921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"/>
            <a:ext cx="9613900" cy="1346200"/>
          </a:xfrm>
        </p:spPr>
        <p:txBody>
          <a:bodyPr/>
          <a:lstStyle/>
          <a:p>
            <a:r>
              <a:rPr lang="en-US" dirty="0"/>
              <a:t>Solution:  </a:t>
            </a:r>
            <a:r>
              <a:rPr lang="en-US" dirty="0" err="1"/>
              <a:t>MsPASS</a:t>
            </a:r>
            <a:r>
              <a:rPr lang="en-US" dirty="0"/>
              <a:t> </a:t>
            </a:r>
            <a:r>
              <a:rPr lang="en-US" dirty="0" err="1"/>
              <a:t>sliding_window_pipeline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A76FE5-78A3-9009-4FFC-F9EA932A1A68}"/>
              </a:ext>
            </a:extLst>
          </p:cNvPr>
          <p:cNvSpPr/>
          <p:nvPr/>
        </p:nvSpPr>
        <p:spPr>
          <a:xfrm>
            <a:off x="88900" y="1206500"/>
            <a:ext cx="7620000" cy="55118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7C7D40-9D91-7669-0711-5FD6ABA12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0852"/>
            <a:ext cx="8470900" cy="65456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BD434D-4530-AB88-74C3-6B8DED70F035}"/>
              </a:ext>
            </a:extLst>
          </p:cNvPr>
          <p:cNvSpPr txBox="1"/>
          <p:nvPr/>
        </p:nvSpPr>
        <p:spPr>
          <a:xfrm>
            <a:off x="8140700" y="2590800"/>
            <a:ext cx="3810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submitted sequentially to queue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Scheduler decides which worker gets which datum to handle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Processing function takes input form list and emits something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 is a list with length the same as input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Not illustrated is that when a reader or writer blocks the scheduler gives it more work  (more data being handled simultaneously than number of workers) </a:t>
            </a:r>
          </a:p>
        </p:txBody>
      </p:sp>
    </p:spTree>
    <p:extLst>
      <p:ext uri="{BB962C8B-B14F-4D97-AF65-F5344CB8AC3E}">
        <p14:creationId xmlns:p14="http://schemas.microsoft.com/office/powerpoint/2010/main" val="3877465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DEE32-51FF-BCD0-DE5A-DF23C1BF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Sliding Window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616A9-E5D6-B9BF-3935-792211924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used is predictable (queue size time maximum memory required by function during processing)</a:t>
            </a:r>
          </a:p>
          <a:p>
            <a:r>
              <a:rPr lang="en-US" dirty="0"/>
              <a:t>Let’s the operating system manage resources more effectively</a:t>
            </a:r>
          </a:p>
          <a:p>
            <a:r>
              <a:rPr lang="en-US" dirty="0"/>
              <a:t>Proven capability to handle millions of inputs simultaneously IF the input is list of documents, ids, or database queries</a:t>
            </a:r>
          </a:p>
        </p:txBody>
      </p:sp>
    </p:spTree>
    <p:extLst>
      <p:ext uri="{BB962C8B-B14F-4D97-AF65-F5344CB8AC3E}">
        <p14:creationId xmlns:p14="http://schemas.microsoft.com/office/powerpoint/2010/main" val="26089240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11973</TotalTime>
  <Words>1739</Words>
  <Application>Microsoft Macintosh PowerPoint</Application>
  <PresentationFormat>Widescreen</PresentationFormat>
  <Paragraphs>222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Arial</vt:lpstr>
      <vt:lpstr>Trebuchet MS</vt:lpstr>
      <vt:lpstr>Berlin</vt:lpstr>
      <vt:lpstr>Using MsPASS for Data Processing on HPC and Cloud Systems  Session 2:   Parallel Processing</vt:lpstr>
      <vt:lpstr>Agenda Today</vt:lpstr>
      <vt:lpstr>Key points from Precourse Lecture </vt:lpstr>
      <vt:lpstr>With that background a short poll to help me understand my audience</vt:lpstr>
      <vt:lpstr>Service Concept</vt:lpstr>
      <vt:lpstr>PowerPoint Presentation</vt:lpstr>
      <vt:lpstr>You interact with services via an API (Application Programming Interface)</vt:lpstr>
      <vt:lpstr>Why do I need to know this?</vt:lpstr>
      <vt:lpstr>Dask distributed</vt:lpstr>
      <vt:lpstr>Generic Parallel Processing </vt:lpstr>
      <vt:lpstr>Directed Acyclic Graph – how schedulers manage data flow</vt:lpstr>
      <vt:lpstr>Generic map-reduce concept </vt:lpstr>
      <vt:lpstr>Most seismic processing workflows are pipelines</vt:lpstr>
      <vt:lpstr>Some key concepts</vt:lpstr>
      <vt:lpstr>Algorithm restrictions of map-reduce</vt:lpstr>
      <vt:lpstr>Let’s look briefly at a dask example</vt:lpstr>
      <vt:lpstr>Serial Prototyping</vt:lpstr>
      <vt:lpstr>Parallelization example:</vt:lpstr>
      <vt:lpstr>An important detail:   parallel clients</vt:lpstr>
      <vt:lpstr>PowerPoint Presentation</vt:lpstr>
      <vt:lpstr>How to set up worker clients:</vt:lpstr>
      <vt:lpstr>IMPORTANT WARNING:</vt:lpstr>
      <vt:lpstr>To GeoLab</vt:lpstr>
      <vt:lpstr>Part 2:   Dask Futures </vt:lpstr>
      <vt:lpstr>Dask Futures API key components</vt:lpstr>
      <vt:lpstr>Converting a pipeline workflow for futures</vt:lpstr>
      <vt:lpstr>Problems with that crude example</vt:lpstr>
      <vt:lpstr>Solution:  MsPASS sliding_window_pipeline</vt:lpstr>
      <vt:lpstr>Advantages of Sliding Window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Pavlis, Gary Lee</dc:creator>
  <cp:lastModifiedBy>Pavlis, Gary Lee</cp:lastModifiedBy>
  <cp:revision>68</cp:revision>
  <dcterms:created xsi:type="dcterms:W3CDTF">2024-07-05T09:30:07Z</dcterms:created>
  <dcterms:modified xsi:type="dcterms:W3CDTF">2026-07-17T16:44:56Z</dcterms:modified>
</cp:coreProperties>
</file>