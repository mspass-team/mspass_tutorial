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8" r:id="rId2"/>
    <p:sldId id="401" r:id="rId3"/>
    <p:sldId id="402" r:id="rId4"/>
    <p:sldId id="410" r:id="rId5"/>
    <p:sldId id="348" r:id="rId6"/>
    <p:sldId id="376" r:id="rId7"/>
    <p:sldId id="308" r:id="rId8"/>
    <p:sldId id="273" r:id="rId9"/>
    <p:sldId id="274" r:id="rId10"/>
    <p:sldId id="275" r:id="rId11"/>
    <p:sldId id="276" r:id="rId12"/>
    <p:sldId id="451" r:id="rId13"/>
    <p:sldId id="381" r:id="rId14"/>
    <p:sldId id="385" r:id="rId15"/>
    <p:sldId id="452" r:id="rId16"/>
    <p:sldId id="430" r:id="rId17"/>
    <p:sldId id="382" r:id="rId18"/>
    <p:sldId id="453" r:id="rId19"/>
    <p:sldId id="417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58"/>
  </p:normalViewPr>
  <p:slideViewPr>
    <p:cSldViewPr snapToGrid="0">
      <p:cViewPr varScale="1">
        <p:scale>
          <a:sx n="114" d="100"/>
          <a:sy n="114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56618-F041-4F1D-A3EF-5B34C168CC3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3C178-A5FA-4569-B49F-FC0121CF0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0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Fugaku</a:t>
            </a:r>
            <a:r>
              <a:rPr lang="en-US" altLang="zh-CN" dirty="0"/>
              <a:t> #1,</a:t>
            </a:r>
            <a:r>
              <a:rPr lang="zh-CN" altLang="en-US" dirty="0"/>
              <a:t> </a:t>
            </a:r>
            <a:r>
              <a:rPr lang="en-US" altLang="zh-CN" dirty="0"/>
              <a:t>Summit #2, Frontera #10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76D99-CB2D-4A75-B9A5-B5CE6C5DE4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4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https://www.intel.com/content/dam/support/us/en/documents/processors/APP-for-Intel-Core-Processors.pdf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76D99-CB2D-4A75-B9A5-B5CE6C5DE4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99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0165AF-33E9-E845-9319-47A69DFD8CC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027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7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4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0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51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90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3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5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8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1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4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09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80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75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0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03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72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5B7F052-21D6-4F4C-A634-E45809372CD2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0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 userDrawn="1"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05B7F052-21D6-4F4C-A634-E45809372CD2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fld id="{4B211856-1CC7-174E-A93C-40BBFBDC80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296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f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pass.org/getting_started/deploy_mspass_on_HPC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039C-7AAA-C74F-AC7F-4A9B279C6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273" y="2712560"/>
            <a:ext cx="6752110" cy="1373070"/>
          </a:xfrm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Using MsPASS for Seismology Data Processing</a:t>
            </a:r>
            <a:br>
              <a:rPr lang="en-US" sz="2400" dirty="0"/>
            </a:br>
            <a:br>
              <a:rPr lang="en-US" sz="2400" dirty="0"/>
            </a:br>
            <a:r>
              <a:rPr lang="en-US" sz="2000" dirty="0"/>
              <a:t>Intro to HPC Systems</a:t>
            </a:r>
            <a:endParaRPr lang="en-US" sz="2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08D3A-E36C-974B-BBB5-14EA025C1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6752109" cy="1117687"/>
          </a:xfrm>
        </p:spPr>
        <p:txBody>
          <a:bodyPr>
            <a:normAutofit/>
          </a:bodyPr>
          <a:lstStyle/>
          <a:p>
            <a:r>
              <a:rPr lang="en-US" sz="1700" dirty="0"/>
              <a:t>Ian Wang</a:t>
            </a:r>
          </a:p>
        </p:txBody>
      </p:sp>
      <p:pic>
        <p:nvPicPr>
          <p:cNvPr id="4" name="Picture 3" descr="NSF_4-Color_bitmap_Logo.png">
            <a:extLst>
              <a:ext uri="{FF2B5EF4-FFF2-40B4-BE49-F238E27FC236}">
                <a16:creationId xmlns:a16="http://schemas.microsoft.com/office/drawing/2014/main" id="{EC636690-7601-D54D-949E-AF401A844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091" y="1741322"/>
            <a:ext cx="3358478" cy="3375355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979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C5CC2404-9349-007F-2BCC-BE7F8D1C0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835" y="254053"/>
            <a:ext cx="5314329" cy="299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标题 1"/>
          <p:cNvSpPr txBox="1">
            <a:spLocks/>
          </p:cNvSpPr>
          <p:nvPr/>
        </p:nvSpPr>
        <p:spPr bwMode="auto">
          <a:xfrm>
            <a:off x="1636918" y="3267494"/>
            <a:ext cx="8911812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200" b="0">
                <a:solidFill>
                  <a:schemeClr val="tx1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hlink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hlink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hlink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hlink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hlink"/>
                </a:solidFill>
                <a:latin typeface="Arial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hlink"/>
                </a:solidFill>
                <a:latin typeface="Arial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hlink"/>
                </a:solidFill>
                <a:latin typeface="Arial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chemeClr val="hlink"/>
                </a:solidFill>
                <a:latin typeface="Arial" charset="0"/>
                <a:ea typeface="ＭＳ Ｐゴシック" pitchFamily="1" charset="-128"/>
              </a:defRPr>
            </a:lvl9pPr>
          </a:lstStyle>
          <a:p>
            <a:r>
              <a:rPr lang="en-US" altLang="zh-CN" sz="2800" b="1" dirty="0"/>
              <a:t>Super</a:t>
            </a:r>
            <a:r>
              <a:rPr lang="en-US" altLang="zh-CN" sz="2800" b="1" kern="0" dirty="0"/>
              <a:t>computer</a:t>
            </a:r>
            <a:endParaRPr lang="en-US" sz="2800" b="1" kern="0" dirty="0"/>
          </a:p>
        </p:txBody>
      </p:sp>
      <p:pic>
        <p:nvPicPr>
          <p:cNvPr id="18" name="Picture 17" descr="A picture containing text, green, indoor, computer&#10;&#10;Description automatically generated">
            <a:extLst>
              <a:ext uri="{FF2B5EF4-FFF2-40B4-BE49-F238E27FC236}">
                <a16:creationId xmlns:a16="http://schemas.microsoft.com/office/drawing/2014/main" id="{C2C3E54F-FEF1-4381-884F-F5A445ACB1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918"/>
          <a:stretch/>
        </p:blipFill>
        <p:spPr>
          <a:xfrm>
            <a:off x="6230621" y="4321859"/>
            <a:ext cx="3837267" cy="2167833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EADD3BBF-0925-AE08-0A93-C96179BD3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113" y="4321859"/>
            <a:ext cx="3837267" cy="215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0959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866900" y="1857375"/>
            <a:ext cx="10325100" cy="2157413"/>
          </a:xfrm>
        </p:spPr>
        <p:txBody>
          <a:bodyPr/>
          <a:lstStyle/>
          <a:p>
            <a:r>
              <a:rPr lang="en-US" sz="2800" dirty="0"/>
              <a:t>Supercomputer</a:t>
            </a:r>
          </a:p>
        </p:txBody>
      </p:sp>
      <p:pic>
        <p:nvPicPr>
          <p:cNvPr id="2050" name="Picture 2" descr="http://www.dalco.ch/fileadmin/Press_pictures/Albert_2/Dalco_Supercomputer_05_node_Inside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330245"/>
            <a:ext cx="4782165" cy="318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matteocappelli.files.wordpress.com/2011/03/cluster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910" y="1478914"/>
            <a:ext cx="3908090" cy="489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33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566636"/>
              </p:ext>
            </p:extLst>
          </p:nvPr>
        </p:nvGraphicFramePr>
        <p:xfrm>
          <a:off x="414523" y="2238868"/>
          <a:ext cx="11369311" cy="4423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06058">
                  <a:extLst>
                    <a:ext uri="{9D8B030D-6E8A-4147-A177-3AD203B41FA5}">
                      <a16:colId xmlns:a16="http://schemas.microsoft.com/office/drawing/2014/main" val="4062554050"/>
                    </a:ext>
                  </a:extLst>
                </a:gridCol>
                <a:gridCol w="2286921">
                  <a:extLst>
                    <a:ext uri="{9D8B030D-6E8A-4147-A177-3AD203B41FA5}">
                      <a16:colId xmlns:a16="http://schemas.microsoft.com/office/drawing/2014/main" val="3726759299"/>
                    </a:ext>
                  </a:extLst>
                </a:gridCol>
                <a:gridCol w="3850895">
                  <a:extLst>
                    <a:ext uri="{9D8B030D-6E8A-4147-A177-3AD203B41FA5}">
                      <a16:colId xmlns:a16="http://schemas.microsoft.com/office/drawing/2014/main" val="35184780"/>
                    </a:ext>
                  </a:extLst>
                </a:gridCol>
                <a:gridCol w="1356982">
                  <a:extLst>
                    <a:ext uri="{9D8B030D-6E8A-4147-A177-3AD203B41FA5}">
                      <a16:colId xmlns:a16="http://schemas.microsoft.com/office/drawing/2014/main" val="972971432"/>
                    </a:ext>
                  </a:extLst>
                </a:gridCol>
                <a:gridCol w="1100256">
                  <a:extLst>
                    <a:ext uri="{9D8B030D-6E8A-4147-A177-3AD203B41FA5}">
                      <a16:colId xmlns:a16="http://schemas.microsoft.com/office/drawing/2014/main" val="1404304847"/>
                    </a:ext>
                  </a:extLst>
                </a:gridCol>
                <a:gridCol w="1228619">
                  <a:extLst>
                    <a:ext uri="{9D8B030D-6E8A-4147-A177-3AD203B41FA5}">
                      <a16:colId xmlns:a16="http://schemas.microsoft.com/office/drawing/2014/main" val="1177327841"/>
                    </a:ext>
                  </a:extLst>
                </a:gridCol>
                <a:gridCol w="839580">
                  <a:extLst>
                    <a:ext uri="{9D8B030D-6E8A-4147-A177-3AD203B41FA5}">
                      <a16:colId xmlns:a16="http://schemas.microsoft.com/office/drawing/2014/main" val="685039325"/>
                    </a:ext>
                  </a:extLst>
                </a:gridCol>
              </a:tblGrid>
              <a:tr h="2788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Rank</a:t>
                      </a:r>
                    </a:p>
                  </a:txBody>
                  <a:tcPr marL="16940" marR="16940" marT="16940" marB="169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Site</a:t>
                      </a:r>
                    </a:p>
                  </a:txBody>
                  <a:tcPr marL="16940" marR="16940" marT="16940" marB="169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System</a:t>
                      </a:r>
                    </a:p>
                  </a:txBody>
                  <a:tcPr marL="16940" marR="16940" marT="16940" marB="169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Cores</a:t>
                      </a:r>
                    </a:p>
                  </a:txBody>
                  <a:tcPr marL="16940" marR="16940" marT="16940" marB="169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</a:rPr>
                        <a:t>Rmax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</a:rPr>
                        <a:t>PFlop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/s)</a:t>
                      </a:r>
                    </a:p>
                  </a:txBody>
                  <a:tcPr marL="16940" marR="16940" marT="16940" marB="169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</a:rPr>
                        <a:t>Rpeak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</a:rPr>
                        <a:t>PFlop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/s)</a:t>
                      </a:r>
                    </a:p>
                  </a:txBody>
                  <a:tcPr marL="16940" marR="16940" marT="16940" marB="1694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Power (kW)</a:t>
                      </a:r>
                    </a:p>
                  </a:txBody>
                  <a:tcPr marL="16940" marR="16940" marT="16940" marB="1694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939968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National Supercomputing Centre in Shenzhen (NSCS)</a:t>
                      </a:r>
                    </a:p>
                    <a:p>
                      <a:pPr algn="ctr" fontAlgn="t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China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LineShine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 </a:t>
                      </a:r>
                      <a:r>
                        <a:rPr lang="en-US" sz="16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LingKun</a:t>
                      </a: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, LX2 304C 1.55GHz, </a:t>
                      </a:r>
                      <a:r>
                        <a:rPr lang="en-US" sz="16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LingQi</a:t>
                      </a: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, Kylin OS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13,789,440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2,198.40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2,735.82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42,220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628414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DOE/NNSA/LLNL</a:t>
                      </a:r>
                    </a:p>
                    <a:p>
                      <a:pPr algn="ctr" fontAlgn="t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United States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El 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Capitan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 HPE Cray EX255a, AMD 4th Gen EPYC 24C 1.8GHz, AMD Instinct MI300A, Slingshot-11, TOSS, HPE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11,340,000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1,809.00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2,821.10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29,685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305352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DOE/SC/Oak Ridge National Laboratory</a:t>
                      </a:r>
                    </a:p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United States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Frontier 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</a:rPr>
                        <a:t>- HPE Cray EX235a, AMD Optimized 3rd Generation EPYC 64C 2GHz, AMD Instinct MI250X, Slingshot-11, HPE Cray OS, HPE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9,066,176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1,353.00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2,055.72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24,607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9633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algn="ctr" fontAlgn="t"/>
                      <a:endParaRPr 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Maybe on your desk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/>
                        <a:t>High-end GPU workstation -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24-core CPU, NVIDIA GeForce RTX 5090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24 CPU cores 170 GPU SMs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0.00164 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~1.0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794796"/>
                  </a:ext>
                </a:extLst>
              </a:tr>
            </a:tbl>
          </a:graphicData>
        </a:graphic>
      </p:graphicFrame>
      <p:sp>
        <p:nvSpPr>
          <p:cNvPr id="2" name="Title 8">
            <a:extLst>
              <a:ext uri="{FF2B5EF4-FFF2-40B4-BE49-F238E27FC236}">
                <a16:creationId xmlns:a16="http://schemas.microsoft.com/office/drawing/2014/main" id="{E68D91BE-B648-B23E-E817-61491C53E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/>
              <a:t>Top500 Ranking</a:t>
            </a:r>
          </a:p>
        </p:txBody>
      </p:sp>
    </p:spTree>
    <p:extLst>
      <p:ext uri="{BB962C8B-B14F-4D97-AF65-F5344CB8AC3E}">
        <p14:creationId xmlns:p14="http://schemas.microsoft.com/office/powerpoint/2010/main" val="421485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646" y="2002480"/>
            <a:ext cx="6220396" cy="275166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All cores share a common pool of memory (RAM)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programming challenge is coordination: how to avoid competing for access to the same puzzle pieces (memory)</a:t>
            </a:r>
            <a:endParaRPr lang="en-US" sz="20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single executable </a:t>
            </a:r>
            <a:r>
              <a:rPr lang="en-US" sz="2000" dirty="0"/>
              <a:t>spawns independent threads and manages threads' access to data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2385134" y="4280295"/>
            <a:ext cx="3886200" cy="1267754"/>
            <a:chOff x="685800" y="3924585"/>
            <a:chExt cx="3886200" cy="1267754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914400" y="4351864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685800" y="4724438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1600200" y="4354004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1371600" y="4726578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286000" y="4356144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2057400" y="4728718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2971800" y="4358284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2743200" y="4730858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3657600" y="4360424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3429000" y="4732998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4343400" y="4362564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4114800" y="4735138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85800" y="3924585"/>
              <a:ext cx="3886200" cy="5288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Memory (RAM)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70029" y="6356352"/>
            <a:ext cx="7837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662B76-CFCF-4CEF-933E-B97B7B39D49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150" y="3595456"/>
            <a:ext cx="4168027" cy="31260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189226C-5013-14D1-06CB-9F286CCC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</a:t>
            </a:r>
          </a:p>
        </p:txBody>
      </p:sp>
    </p:spTree>
    <p:extLst>
      <p:ext uri="{BB962C8B-B14F-4D97-AF65-F5344CB8AC3E}">
        <p14:creationId xmlns:p14="http://schemas.microsoft.com/office/powerpoint/2010/main" val="2752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98296"/>
            <a:ext cx="6180438" cy="279933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core has its own memory (RAM), inaccessible to other 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programming challenge is communication: how to share puzzle pieces (data)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Every assigned core runs a separate copy of the same executable -- a “rank aware” task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192204" y="4292842"/>
            <a:ext cx="4114800" cy="1464735"/>
            <a:chOff x="800100" y="4647948"/>
            <a:chExt cx="4114800" cy="1464735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1139428" y="4844735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910828" y="5217309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1825228" y="4846875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1596628" y="5219449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2511028" y="4849015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2282428" y="5221589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3196828" y="4851155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2968228" y="5223729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3882628" y="4853295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3654028" y="5225869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4568428" y="4855435"/>
              <a:ext cx="0" cy="4487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4339828" y="5228009"/>
              <a:ext cx="457200" cy="4572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10828" y="4648292"/>
              <a:ext cx="457200" cy="2980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RAM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96628" y="4648291"/>
              <a:ext cx="457200" cy="2980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RAM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82428" y="4648290"/>
              <a:ext cx="457200" cy="2980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RAM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976695" y="4647948"/>
              <a:ext cx="457200" cy="2980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RAM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654029" y="4647949"/>
              <a:ext cx="457200" cy="2980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RAM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339828" y="4648287"/>
              <a:ext cx="457200" cy="2980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RAM</a:t>
              </a:r>
            </a:p>
          </p:txBody>
        </p:sp>
        <p:cxnSp>
          <p:nvCxnSpPr>
            <p:cNvPr id="9" name="Straight Connector 8"/>
            <p:cNvCxnSpPr>
              <a:stCxn id="30" idx="2"/>
            </p:cNvCxnSpPr>
            <p:nvPr/>
          </p:nvCxnSpPr>
          <p:spPr>
            <a:xfrm>
              <a:off x="1132284" y="5685211"/>
              <a:ext cx="0" cy="17269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818084" y="5687351"/>
              <a:ext cx="0" cy="17269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2503884" y="5685210"/>
              <a:ext cx="0" cy="17269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189684" y="5691631"/>
              <a:ext cx="0" cy="17269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3875485" y="5693771"/>
              <a:ext cx="0" cy="17269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00100" y="5857901"/>
              <a:ext cx="4114800" cy="856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4568428" y="5693771"/>
              <a:ext cx="0" cy="172691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476696" y="5866462"/>
              <a:ext cx="64953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Network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70029" y="6356352"/>
            <a:ext cx="7837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662B76-CFCF-4CEF-933E-B97B7B39D49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lide Number Placeholder 3"/>
          <p:cNvSpPr txBox="1">
            <a:spLocks/>
          </p:cNvSpPr>
          <p:nvPr/>
        </p:nvSpPr>
        <p:spPr>
          <a:xfrm>
            <a:off x="10570029" y="6356352"/>
            <a:ext cx="7837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662B76-CFCF-4CEF-933E-B97B7B39D49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150" y="3595456"/>
            <a:ext cx="4168027" cy="312602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B0E060E-BDA2-E939-AC3D-AF5B6822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Memory</a:t>
            </a:r>
          </a:p>
        </p:txBody>
      </p:sp>
    </p:spTree>
    <p:extLst>
      <p:ext uri="{BB962C8B-B14F-4D97-AF65-F5344CB8AC3E}">
        <p14:creationId xmlns:p14="http://schemas.microsoft.com/office/powerpoint/2010/main" val="254341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Straight Connector 69"/>
          <p:cNvCxnSpPr>
            <a:cxnSpLocks/>
          </p:cNvCxnSpPr>
          <p:nvPr/>
        </p:nvCxnSpPr>
        <p:spPr>
          <a:xfrm>
            <a:off x="6783143" y="2695708"/>
            <a:ext cx="1444879" cy="1"/>
          </a:xfrm>
          <a:prstGeom prst="line">
            <a:avLst/>
          </a:prstGeom>
          <a:ln w="34925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bject 5"/>
          <p:cNvSpPr/>
          <p:nvPr/>
        </p:nvSpPr>
        <p:spPr>
          <a:xfrm>
            <a:off x="3825857" y="2657482"/>
            <a:ext cx="232179" cy="0"/>
          </a:xfrm>
          <a:custGeom>
            <a:avLst/>
            <a:gdLst/>
            <a:ahLst/>
            <a:cxnLst/>
            <a:rect l="l" t="t" r="r" b="b"/>
            <a:pathLst>
              <a:path w="109855">
                <a:moveTo>
                  <a:pt x="0" y="0"/>
                </a:moveTo>
                <a:lnTo>
                  <a:pt x="109736" y="0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object 6"/>
          <p:cNvSpPr txBox="1"/>
          <p:nvPr/>
        </p:nvSpPr>
        <p:spPr>
          <a:xfrm>
            <a:off x="4889152" y="2448495"/>
            <a:ext cx="1089764" cy="31845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 marR="0" lvl="0" indent="0" algn="l" defTabSz="914400" rtl="0" eaLnBrk="1" fontAlgn="auto" latinLnBrk="0" hangingPunct="1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2" b="0" i="0" u="none" strike="noStrike" kern="1200" cap="none" spc="-21" normalizeH="0" baseline="0" noProof="0" dirty="0">
                <a:ln>
                  <a:noFill/>
                </a:ln>
                <a:solidFill>
                  <a:srgbClr val="BE092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Multinode</a:t>
            </a:r>
            <a:endParaRPr kumimoji="0" sz="19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7" name="object 7"/>
          <p:cNvSpPr/>
          <p:nvPr/>
        </p:nvSpPr>
        <p:spPr>
          <a:xfrm>
            <a:off x="1306625" y="3255987"/>
            <a:ext cx="1085738" cy="1085738"/>
          </a:xfrm>
          <a:custGeom>
            <a:avLst/>
            <a:gdLst/>
            <a:ahLst/>
            <a:cxnLst/>
            <a:rect l="l" t="t" r="r" b="b"/>
            <a:pathLst>
              <a:path w="513715" h="513715">
                <a:moveTo>
                  <a:pt x="256826" y="0"/>
                </a:moveTo>
                <a:lnTo>
                  <a:pt x="210660" y="4137"/>
                </a:lnTo>
                <a:lnTo>
                  <a:pt x="167210" y="16067"/>
                </a:lnTo>
                <a:lnTo>
                  <a:pt x="127200" y="35063"/>
                </a:lnTo>
                <a:lnTo>
                  <a:pt x="91355" y="60401"/>
                </a:lnTo>
                <a:lnTo>
                  <a:pt x="60401" y="91355"/>
                </a:lnTo>
                <a:lnTo>
                  <a:pt x="35063" y="127200"/>
                </a:lnTo>
                <a:lnTo>
                  <a:pt x="16067" y="167210"/>
                </a:lnTo>
                <a:lnTo>
                  <a:pt x="4137" y="210660"/>
                </a:lnTo>
                <a:lnTo>
                  <a:pt x="0" y="256826"/>
                </a:lnTo>
                <a:lnTo>
                  <a:pt x="4137" y="302991"/>
                </a:lnTo>
                <a:lnTo>
                  <a:pt x="16067" y="346441"/>
                </a:lnTo>
                <a:lnTo>
                  <a:pt x="35063" y="386451"/>
                </a:lnTo>
                <a:lnTo>
                  <a:pt x="60401" y="422296"/>
                </a:lnTo>
                <a:lnTo>
                  <a:pt x="91355" y="453250"/>
                </a:lnTo>
                <a:lnTo>
                  <a:pt x="127200" y="478588"/>
                </a:lnTo>
                <a:lnTo>
                  <a:pt x="167210" y="497584"/>
                </a:lnTo>
                <a:lnTo>
                  <a:pt x="210660" y="509514"/>
                </a:lnTo>
                <a:lnTo>
                  <a:pt x="256826" y="513652"/>
                </a:lnTo>
                <a:lnTo>
                  <a:pt x="302991" y="509514"/>
                </a:lnTo>
                <a:lnTo>
                  <a:pt x="346441" y="497584"/>
                </a:lnTo>
                <a:lnTo>
                  <a:pt x="386451" y="478588"/>
                </a:lnTo>
                <a:lnTo>
                  <a:pt x="422296" y="453250"/>
                </a:lnTo>
                <a:lnTo>
                  <a:pt x="453250" y="422296"/>
                </a:lnTo>
                <a:lnTo>
                  <a:pt x="478588" y="386451"/>
                </a:lnTo>
                <a:lnTo>
                  <a:pt x="497584" y="346441"/>
                </a:lnTo>
                <a:lnTo>
                  <a:pt x="509514" y="302991"/>
                </a:lnTo>
                <a:lnTo>
                  <a:pt x="513652" y="256826"/>
                </a:lnTo>
                <a:lnTo>
                  <a:pt x="509514" y="210660"/>
                </a:lnTo>
                <a:lnTo>
                  <a:pt x="497584" y="167210"/>
                </a:lnTo>
                <a:lnTo>
                  <a:pt x="478588" y="127200"/>
                </a:lnTo>
                <a:lnTo>
                  <a:pt x="453250" y="91355"/>
                </a:lnTo>
                <a:lnTo>
                  <a:pt x="422296" y="60401"/>
                </a:lnTo>
                <a:lnTo>
                  <a:pt x="386451" y="35063"/>
                </a:lnTo>
                <a:lnTo>
                  <a:pt x="346441" y="16067"/>
                </a:lnTo>
                <a:lnTo>
                  <a:pt x="302991" y="4137"/>
                </a:lnTo>
                <a:lnTo>
                  <a:pt x="256826" y="0"/>
                </a:lnTo>
                <a:close/>
              </a:path>
            </a:pathLst>
          </a:custGeom>
          <a:solidFill>
            <a:srgbClr val="00276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object 8"/>
          <p:cNvSpPr/>
          <p:nvPr/>
        </p:nvSpPr>
        <p:spPr>
          <a:xfrm>
            <a:off x="1306625" y="3255987"/>
            <a:ext cx="1085738" cy="1085738"/>
          </a:xfrm>
          <a:custGeom>
            <a:avLst/>
            <a:gdLst/>
            <a:ahLst/>
            <a:cxnLst/>
            <a:rect l="l" t="t" r="r" b="b"/>
            <a:pathLst>
              <a:path w="513715" h="513715">
                <a:moveTo>
                  <a:pt x="513652" y="256826"/>
                </a:moveTo>
                <a:lnTo>
                  <a:pt x="509514" y="210660"/>
                </a:lnTo>
                <a:lnTo>
                  <a:pt x="497584" y="167210"/>
                </a:lnTo>
                <a:lnTo>
                  <a:pt x="478588" y="127200"/>
                </a:lnTo>
                <a:lnTo>
                  <a:pt x="453250" y="91355"/>
                </a:lnTo>
                <a:lnTo>
                  <a:pt x="422296" y="60401"/>
                </a:lnTo>
                <a:lnTo>
                  <a:pt x="386451" y="35063"/>
                </a:lnTo>
                <a:lnTo>
                  <a:pt x="346441" y="16067"/>
                </a:lnTo>
                <a:lnTo>
                  <a:pt x="302991" y="4137"/>
                </a:lnTo>
                <a:lnTo>
                  <a:pt x="256826" y="0"/>
                </a:lnTo>
                <a:lnTo>
                  <a:pt x="210660" y="4137"/>
                </a:lnTo>
                <a:lnTo>
                  <a:pt x="167210" y="16067"/>
                </a:lnTo>
                <a:lnTo>
                  <a:pt x="127200" y="35063"/>
                </a:lnTo>
                <a:lnTo>
                  <a:pt x="91355" y="60401"/>
                </a:lnTo>
                <a:lnTo>
                  <a:pt x="60401" y="91355"/>
                </a:lnTo>
                <a:lnTo>
                  <a:pt x="35063" y="127200"/>
                </a:lnTo>
                <a:lnTo>
                  <a:pt x="16067" y="167210"/>
                </a:lnTo>
                <a:lnTo>
                  <a:pt x="4137" y="210660"/>
                </a:lnTo>
                <a:lnTo>
                  <a:pt x="0" y="256826"/>
                </a:lnTo>
                <a:lnTo>
                  <a:pt x="4137" y="302991"/>
                </a:lnTo>
                <a:lnTo>
                  <a:pt x="16067" y="346441"/>
                </a:lnTo>
                <a:lnTo>
                  <a:pt x="35063" y="386451"/>
                </a:lnTo>
                <a:lnTo>
                  <a:pt x="60401" y="422296"/>
                </a:lnTo>
                <a:lnTo>
                  <a:pt x="91355" y="453250"/>
                </a:lnTo>
                <a:lnTo>
                  <a:pt x="127200" y="478588"/>
                </a:lnTo>
                <a:lnTo>
                  <a:pt x="167210" y="497584"/>
                </a:lnTo>
                <a:lnTo>
                  <a:pt x="210660" y="509514"/>
                </a:lnTo>
                <a:lnTo>
                  <a:pt x="256826" y="513652"/>
                </a:lnTo>
                <a:lnTo>
                  <a:pt x="302991" y="509514"/>
                </a:lnTo>
                <a:lnTo>
                  <a:pt x="346441" y="497584"/>
                </a:lnTo>
                <a:lnTo>
                  <a:pt x="386451" y="478588"/>
                </a:lnTo>
                <a:lnTo>
                  <a:pt x="422296" y="453250"/>
                </a:lnTo>
                <a:lnTo>
                  <a:pt x="453250" y="422296"/>
                </a:lnTo>
                <a:lnTo>
                  <a:pt x="478588" y="386451"/>
                </a:lnTo>
                <a:lnTo>
                  <a:pt x="497584" y="346441"/>
                </a:lnTo>
                <a:lnTo>
                  <a:pt x="509514" y="302991"/>
                </a:lnTo>
                <a:lnTo>
                  <a:pt x="513652" y="256826"/>
                </a:lnTo>
                <a:close/>
              </a:path>
            </a:pathLst>
          </a:custGeom>
          <a:ln w="5060">
            <a:solidFill>
              <a:srgbClr val="002767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object 9"/>
          <p:cNvSpPr txBox="1"/>
          <p:nvPr/>
        </p:nvSpPr>
        <p:spPr>
          <a:xfrm>
            <a:off x="1407068" y="3614075"/>
            <a:ext cx="885769" cy="31845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 marR="0" lvl="0" indent="0" algn="l" defTabSz="914400" rtl="0" eaLnBrk="1" fontAlgn="auto" latinLnBrk="0" hangingPunct="1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2" b="0" i="0" u="none" strike="noStrike" kern="1200" cap="none" spc="-11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Socket</a:t>
            </a:r>
            <a:r>
              <a:rPr kumimoji="0" sz="1902" b="0" i="0" u="none" strike="noStrike" kern="1200" cap="none" spc="-21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0</a:t>
            </a:r>
            <a:endParaRPr kumimoji="0" sz="190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0" name="object 10"/>
          <p:cNvSpPr/>
          <p:nvPr/>
        </p:nvSpPr>
        <p:spPr>
          <a:xfrm>
            <a:off x="4350107" y="3255987"/>
            <a:ext cx="1085738" cy="1085738"/>
          </a:xfrm>
          <a:custGeom>
            <a:avLst/>
            <a:gdLst/>
            <a:ahLst/>
            <a:cxnLst/>
            <a:rect l="l" t="t" r="r" b="b"/>
            <a:pathLst>
              <a:path w="513714" h="513715">
                <a:moveTo>
                  <a:pt x="256826" y="0"/>
                </a:moveTo>
                <a:lnTo>
                  <a:pt x="210660" y="4137"/>
                </a:lnTo>
                <a:lnTo>
                  <a:pt x="167210" y="16067"/>
                </a:lnTo>
                <a:lnTo>
                  <a:pt x="127200" y="35063"/>
                </a:lnTo>
                <a:lnTo>
                  <a:pt x="91355" y="60401"/>
                </a:lnTo>
                <a:lnTo>
                  <a:pt x="60401" y="91355"/>
                </a:lnTo>
                <a:lnTo>
                  <a:pt x="35063" y="127200"/>
                </a:lnTo>
                <a:lnTo>
                  <a:pt x="16067" y="167210"/>
                </a:lnTo>
                <a:lnTo>
                  <a:pt x="4137" y="210660"/>
                </a:lnTo>
                <a:lnTo>
                  <a:pt x="0" y="256826"/>
                </a:lnTo>
                <a:lnTo>
                  <a:pt x="4137" y="302991"/>
                </a:lnTo>
                <a:lnTo>
                  <a:pt x="16067" y="346441"/>
                </a:lnTo>
                <a:lnTo>
                  <a:pt x="35063" y="386451"/>
                </a:lnTo>
                <a:lnTo>
                  <a:pt x="60401" y="422296"/>
                </a:lnTo>
                <a:lnTo>
                  <a:pt x="91355" y="453250"/>
                </a:lnTo>
                <a:lnTo>
                  <a:pt x="127200" y="478588"/>
                </a:lnTo>
                <a:lnTo>
                  <a:pt x="167210" y="497584"/>
                </a:lnTo>
                <a:lnTo>
                  <a:pt x="210660" y="509514"/>
                </a:lnTo>
                <a:lnTo>
                  <a:pt x="256826" y="513652"/>
                </a:lnTo>
                <a:lnTo>
                  <a:pt x="302991" y="509514"/>
                </a:lnTo>
                <a:lnTo>
                  <a:pt x="346441" y="497584"/>
                </a:lnTo>
                <a:lnTo>
                  <a:pt x="386451" y="478588"/>
                </a:lnTo>
                <a:lnTo>
                  <a:pt x="422296" y="453250"/>
                </a:lnTo>
                <a:lnTo>
                  <a:pt x="453250" y="422296"/>
                </a:lnTo>
                <a:lnTo>
                  <a:pt x="478588" y="386451"/>
                </a:lnTo>
                <a:lnTo>
                  <a:pt x="497584" y="346441"/>
                </a:lnTo>
                <a:lnTo>
                  <a:pt x="509514" y="302991"/>
                </a:lnTo>
                <a:lnTo>
                  <a:pt x="513652" y="256826"/>
                </a:lnTo>
                <a:lnTo>
                  <a:pt x="509514" y="210660"/>
                </a:lnTo>
                <a:lnTo>
                  <a:pt x="497584" y="167210"/>
                </a:lnTo>
                <a:lnTo>
                  <a:pt x="478588" y="127200"/>
                </a:lnTo>
                <a:lnTo>
                  <a:pt x="453250" y="91355"/>
                </a:lnTo>
                <a:lnTo>
                  <a:pt x="422296" y="60401"/>
                </a:lnTo>
                <a:lnTo>
                  <a:pt x="386451" y="35063"/>
                </a:lnTo>
                <a:lnTo>
                  <a:pt x="346441" y="16067"/>
                </a:lnTo>
                <a:lnTo>
                  <a:pt x="302991" y="4137"/>
                </a:lnTo>
                <a:lnTo>
                  <a:pt x="256826" y="0"/>
                </a:lnTo>
                <a:close/>
              </a:path>
            </a:pathLst>
          </a:custGeom>
          <a:solidFill>
            <a:srgbClr val="00276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object 11"/>
          <p:cNvSpPr/>
          <p:nvPr/>
        </p:nvSpPr>
        <p:spPr>
          <a:xfrm>
            <a:off x="4350107" y="3255987"/>
            <a:ext cx="1085738" cy="1085738"/>
          </a:xfrm>
          <a:custGeom>
            <a:avLst/>
            <a:gdLst/>
            <a:ahLst/>
            <a:cxnLst/>
            <a:rect l="l" t="t" r="r" b="b"/>
            <a:pathLst>
              <a:path w="513714" h="513715">
                <a:moveTo>
                  <a:pt x="513652" y="256826"/>
                </a:moveTo>
                <a:lnTo>
                  <a:pt x="509514" y="210660"/>
                </a:lnTo>
                <a:lnTo>
                  <a:pt x="497584" y="167210"/>
                </a:lnTo>
                <a:lnTo>
                  <a:pt x="478588" y="127200"/>
                </a:lnTo>
                <a:lnTo>
                  <a:pt x="453250" y="91355"/>
                </a:lnTo>
                <a:lnTo>
                  <a:pt x="422296" y="60401"/>
                </a:lnTo>
                <a:lnTo>
                  <a:pt x="386451" y="35063"/>
                </a:lnTo>
                <a:lnTo>
                  <a:pt x="346441" y="16067"/>
                </a:lnTo>
                <a:lnTo>
                  <a:pt x="302991" y="4137"/>
                </a:lnTo>
                <a:lnTo>
                  <a:pt x="256826" y="0"/>
                </a:lnTo>
                <a:lnTo>
                  <a:pt x="210660" y="4137"/>
                </a:lnTo>
                <a:lnTo>
                  <a:pt x="167210" y="16067"/>
                </a:lnTo>
                <a:lnTo>
                  <a:pt x="127200" y="35063"/>
                </a:lnTo>
                <a:lnTo>
                  <a:pt x="91355" y="60401"/>
                </a:lnTo>
                <a:lnTo>
                  <a:pt x="60401" y="91355"/>
                </a:lnTo>
                <a:lnTo>
                  <a:pt x="35063" y="127200"/>
                </a:lnTo>
                <a:lnTo>
                  <a:pt x="16067" y="167210"/>
                </a:lnTo>
                <a:lnTo>
                  <a:pt x="4137" y="210660"/>
                </a:lnTo>
                <a:lnTo>
                  <a:pt x="0" y="256826"/>
                </a:lnTo>
                <a:lnTo>
                  <a:pt x="4137" y="302991"/>
                </a:lnTo>
                <a:lnTo>
                  <a:pt x="16067" y="346441"/>
                </a:lnTo>
                <a:lnTo>
                  <a:pt x="35063" y="386451"/>
                </a:lnTo>
                <a:lnTo>
                  <a:pt x="60401" y="422296"/>
                </a:lnTo>
                <a:lnTo>
                  <a:pt x="91355" y="453250"/>
                </a:lnTo>
                <a:lnTo>
                  <a:pt x="127200" y="478588"/>
                </a:lnTo>
                <a:lnTo>
                  <a:pt x="167210" y="497584"/>
                </a:lnTo>
                <a:lnTo>
                  <a:pt x="210660" y="509514"/>
                </a:lnTo>
                <a:lnTo>
                  <a:pt x="256826" y="513652"/>
                </a:lnTo>
                <a:lnTo>
                  <a:pt x="302991" y="509514"/>
                </a:lnTo>
                <a:lnTo>
                  <a:pt x="346441" y="497584"/>
                </a:lnTo>
                <a:lnTo>
                  <a:pt x="386451" y="478588"/>
                </a:lnTo>
                <a:lnTo>
                  <a:pt x="422296" y="453250"/>
                </a:lnTo>
                <a:lnTo>
                  <a:pt x="453250" y="422296"/>
                </a:lnTo>
                <a:lnTo>
                  <a:pt x="478588" y="386451"/>
                </a:lnTo>
                <a:lnTo>
                  <a:pt x="497584" y="346441"/>
                </a:lnTo>
                <a:lnTo>
                  <a:pt x="509514" y="302991"/>
                </a:lnTo>
                <a:lnTo>
                  <a:pt x="513652" y="256826"/>
                </a:lnTo>
                <a:close/>
              </a:path>
            </a:pathLst>
          </a:custGeom>
          <a:ln w="5060">
            <a:solidFill>
              <a:srgbClr val="002767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object 12"/>
          <p:cNvSpPr txBox="1"/>
          <p:nvPr/>
        </p:nvSpPr>
        <p:spPr>
          <a:xfrm>
            <a:off x="4450544" y="3614075"/>
            <a:ext cx="885769" cy="31845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 marR="0" lvl="0" indent="0" algn="l" defTabSz="914400" rtl="0" eaLnBrk="1" fontAlgn="auto" latinLnBrk="0" hangingPunct="1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2" b="0" i="0" u="none" strike="noStrike" kern="1200" cap="none" spc="-11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Socket</a:t>
            </a:r>
            <a:r>
              <a:rPr kumimoji="0" sz="1902" b="0" i="0" u="none" strike="noStrike" kern="1200" cap="none" spc="-21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endParaRPr kumimoji="0" sz="190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3" name="object 13"/>
          <p:cNvSpPr/>
          <p:nvPr/>
        </p:nvSpPr>
        <p:spPr>
          <a:xfrm>
            <a:off x="1849426" y="2845624"/>
            <a:ext cx="1521912" cy="405306"/>
          </a:xfrm>
          <a:custGeom>
            <a:avLst/>
            <a:gdLst/>
            <a:ahLst/>
            <a:cxnLst/>
            <a:rect l="l" t="t" r="r" b="b"/>
            <a:pathLst>
              <a:path w="720089" h="191769">
                <a:moveTo>
                  <a:pt x="720009" y="0"/>
                </a:moveTo>
                <a:lnTo>
                  <a:pt x="0" y="191630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bject 14"/>
          <p:cNvSpPr/>
          <p:nvPr/>
        </p:nvSpPr>
        <p:spPr>
          <a:xfrm>
            <a:off x="3371167" y="2845624"/>
            <a:ext cx="1521912" cy="405306"/>
          </a:xfrm>
          <a:custGeom>
            <a:avLst/>
            <a:gdLst/>
            <a:ahLst/>
            <a:cxnLst/>
            <a:rect l="l" t="t" r="r" b="b"/>
            <a:pathLst>
              <a:path w="720089" h="191769">
                <a:moveTo>
                  <a:pt x="0" y="0"/>
                </a:moveTo>
                <a:lnTo>
                  <a:pt x="720009" y="191630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bject 15"/>
          <p:cNvSpPr txBox="1"/>
          <p:nvPr/>
        </p:nvSpPr>
        <p:spPr>
          <a:xfrm>
            <a:off x="5887139" y="3614075"/>
            <a:ext cx="1234708" cy="31845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 marR="0" lvl="0" indent="0" algn="l" defTabSz="914400" rtl="0" eaLnBrk="1" fontAlgn="auto" latinLnBrk="0" hangingPunct="1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2" b="0" i="0" u="none" strike="noStrike" kern="1200" cap="none" spc="-32" normalizeH="0" baseline="0" noProof="0" dirty="0">
                <a:ln>
                  <a:noFill/>
                </a:ln>
                <a:solidFill>
                  <a:srgbClr val="BE092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Multisocket</a:t>
            </a:r>
            <a:endParaRPr kumimoji="0" sz="190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6" name="object 16"/>
          <p:cNvSpPr txBox="1"/>
          <p:nvPr/>
        </p:nvSpPr>
        <p:spPr>
          <a:xfrm>
            <a:off x="667013" y="4559659"/>
            <a:ext cx="844165" cy="510893"/>
          </a:xfrm>
          <a:prstGeom prst="rect">
            <a:avLst/>
          </a:prstGeom>
          <a:solidFill>
            <a:srgbClr val="002767"/>
          </a:solidFill>
        </p:spPr>
        <p:txBody>
          <a:bodyPr vert="horz" wrap="square" lIns="0" tIns="216074" rIns="0" bIns="0" rtlCol="0">
            <a:spAutoFit/>
          </a:bodyPr>
          <a:lstStyle/>
          <a:p>
            <a:pPr marL="96629" marR="0" lvl="0" indent="0" algn="l" defTabSz="914400" rtl="0" eaLnBrk="1" fontAlgn="auto" latinLnBrk="0" hangingPunct="1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2" b="0" i="0" u="none" strike="noStrike" kern="1200" cap="none" spc="-10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Core</a:t>
            </a:r>
            <a:r>
              <a:rPr kumimoji="0" sz="1902" b="0" i="0" u="none" strike="noStrike" kern="1200" cap="none" spc="-23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0</a:t>
            </a:r>
            <a:endParaRPr kumimoji="0" sz="190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7" name="object 17"/>
          <p:cNvSpPr txBox="1"/>
          <p:nvPr/>
        </p:nvSpPr>
        <p:spPr>
          <a:xfrm>
            <a:off x="2188754" y="4559659"/>
            <a:ext cx="844165" cy="510893"/>
          </a:xfrm>
          <a:prstGeom prst="rect">
            <a:avLst/>
          </a:prstGeom>
          <a:solidFill>
            <a:srgbClr val="002767"/>
          </a:solidFill>
        </p:spPr>
        <p:txBody>
          <a:bodyPr vert="horz" wrap="square" lIns="0" tIns="216074" rIns="0" bIns="0" rtlCol="0">
            <a:spAutoFit/>
          </a:bodyPr>
          <a:lstStyle/>
          <a:p>
            <a:pPr marL="96629" marR="0" lvl="0" indent="0" algn="l" defTabSz="914400" rtl="0" eaLnBrk="1" fontAlgn="auto" latinLnBrk="0" hangingPunct="1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2" b="0" i="0" u="none" strike="noStrike" kern="1200" cap="none" spc="-10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Core</a:t>
            </a:r>
            <a:r>
              <a:rPr kumimoji="0" sz="1902" b="0" i="0" u="none" strike="noStrike" kern="1200" cap="none" spc="-23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</a:t>
            </a:r>
            <a:endParaRPr kumimoji="0" sz="19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8" name="object 18"/>
          <p:cNvSpPr/>
          <p:nvPr/>
        </p:nvSpPr>
        <p:spPr>
          <a:xfrm>
            <a:off x="1088556" y="4346939"/>
            <a:ext cx="760956" cy="208022"/>
          </a:xfrm>
          <a:custGeom>
            <a:avLst/>
            <a:gdLst/>
            <a:ahLst/>
            <a:cxnLst/>
            <a:rect l="l" t="t" r="r" b="b"/>
            <a:pathLst>
              <a:path w="360044" h="98425">
                <a:moveTo>
                  <a:pt x="360004" y="0"/>
                </a:moveTo>
                <a:lnTo>
                  <a:pt x="0" y="98117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object 19"/>
          <p:cNvSpPr/>
          <p:nvPr/>
        </p:nvSpPr>
        <p:spPr>
          <a:xfrm>
            <a:off x="1849427" y="4346939"/>
            <a:ext cx="760956" cy="208022"/>
          </a:xfrm>
          <a:custGeom>
            <a:avLst/>
            <a:gdLst/>
            <a:ahLst/>
            <a:cxnLst/>
            <a:rect l="l" t="t" r="r" b="b"/>
            <a:pathLst>
              <a:path w="360044" h="98425">
                <a:moveTo>
                  <a:pt x="0" y="0"/>
                </a:moveTo>
                <a:lnTo>
                  <a:pt x="360004" y="98117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object 20"/>
          <p:cNvSpPr txBox="1"/>
          <p:nvPr/>
        </p:nvSpPr>
        <p:spPr>
          <a:xfrm>
            <a:off x="3710495" y="4559659"/>
            <a:ext cx="844165" cy="510893"/>
          </a:xfrm>
          <a:prstGeom prst="rect">
            <a:avLst/>
          </a:prstGeom>
          <a:solidFill>
            <a:srgbClr val="002767"/>
          </a:solidFill>
        </p:spPr>
        <p:txBody>
          <a:bodyPr vert="horz" wrap="square" lIns="0" tIns="216074" rIns="0" bIns="0" rtlCol="0">
            <a:spAutoFit/>
          </a:bodyPr>
          <a:lstStyle/>
          <a:p>
            <a:pPr marL="96629" marR="0" lvl="0" indent="0" algn="l" defTabSz="914400" rtl="0" eaLnBrk="1" fontAlgn="auto" latinLnBrk="0" hangingPunct="1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2" b="0" i="0" u="none" strike="noStrike" kern="1200" cap="none" spc="-10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Core</a:t>
            </a:r>
            <a:r>
              <a:rPr kumimoji="0" sz="1902" b="0" i="0" u="none" strike="noStrike" kern="1200" cap="none" spc="-23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0</a:t>
            </a:r>
            <a:endParaRPr kumimoji="0" sz="19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1" name="object 21"/>
          <p:cNvSpPr txBox="1"/>
          <p:nvPr/>
        </p:nvSpPr>
        <p:spPr>
          <a:xfrm>
            <a:off x="5232236" y="4559659"/>
            <a:ext cx="844165" cy="510893"/>
          </a:xfrm>
          <a:prstGeom prst="rect">
            <a:avLst/>
          </a:prstGeom>
          <a:solidFill>
            <a:srgbClr val="002767"/>
          </a:solidFill>
        </p:spPr>
        <p:txBody>
          <a:bodyPr vert="horz" wrap="square" lIns="0" tIns="216074" rIns="0" bIns="0" rtlCol="0">
            <a:spAutoFit/>
          </a:bodyPr>
          <a:lstStyle/>
          <a:p>
            <a:pPr marL="96629" marR="0" lvl="0" indent="0" algn="l" defTabSz="914400" rtl="0" eaLnBrk="1" fontAlgn="auto" latinLnBrk="0" hangingPunct="1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2" b="0" i="0" u="none" strike="noStrike" kern="1200" cap="none" spc="-10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Core</a:t>
            </a:r>
            <a:r>
              <a:rPr kumimoji="0" sz="1902" b="0" i="0" u="none" strike="noStrike" kern="1200" cap="none" spc="-23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</a:t>
            </a:r>
            <a:endParaRPr kumimoji="0" sz="19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2" name="object 22"/>
          <p:cNvSpPr/>
          <p:nvPr/>
        </p:nvSpPr>
        <p:spPr>
          <a:xfrm>
            <a:off x="4132040" y="4346939"/>
            <a:ext cx="760956" cy="208022"/>
          </a:xfrm>
          <a:custGeom>
            <a:avLst/>
            <a:gdLst/>
            <a:ahLst/>
            <a:cxnLst/>
            <a:rect l="l" t="t" r="r" b="b"/>
            <a:pathLst>
              <a:path w="360044" h="98425">
                <a:moveTo>
                  <a:pt x="360004" y="0"/>
                </a:moveTo>
                <a:lnTo>
                  <a:pt x="0" y="98117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bject 23"/>
          <p:cNvSpPr/>
          <p:nvPr/>
        </p:nvSpPr>
        <p:spPr>
          <a:xfrm>
            <a:off x="4892910" y="4346939"/>
            <a:ext cx="760956" cy="208022"/>
          </a:xfrm>
          <a:custGeom>
            <a:avLst/>
            <a:gdLst/>
            <a:ahLst/>
            <a:cxnLst/>
            <a:rect l="l" t="t" r="r" b="b"/>
            <a:pathLst>
              <a:path w="360044" h="98425">
                <a:moveTo>
                  <a:pt x="0" y="0"/>
                </a:moveTo>
                <a:lnTo>
                  <a:pt x="360004" y="98117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bject 24"/>
          <p:cNvSpPr txBox="1"/>
          <p:nvPr/>
        </p:nvSpPr>
        <p:spPr>
          <a:xfrm>
            <a:off x="6756187" y="4755375"/>
            <a:ext cx="1018634" cy="31845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 marR="0" lvl="0" indent="0" algn="l" defTabSz="914400" rtl="0" eaLnBrk="1" fontAlgn="auto" latinLnBrk="0" hangingPunct="1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2" b="0" i="0" u="none" strike="noStrike" kern="1200" cap="none" spc="0" normalizeH="0" baseline="0" noProof="0" dirty="0">
                <a:ln>
                  <a:noFill/>
                </a:ln>
                <a:solidFill>
                  <a:srgbClr val="BE092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Multico</a:t>
            </a:r>
            <a:r>
              <a:rPr kumimoji="0" sz="1902" b="0" i="0" u="none" strike="noStrike" kern="1200" cap="none" spc="-21" normalizeH="0" baseline="0" noProof="0" dirty="0">
                <a:ln>
                  <a:noFill/>
                </a:ln>
                <a:solidFill>
                  <a:srgbClr val="BE092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</a:t>
            </a:r>
            <a:r>
              <a:rPr kumimoji="0" sz="1902" b="0" i="0" u="none" strike="noStrike" kern="1200" cap="none" spc="-201" normalizeH="0" baseline="0" noProof="0" dirty="0">
                <a:ln>
                  <a:noFill/>
                </a:ln>
                <a:solidFill>
                  <a:srgbClr val="BE092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endParaRPr kumimoji="0" sz="190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5" name="object 25"/>
          <p:cNvSpPr/>
          <p:nvPr/>
        </p:nvSpPr>
        <p:spPr>
          <a:xfrm>
            <a:off x="327686" y="5651908"/>
            <a:ext cx="760956" cy="354308"/>
          </a:xfrm>
          <a:custGeom>
            <a:avLst/>
            <a:gdLst/>
            <a:ahLst/>
            <a:cxnLst/>
            <a:rect l="l" t="t" r="r" b="b"/>
            <a:pathLst>
              <a:path w="360044" h="167639">
                <a:moveTo>
                  <a:pt x="0" y="167283"/>
                </a:moveTo>
                <a:lnTo>
                  <a:pt x="360004" y="167283"/>
                </a:lnTo>
                <a:lnTo>
                  <a:pt x="360004" y="0"/>
                </a:lnTo>
                <a:lnTo>
                  <a:pt x="0" y="0"/>
                </a:lnTo>
                <a:lnTo>
                  <a:pt x="0" y="167283"/>
                </a:lnTo>
                <a:close/>
              </a:path>
            </a:pathLst>
          </a:custGeom>
          <a:solidFill>
            <a:srgbClr val="00276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object 26"/>
          <p:cNvSpPr/>
          <p:nvPr/>
        </p:nvSpPr>
        <p:spPr>
          <a:xfrm>
            <a:off x="327686" y="5651908"/>
            <a:ext cx="760956" cy="354308"/>
          </a:xfrm>
          <a:custGeom>
            <a:avLst/>
            <a:gdLst/>
            <a:ahLst/>
            <a:cxnLst/>
            <a:rect l="l" t="t" r="r" b="b"/>
            <a:pathLst>
              <a:path w="360044" h="167639">
                <a:moveTo>
                  <a:pt x="0" y="167283"/>
                </a:moveTo>
                <a:lnTo>
                  <a:pt x="360004" y="167283"/>
                </a:lnTo>
                <a:lnTo>
                  <a:pt x="360004" y="0"/>
                </a:lnTo>
                <a:lnTo>
                  <a:pt x="0" y="0"/>
                </a:lnTo>
                <a:lnTo>
                  <a:pt x="0" y="167283"/>
                </a:lnTo>
                <a:close/>
              </a:path>
            </a:pathLst>
          </a:custGeom>
          <a:ln w="50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object 27"/>
          <p:cNvSpPr/>
          <p:nvPr/>
        </p:nvSpPr>
        <p:spPr>
          <a:xfrm>
            <a:off x="1088556" y="5652753"/>
            <a:ext cx="760956" cy="352966"/>
          </a:xfrm>
          <a:custGeom>
            <a:avLst/>
            <a:gdLst/>
            <a:ahLst/>
            <a:cxnLst/>
            <a:rect l="l" t="t" r="r" b="b"/>
            <a:pathLst>
              <a:path w="360044" h="167005">
                <a:moveTo>
                  <a:pt x="0" y="166486"/>
                </a:moveTo>
                <a:lnTo>
                  <a:pt x="360004" y="166486"/>
                </a:lnTo>
                <a:lnTo>
                  <a:pt x="360004" y="0"/>
                </a:lnTo>
                <a:lnTo>
                  <a:pt x="0" y="0"/>
                </a:lnTo>
                <a:lnTo>
                  <a:pt x="0" y="166486"/>
                </a:lnTo>
                <a:close/>
              </a:path>
            </a:pathLst>
          </a:custGeom>
          <a:solidFill>
            <a:srgbClr val="00276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object 28"/>
          <p:cNvSpPr/>
          <p:nvPr/>
        </p:nvSpPr>
        <p:spPr>
          <a:xfrm>
            <a:off x="1088556" y="5652753"/>
            <a:ext cx="760956" cy="352966"/>
          </a:xfrm>
          <a:custGeom>
            <a:avLst/>
            <a:gdLst/>
            <a:ahLst/>
            <a:cxnLst/>
            <a:rect l="l" t="t" r="r" b="b"/>
            <a:pathLst>
              <a:path w="360044" h="167005">
                <a:moveTo>
                  <a:pt x="0" y="166486"/>
                </a:moveTo>
                <a:lnTo>
                  <a:pt x="360004" y="166486"/>
                </a:lnTo>
                <a:lnTo>
                  <a:pt x="360004" y="0"/>
                </a:lnTo>
                <a:lnTo>
                  <a:pt x="0" y="0"/>
                </a:lnTo>
                <a:lnTo>
                  <a:pt x="0" y="166486"/>
                </a:lnTo>
                <a:close/>
              </a:path>
            </a:pathLst>
          </a:custGeom>
          <a:ln w="50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object 29"/>
          <p:cNvSpPr/>
          <p:nvPr/>
        </p:nvSpPr>
        <p:spPr>
          <a:xfrm>
            <a:off x="708120" y="5073164"/>
            <a:ext cx="381149" cy="574408"/>
          </a:xfrm>
          <a:custGeom>
            <a:avLst/>
            <a:gdLst/>
            <a:ahLst/>
            <a:cxnLst/>
            <a:rect l="l" t="t" r="r" b="b"/>
            <a:pathLst>
              <a:path w="180340" h="271780">
                <a:moveTo>
                  <a:pt x="180002" y="0"/>
                </a:moveTo>
                <a:lnTo>
                  <a:pt x="0" y="271301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object 30"/>
          <p:cNvSpPr/>
          <p:nvPr/>
        </p:nvSpPr>
        <p:spPr>
          <a:xfrm>
            <a:off x="1088555" y="5073164"/>
            <a:ext cx="381149" cy="574408"/>
          </a:xfrm>
          <a:custGeom>
            <a:avLst/>
            <a:gdLst/>
            <a:ahLst/>
            <a:cxnLst/>
            <a:rect l="l" t="t" r="r" b="b"/>
            <a:pathLst>
              <a:path w="180340" h="271780">
                <a:moveTo>
                  <a:pt x="0" y="0"/>
                </a:moveTo>
                <a:lnTo>
                  <a:pt x="180002" y="271700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object 31"/>
          <p:cNvSpPr/>
          <p:nvPr/>
        </p:nvSpPr>
        <p:spPr>
          <a:xfrm>
            <a:off x="1849427" y="5651908"/>
            <a:ext cx="760956" cy="354308"/>
          </a:xfrm>
          <a:custGeom>
            <a:avLst/>
            <a:gdLst/>
            <a:ahLst/>
            <a:cxnLst/>
            <a:rect l="l" t="t" r="r" b="b"/>
            <a:pathLst>
              <a:path w="360044" h="167639">
                <a:moveTo>
                  <a:pt x="0" y="167283"/>
                </a:moveTo>
                <a:lnTo>
                  <a:pt x="360004" y="167283"/>
                </a:lnTo>
                <a:lnTo>
                  <a:pt x="360004" y="0"/>
                </a:lnTo>
                <a:lnTo>
                  <a:pt x="0" y="0"/>
                </a:lnTo>
                <a:lnTo>
                  <a:pt x="0" y="167283"/>
                </a:lnTo>
                <a:close/>
              </a:path>
            </a:pathLst>
          </a:custGeom>
          <a:solidFill>
            <a:srgbClr val="00276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object 32"/>
          <p:cNvSpPr/>
          <p:nvPr/>
        </p:nvSpPr>
        <p:spPr>
          <a:xfrm>
            <a:off x="1849427" y="5651908"/>
            <a:ext cx="760956" cy="354308"/>
          </a:xfrm>
          <a:custGeom>
            <a:avLst/>
            <a:gdLst/>
            <a:ahLst/>
            <a:cxnLst/>
            <a:rect l="l" t="t" r="r" b="b"/>
            <a:pathLst>
              <a:path w="360044" h="167639">
                <a:moveTo>
                  <a:pt x="0" y="167283"/>
                </a:moveTo>
                <a:lnTo>
                  <a:pt x="360004" y="167283"/>
                </a:lnTo>
                <a:lnTo>
                  <a:pt x="360004" y="0"/>
                </a:lnTo>
                <a:lnTo>
                  <a:pt x="0" y="0"/>
                </a:lnTo>
                <a:lnTo>
                  <a:pt x="0" y="167283"/>
                </a:lnTo>
                <a:close/>
              </a:path>
            </a:pathLst>
          </a:custGeom>
          <a:ln w="50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object 33"/>
          <p:cNvSpPr/>
          <p:nvPr/>
        </p:nvSpPr>
        <p:spPr>
          <a:xfrm>
            <a:off x="2610297" y="5652753"/>
            <a:ext cx="760956" cy="352966"/>
          </a:xfrm>
          <a:custGeom>
            <a:avLst/>
            <a:gdLst/>
            <a:ahLst/>
            <a:cxnLst/>
            <a:rect l="l" t="t" r="r" b="b"/>
            <a:pathLst>
              <a:path w="360044" h="167005">
                <a:moveTo>
                  <a:pt x="0" y="166486"/>
                </a:moveTo>
                <a:lnTo>
                  <a:pt x="360004" y="166486"/>
                </a:lnTo>
                <a:lnTo>
                  <a:pt x="360004" y="0"/>
                </a:lnTo>
                <a:lnTo>
                  <a:pt x="0" y="0"/>
                </a:lnTo>
                <a:lnTo>
                  <a:pt x="0" y="166486"/>
                </a:lnTo>
                <a:close/>
              </a:path>
            </a:pathLst>
          </a:custGeom>
          <a:solidFill>
            <a:srgbClr val="00276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object 34"/>
          <p:cNvSpPr/>
          <p:nvPr/>
        </p:nvSpPr>
        <p:spPr>
          <a:xfrm>
            <a:off x="2610297" y="5652753"/>
            <a:ext cx="760956" cy="352966"/>
          </a:xfrm>
          <a:custGeom>
            <a:avLst/>
            <a:gdLst/>
            <a:ahLst/>
            <a:cxnLst/>
            <a:rect l="l" t="t" r="r" b="b"/>
            <a:pathLst>
              <a:path w="360044" h="167005">
                <a:moveTo>
                  <a:pt x="0" y="166486"/>
                </a:moveTo>
                <a:lnTo>
                  <a:pt x="360004" y="166486"/>
                </a:lnTo>
                <a:lnTo>
                  <a:pt x="360004" y="0"/>
                </a:lnTo>
                <a:lnTo>
                  <a:pt x="0" y="0"/>
                </a:lnTo>
                <a:lnTo>
                  <a:pt x="0" y="166486"/>
                </a:lnTo>
                <a:close/>
              </a:path>
            </a:pathLst>
          </a:custGeom>
          <a:ln w="50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object 35"/>
          <p:cNvSpPr/>
          <p:nvPr/>
        </p:nvSpPr>
        <p:spPr>
          <a:xfrm>
            <a:off x="2229861" y="5073164"/>
            <a:ext cx="381149" cy="574408"/>
          </a:xfrm>
          <a:custGeom>
            <a:avLst/>
            <a:gdLst/>
            <a:ahLst/>
            <a:cxnLst/>
            <a:rect l="l" t="t" r="r" b="b"/>
            <a:pathLst>
              <a:path w="180339" h="271780">
                <a:moveTo>
                  <a:pt x="180002" y="0"/>
                </a:moveTo>
                <a:lnTo>
                  <a:pt x="0" y="271301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object 36"/>
          <p:cNvSpPr/>
          <p:nvPr/>
        </p:nvSpPr>
        <p:spPr>
          <a:xfrm>
            <a:off x="2610296" y="5073164"/>
            <a:ext cx="381149" cy="574408"/>
          </a:xfrm>
          <a:custGeom>
            <a:avLst/>
            <a:gdLst/>
            <a:ahLst/>
            <a:cxnLst/>
            <a:rect l="l" t="t" r="r" b="b"/>
            <a:pathLst>
              <a:path w="180339" h="271780">
                <a:moveTo>
                  <a:pt x="0" y="0"/>
                </a:moveTo>
                <a:lnTo>
                  <a:pt x="180002" y="271700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object 37"/>
          <p:cNvSpPr/>
          <p:nvPr/>
        </p:nvSpPr>
        <p:spPr>
          <a:xfrm>
            <a:off x="3371168" y="5651908"/>
            <a:ext cx="760956" cy="354308"/>
          </a:xfrm>
          <a:custGeom>
            <a:avLst/>
            <a:gdLst/>
            <a:ahLst/>
            <a:cxnLst/>
            <a:rect l="l" t="t" r="r" b="b"/>
            <a:pathLst>
              <a:path w="360044" h="167639">
                <a:moveTo>
                  <a:pt x="0" y="167283"/>
                </a:moveTo>
                <a:lnTo>
                  <a:pt x="360004" y="167283"/>
                </a:lnTo>
                <a:lnTo>
                  <a:pt x="360004" y="0"/>
                </a:lnTo>
                <a:lnTo>
                  <a:pt x="0" y="0"/>
                </a:lnTo>
                <a:lnTo>
                  <a:pt x="0" y="167283"/>
                </a:lnTo>
                <a:close/>
              </a:path>
            </a:pathLst>
          </a:custGeom>
          <a:solidFill>
            <a:srgbClr val="00276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object 38"/>
          <p:cNvSpPr/>
          <p:nvPr/>
        </p:nvSpPr>
        <p:spPr>
          <a:xfrm>
            <a:off x="3371168" y="5651908"/>
            <a:ext cx="760956" cy="354308"/>
          </a:xfrm>
          <a:custGeom>
            <a:avLst/>
            <a:gdLst/>
            <a:ahLst/>
            <a:cxnLst/>
            <a:rect l="l" t="t" r="r" b="b"/>
            <a:pathLst>
              <a:path w="360044" h="167639">
                <a:moveTo>
                  <a:pt x="0" y="167283"/>
                </a:moveTo>
                <a:lnTo>
                  <a:pt x="360004" y="167283"/>
                </a:lnTo>
                <a:lnTo>
                  <a:pt x="360004" y="0"/>
                </a:lnTo>
                <a:lnTo>
                  <a:pt x="0" y="0"/>
                </a:lnTo>
                <a:lnTo>
                  <a:pt x="0" y="167283"/>
                </a:lnTo>
                <a:close/>
              </a:path>
            </a:pathLst>
          </a:custGeom>
          <a:ln w="50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object 39"/>
          <p:cNvSpPr/>
          <p:nvPr/>
        </p:nvSpPr>
        <p:spPr>
          <a:xfrm>
            <a:off x="4132040" y="5652753"/>
            <a:ext cx="760956" cy="352966"/>
          </a:xfrm>
          <a:custGeom>
            <a:avLst/>
            <a:gdLst/>
            <a:ahLst/>
            <a:cxnLst/>
            <a:rect l="l" t="t" r="r" b="b"/>
            <a:pathLst>
              <a:path w="360044" h="167005">
                <a:moveTo>
                  <a:pt x="0" y="166486"/>
                </a:moveTo>
                <a:lnTo>
                  <a:pt x="360004" y="166486"/>
                </a:lnTo>
                <a:lnTo>
                  <a:pt x="360004" y="0"/>
                </a:lnTo>
                <a:lnTo>
                  <a:pt x="0" y="0"/>
                </a:lnTo>
                <a:lnTo>
                  <a:pt x="0" y="166486"/>
                </a:lnTo>
                <a:close/>
              </a:path>
            </a:pathLst>
          </a:custGeom>
          <a:solidFill>
            <a:srgbClr val="00276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object 40"/>
          <p:cNvSpPr/>
          <p:nvPr/>
        </p:nvSpPr>
        <p:spPr>
          <a:xfrm>
            <a:off x="4132040" y="5652753"/>
            <a:ext cx="760956" cy="352966"/>
          </a:xfrm>
          <a:custGeom>
            <a:avLst/>
            <a:gdLst/>
            <a:ahLst/>
            <a:cxnLst/>
            <a:rect l="l" t="t" r="r" b="b"/>
            <a:pathLst>
              <a:path w="360044" h="167005">
                <a:moveTo>
                  <a:pt x="0" y="166486"/>
                </a:moveTo>
                <a:lnTo>
                  <a:pt x="360004" y="166486"/>
                </a:lnTo>
                <a:lnTo>
                  <a:pt x="360004" y="0"/>
                </a:lnTo>
                <a:lnTo>
                  <a:pt x="0" y="0"/>
                </a:lnTo>
                <a:lnTo>
                  <a:pt x="0" y="166486"/>
                </a:lnTo>
                <a:close/>
              </a:path>
            </a:pathLst>
          </a:custGeom>
          <a:ln w="50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object 41"/>
          <p:cNvSpPr/>
          <p:nvPr/>
        </p:nvSpPr>
        <p:spPr>
          <a:xfrm>
            <a:off x="3751602" y="5073164"/>
            <a:ext cx="381149" cy="574408"/>
          </a:xfrm>
          <a:custGeom>
            <a:avLst/>
            <a:gdLst/>
            <a:ahLst/>
            <a:cxnLst/>
            <a:rect l="l" t="t" r="r" b="b"/>
            <a:pathLst>
              <a:path w="180339" h="271780">
                <a:moveTo>
                  <a:pt x="180002" y="0"/>
                </a:moveTo>
                <a:lnTo>
                  <a:pt x="0" y="271301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object 42"/>
          <p:cNvSpPr/>
          <p:nvPr/>
        </p:nvSpPr>
        <p:spPr>
          <a:xfrm>
            <a:off x="4132039" y="5073164"/>
            <a:ext cx="381149" cy="574408"/>
          </a:xfrm>
          <a:custGeom>
            <a:avLst/>
            <a:gdLst/>
            <a:ahLst/>
            <a:cxnLst/>
            <a:rect l="l" t="t" r="r" b="b"/>
            <a:pathLst>
              <a:path w="180339" h="271780">
                <a:moveTo>
                  <a:pt x="0" y="0"/>
                </a:moveTo>
                <a:lnTo>
                  <a:pt x="180002" y="271700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object 43"/>
          <p:cNvSpPr/>
          <p:nvPr/>
        </p:nvSpPr>
        <p:spPr>
          <a:xfrm>
            <a:off x="4892910" y="5651908"/>
            <a:ext cx="760956" cy="354308"/>
          </a:xfrm>
          <a:custGeom>
            <a:avLst/>
            <a:gdLst/>
            <a:ahLst/>
            <a:cxnLst/>
            <a:rect l="l" t="t" r="r" b="b"/>
            <a:pathLst>
              <a:path w="360044" h="167639">
                <a:moveTo>
                  <a:pt x="0" y="167283"/>
                </a:moveTo>
                <a:lnTo>
                  <a:pt x="360004" y="167283"/>
                </a:lnTo>
                <a:lnTo>
                  <a:pt x="360004" y="0"/>
                </a:lnTo>
                <a:lnTo>
                  <a:pt x="0" y="0"/>
                </a:lnTo>
                <a:lnTo>
                  <a:pt x="0" y="167283"/>
                </a:lnTo>
                <a:close/>
              </a:path>
            </a:pathLst>
          </a:custGeom>
          <a:solidFill>
            <a:srgbClr val="00276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object 44"/>
          <p:cNvSpPr/>
          <p:nvPr/>
        </p:nvSpPr>
        <p:spPr>
          <a:xfrm>
            <a:off x="4892910" y="5651908"/>
            <a:ext cx="760956" cy="354308"/>
          </a:xfrm>
          <a:custGeom>
            <a:avLst/>
            <a:gdLst/>
            <a:ahLst/>
            <a:cxnLst/>
            <a:rect l="l" t="t" r="r" b="b"/>
            <a:pathLst>
              <a:path w="360044" h="167639">
                <a:moveTo>
                  <a:pt x="0" y="167283"/>
                </a:moveTo>
                <a:lnTo>
                  <a:pt x="360004" y="167283"/>
                </a:lnTo>
                <a:lnTo>
                  <a:pt x="360004" y="0"/>
                </a:lnTo>
                <a:lnTo>
                  <a:pt x="0" y="0"/>
                </a:lnTo>
                <a:lnTo>
                  <a:pt x="0" y="167283"/>
                </a:lnTo>
                <a:close/>
              </a:path>
            </a:pathLst>
          </a:custGeom>
          <a:ln w="50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object 45"/>
          <p:cNvSpPr/>
          <p:nvPr/>
        </p:nvSpPr>
        <p:spPr>
          <a:xfrm>
            <a:off x="5653781" y="5652753"/>
            <a:ext cx="760956" cy="352966"/>
          </a:xfrm>
          <a:custGeom>
            <a:avLst/>
            <a:gdLst/>
            <a:ahLst/>
            <a:cxnLst/>
            <a:rect l="l" t="t" r="r" b="b"/>
            <a:pathLst>
              <a:path w="360045" h="167005">
                <a:moveTo>
                  <a:pt x="0" y="166486"/>
                </a:moveTo>
                <a:lnTo>
                  <a:pt x="360004" y="166486"/>
                </a:lnTo>
                <a:lnTo>
                  <a:pt x="360004" y="0"/>
                </a:lnTo>
                <a:lnTo>
                  <a:pt x="0" y="0"/>
                </a:lnTo>
                <a:lnTo>
                  <a:pt x="0" y="166486"/>
                </a:lnTo>
                <a:close/>
              </a:path>
            </a:pathLst>
          </a:custGeom>
          <a:solidFill>
            <a:srgbClr val="00276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object 46"/>
          <p:cNvSpPr/>
          <p:nvPr/>
        </p:nvSpPr>
        <p:spPr>
          <a:xfrm>
            <a:off x="5653781" y="5652753"/>
            <a:ext cx="760956" cy="352966"/>
          </a:xfrm>
          <a:custGeom>
            <a:avLst/>
            <a:gdLst/>
            <a:ahLst/>
            <a:cxnLst/>
            <a:rect l="l" t="t" r="r" b="b"/>
            <a:pathLst>
              <a:path w="360045" h="167005">
                <a:moveTo>
                  <a:pt x="0" y="166486"/>
                </a:moveTo>
                <a:lnTo>
                  <a:pt x="360004" y="166486"/>
                </a:lnTo>
                <a:lnTo>
                  <a:pt x="360004" y="0"/>
                </a:lnTo>
                <a:lnTo>
                  <a:pt x="0" y="0"/>
                </a:lnTo>
                <a:lnTo>
                  <a:pt x="0" y="166486"/>
                </a:lnTo>
                <a:close/>
              </a:path>
            </a:pathLst>
          </a:custGeom>
          <a:ln w="50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object 47"/>
          <p:cNvSpPr/>
          <p:nvPr/>
        </p:nvSpPr>
        <p:spPr>
          <a:xfrm>
            <a:off x="5273343" y="5073164"/>
            <a:ext cx="381149" cy="574408"/>
          </a:xfrm>
          <a:custGeom>
            <a:avLst/>
            <a:gdLst/>
            <a:ahLst/>
            <a:cxnLst/>
            <a:rect l="l" t="t" r="r" b="b"/>
            <a:pathLst>
              <a:path w="180339" h="271780">
                <a:moveTo>
                  <a:pt x="180002" y="0"/>
                </a:moveTo>
                <a:lnTo>
                  <a:pt x="0" y="271301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object 48"/>
          <p:cNvSpPr/>
          <p:nvPr/>
        </p:nvSpPr>
        <p:spPr>
          <a:xfrm>
            <a:off x="5653780" y="5073164"/>
            <a:ext cx="381149" cy="574408"/>
          </a:xfrm>
          <a:custGeom>
            <a:avLst/>
            <a:gdLst/>
            <a:ahLst/>
            <a:cxnLst/>
            <a:rect l="l" t="t" r="r" b="b"/>
            <a:pathLst>
              <a:path w="180339" h="271780">
                <a:moveTo>
                  <a:pt x="0" y="0"/>
                </a:moveTo>
                <a:lnTo>
                  <a:pt x="180002" y="271700"/>
                </a:lnTo>
              </a:path>
            </a:pathLst>
          </a:custGeom>
          <a:ln w="25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object 49"/>
          <p:cNvSpPr txBox="1"/>
          <p:nvPr/>
        </p:nvSpPr>
        <p:spPr>
          <a:xfrm>
            <a:off x="327685" y="5551728"/>
            <a:ext cx="6087649" cy="789020"/>
          </a:xfrm>
          <a:prstGeom prst="rect">
            <a:avLst/>
          </a:prstGeom>
        </p:spPr>
        <p:txBody>
          <a:bodyPr vert="horz" wrap="square" lIns="0" tIns="112734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ClrTx/>
              <a:buSzTx/>
              <a:buFontTx/>
              <a:buNone/>
              <a:tabLst>
                <a:tab pos="759613" algn="l"/>
                <a:tab pos="1520568" algn="l"/>
                <a:tab pos="2281523" algn="l"/>
                <a:tab pos="3042478" algn="l"/>
                <a:tab pos="3803431" algn="l"/>
                <a:tab pos="4564389" algn="l"/>
                <a:tab pos="5325344" algn="l"/>
              </a:tabLst>
              <a:defRPr/>
            </a:pPr>
            <a:r>
              <a:rPr kumimoji="0" lang="en-US" sz="1902" b="0" i="0" u="none" strike="noStrike" kern="1200" cap="none" spc="-4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SMT</a:t>
            </a:r>
            <a:r>
              <a:rPr kumimoji="0" sz="1902" b="0" i="0" u="none" strike="noStrike" kern="1200" cap="none" spc="-6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0	</a:t>
            </a:r>
            <a:r>
              <a:rPr kumimoji="0" lang="en-US" sz="1902" b="0" i="0" u="none" strike="noStrike" kern="1200" cap="none" spc="-4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SMT</a:t>
            </a:r>
            <a:r>
              <a:rPr kumimoji="0" sz="1902" b="0" i="0" u="none" strike="noStrike" kern="1200" cap="none" spc="-6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	</a:t>
            </a:r>
            <a:r>
              <a:rPr kumimoji="0" lang="en-US" sz="1902" b="0" i="0" u="none" strike="noStrike" kern="1200" cap="none" spc="-4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SMT</a:t>
            </a:r>
            <a:r>
              <a:rPr kumimoji="0" sz="1902" b="0" i="0" u="none" strike="noStrike" kern="1200" cap="none" spc="-6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0	</a:t>
            </a:r>
            <a:r>
              <a:rPr kumimoji="0" lang="en-US" sz="1902" b="0" i="0" u="none" strike="noStrike" kern="1200" cap="none" spc="-4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SMT</a:t>
            </a:r>
            <a:r>
              <a:rPr kumimoji="0" sz="1902" b="0" i="0" u="none" strike="noStrike" kern="1200" cap="none" spc="-6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	</a:t>
            </a:r>
            <a:r>
              <a:rPr kumimoji="0" lang="en-US" sz="1902" b="0" i="0" u="none" strike="noStrike" kern="1200" cap="none" spc="-4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SMT</a:t>
            </a:r>
            <a:r>
              <a:rPr kumimoji="0" sz="1902" b="0" i="0" u="none" strike="noStrike" kern="1200" cap="none" spc="-6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0	</a:t>
            </a:r>
            <a:r>
              <a:rPr kumimoji="0" lang="en-US" sz="1902" b="0" i="0" u="none" strike="noStrike" kern="1200" cap="none" spc="-4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SMT</a:t>
            </a:r>
            <a:r>
              <a:rPr kumimoji="0" sz="1902" b="0" i="0" u="none" strike="noStrike" kern="1200" cap="none" spc="-6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	</a:t>
            </a:r>
            <a:r>
              <a:rPr kumimoji="0" lang="en-US" sz="1902" b="0" i="0" u="none" strike="noStrike" kern="1200" cap="none" spc="-4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SMT</a:t>
            </a:r>
            <a:r>
              <a:rPr kumimoji="0" sz="1902" b="0" i="0" u="none" strike="noStrike" kern="1200" cap="none" spc="-6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0	</a:t>
            </a:r>
            <a:r>
              <a:rPr kumimoji="0" lang="en-US" sz="1902" b="0" i="0" u="none" strike="noStrike" kern="1200" cap="none" spc="-4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SMT</a:t>
            </a:r>
            <a:r>
              <a:rPr kumimoji="0" sz="1902" b="0" i="0" u="none" strike="noStrike" kern="1200" cap="none" spc="-26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endParaRPr kumimoji="0" sz="19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76"/>
              </a:spcBef>
              <a:spcAft>
                <a:spcPts val="0"/>
              </a:spcAft>
              <a:buClrTx/>
              <a:buSzTx/>
              <a:buFontTx/>
              <a:buNone/>
              <a:tabLst>
                <a:tab pos="759613" algn="l"/>
                <a:tab pos="1520568" algn="l"/>
                <a:tab pos="2281523" algn="l"/>
                <a:tab pos="3042478" algn="l"/>
                <a:tab pos="3803431" algn="l"/>
                <a:tab pos="4564389" algn="l"/>
                <a:tab pos="5325344" algn="l"/>
              </a:tabLst>
              <a:defRPr/>
            </a:pPr>
            <a:r>
              <a:rPr kumimoji="0" sz="1902" b="0" i="0" u="none" strike="noStrike" kern="1200" cap="none" spc="-180" normalizeH="0" baseline="0" noProof="0" dirty="0">
                <a:ln>
                  <a:noFill/>
                </a:ln>
                <a:solidFill>
                  <a:srgbClr val="BE092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0	1	2	3	4	5	6	7</a:t>
            </a:r>
            <a:endParaRPr kumimoji="0" sz="19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0" name="object 50"/>
          <p:cNvSpPr txBox="1"/>
          <p:nvPr/>
        </p:nvSpPr>
        <p:spPr>
          <a:xfrm>
            <a:off x="6591380" y="5524993"/>
            <a:ext cx="3050615" cy="779297"/>
          </a:xfrm>
          <a:prstGeom prst="rect">
            <a:avLst/>
          </a:prstGeom>
        </p:spPr>
        <p:txBody>
          <a:bodyPr vert="horz" wrap="square" lIns="0" tIns="26841" rIns="0" bIns="0" rtlCol="0">
            <a:spAutoFit/>
          </a:bodyPr>
          <a:lstStyle/>
          <a:p>
            <a:pPr marL="344913" marR="10737" lvl="0" indent="-319413" algn="l" defTabSz="914400" rtl="0" eaLnBrk="1" fontAlgn="auto" latinLnBrk="0" hangingPunct="1">
              <a:lnSpc>
                <a:spcPct val="131200"/>
              </a:lnSpc>
              <a:spcBef>
                <a:spcPts val="2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2" b="0" i="0" u="none" strike="noStrike" kern="1200" cap="none" spc="-74" normalizeH="0" baseline="0" noProof="0" dirty="0">
                <a:ln>
                  <a:noFill/>
                </a:ln>
                <a:solidFill>
                  <a:srgbClr val="BE092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Simultaneous multithreading  </a:t>
            </a:r>
          </a:p>
          <a:p>
            <a:pPr marL="344913" marR="10737" lvl="0" indent="-319413" algn="l" defTabSz="914400" rtl="0" eaLnBrk="1" fontAlgn="auto" latinLnBrk="0" hangingPunct="1">
              <a:lnSpc>
                <a:spcPct val="131200"/>
              </a:lnSpc>
              <a:spcBef>
                <a:spcPts val="2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2" b="0" i="0" u="none" strike="noStrike" kern="1200" cap="none" spc="-74" normalizeH="0" baseline="0" noProof="0" dirty="0">
                <a:ln>
                  <a:noFill/>
                </a:ln>
                <a:solidFill>
                  <a:srgbClr val="BE092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Logical </a:t>
            </a:r>
            <a:r>
              <a:rPr kumimoji="0" sz="1902" b="0" i="0" u="none" strike="noStrike" kern="1200" cap="none" spc="-106" normalizeH="0" baseline="0" noProof="0" dirty="0">
                <a:ln>
                  <a:noFill/>
                </a:ln>
                <a:solidFill>
                  <a:srgbClr val="BE092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Core</a:t>
            </a:r>
            <a:r>
              <a:rPr kumimoji="0" sz="1902" b="0" i="0" u="none" strike="noStrike" kern="1200" cap="none" spc="-169" normalizeH="0" baseline="0" noProof="0" dirty="0">
                <a:ln>
                  <a:noFill/>
                </a:ln>
                <a:solidFill>
                  <a:srgbClr val="BE092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#</a:t>
            </a:r>
            <a:endParaRPr kumimoji="0" sz="19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52827" y="1515399"/>
            <a:ext cx="2030693" cy="130351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 0</a:t>
            </a:r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>
            <a:off x="4483520" y="2482745"/>
            <a:ext cx="1592881" cy="0"/>
          </a:xfrm>
          <a:prstGeom prst="line">
            <a:avLst/>
          </a:prstGeom>
          <a:ln w="34925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063934" y="1109268"/>
            <a:ext cx="786389" cy="1715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5960315" y="1757647"/>
            <a:ext cx="914400" cy="394125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23528" y="2391389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61742" y="2629061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222578" y="591085"/>
            <a:ext cx="2030693" cy="130351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 n</a:t>
            </a:r>
          </a:p>
        </p:txBody>
      </p:sp>
      <p:cxnSp>
        <p:nvCxnSpPr>
          <p:cNvPr id="64" name="Straight Connector 63"/>
          <p:cNvCxnSpPr>
            <a:cxnSpLocks/>
          </p:cNvCxnSpPr>
          <p:nvPr/>
        </p:nvCxnSpPr>
        <p:spPr>
          <a:xfrm>
            <a:off x="6784491" y="1229155"/>
            <a:ext cx="1444879" cy="1"/>
          </a:xfrm>
          <a:prstGeom prst="line">
            <a:avLst/>
          </a:prstGeom>
          <a:ln w="34925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755332" y="1157497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219344" y="2044262"/>
            <a:ext cx="2030693" cy="130351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 1</a:t>
            </a:r>
          </a:p>
        </p:txBody>
      </p:sp>
      <p:sp>
        <p:nvSpPr>
          <p:cNvPr id="16" name="TextBox 15"/>
          <p:cNvSpPr txBox="1"/>
          <p:nvPr/>
        </p:nvSpPr>
        <p:spPr>
          <a:xfrm rot="5400000">
            <a:off x="6642617" y="1693634"/>
            <a:ext cx="395865" cy="463106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 rot="5400000">
            <a:off x="8999987" y="1766075"/>
            <a:ext cx="395865" cy="463106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023528" y="2222550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023528" y="2053711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023528" y="1884872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023528" y="1716033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6023528" y="1547194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023528" y="1378355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023528" y="1209516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023528" y="2554131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6761742" y="2465396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6761742" y="2301731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61742" y="2138066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761742" y="1974401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761742" y="1810736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6761742" y="1647071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6761742" y="1483406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6761742" y="1319741"/>
            <a:ext cx="157614" cy="1388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9306" y="4523954"/>
            <a:ext cx="511630" cy="582302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…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570269" y="4537196"/>
            <a:ext cx="511630" cy="582302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40503050203030202" pitchFamily="18" charset="0"/>
              </a:rPr>
              <a:t>…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0B69F88-41E4-24AF-7E74-17AA73A57B7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6509"/>
            <a:ext cx="9613900" cy="1081088"/>
          </a:xfrm>
        </p:spPr>
        <p:txBody>
          <a:bodyPr/>
          <a:lstStyle/>
          <a:p>
            <a:r>
              <a:rPr lang="en-US" spc="-137" dirty="0">
                <a:solidFill>
                  <a:schemeClr val="bg1"/>
                </a:solidFill>
              </a:rPr>
              <a:t>Levels </a:t>
            </a:r>
            <a:r>
              <a:rPr lang="en-US" dirty="0">
                <a:solidFill>
                  <a:schemeClr val="bg1"/>
                </a:solidFill>
              </a:rPr>
              <a:t>of</a:t>
            </a:r>
            <a:r>
              <a:rPr lang="en-US" spc="-201" dirty="0">
                <a:solidFill>
                  <a:schemeClr val="bg1"/>
                </a:solidFill>
              </a:rPr>
              <a:t> </a:t>
            </a:r>
            <a:r>
              <a:rPr lang="en-US" spc="-42" dirty="0">
                <a:solidFill>
                  <a:schemeClr val="bg1"/>
                </a:solidFill>
              </a:rPr>
              <a:t>Parallelism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14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094F-C83D-4DFF-955F-BBA15FDE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HPC Configuration of </a:t>
            </a:r>
            <a:r>
              <a:rPr lang="en-US" dirty="0" err="1"/>
              <a:t>MsPASS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75F9-7356-BD76-C1BC-D4928868C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Options</a:t>
            </a:r>
          </a:p>
          <a:p>
            <a:pPr lvl="1"/>
            <a:r>
              <a:rPr lang="en-US" dirty="0"/>
              <a:t>Python package</a:t>
            </a:r>
          </a:p>
          <a:p>
            <a:pPr lvl="2"/>
            <a:r>
              <a:rPr lang="en-US" dirty="0"/>
              <a:t>Conda or pip install can work</a:t>
            </a:r>
          </a:p>
          <a:p>
            <a:pPr lvl="2"/>
            <a:r>
              <a:rPr lang="en-US" dirty="0"/>
              <a:t>Infamous package incompatibilities worse on giant systems</a:t>
            </a:r>
          </a:p>
          <a:p>
            <a:pPr lvl="2"/>
            <a:r>
              <a:rPr lang="en-US" dirty="0"/>
              <a:t>Requires running auxiliary services (MongoDB and </a:t>
            </a:r>
            <a:r>
              <a:rPr lang="en-US" dirty="0" err="1"/>
              <a:t>dask</a:t>
            </a:r>
            <a:r>
              <a:rPr lang="en-US" dirty="0"/>
              <a:t>) that can be problematic</a:t>
            </a:r>
          </a:p>
          <a:p>
            <a:pPr lvl="2"/>
            <a:r>
              <a:rPr lang="en-US" dirty="0"/>
              <a:t>Recommended only for development and advanced users</a:t>
            </a:r>
          </a:p>
          <a:p>
            <a:pPr lvl="1"/>
            <a:r>
              <a:rPr lang="en-US" dirty="0"/>
              <a:t>Containerized – recommended approach</a:t>
            </a:r>
          </a:p>
          <a:p>
            <a:pPr lvl="2"/>
            <a:r>
              <a:rPr lang="en-US" dirty="0"/>
              <a:t>Shell batch setup (legacy – no longer recommended)</a:t>
            </a:r>
          </a:p>
          <a:p>
            <a:pPr lvl="2"/>
            <a:r>
              <a:rPr lang="en-US" dirty="0"/>
              <a:t>Python launcher (what we will use today)</a:t>
            </a:r>
          </a:p>
          <a:p>
            <a:r>
              <a:rPr lang="en-US" dirty="0"/>
              <a:t>For either option need to understand service model (next topic)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728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5C73-952A-1F72-3545-7A091C23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MsPASS</a:t>
            </a:r>
            <a:r>
              <a:rPr lang="en-US" dirty="0"/>
              <a:t> Service model and HPC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745700CF-F4AC-5543-EFF8-DB8B47068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236" y="1966097"/>
            <a:ext cx="7718336" cy="4891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FC65A5-CD85-4F83-15BA-38FB7B917FCE}"/>
              </a:ext>
            </a:extLst>
          </p:cNvPr>
          <p:cNvSpPr txBox="1"/>
          <p:nvPr/>
        </p:nvSpPr>
        <p:spPr>
          <a:xfrm>
            <a:off x="8587946" y="2866768"/>
            <a:ext cx="36040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MsPASS</a:t>
            </a:r>
            <a:r>
              <a:rPr lang="en-US" sz="2400" dirty="0">
                <a:solidFill>
                  <a:schemeClr val="bg1"/>
                </a:solidFill>
              </a:rPr>
              <a:t>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scheduler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worker(s)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db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35062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68EE-F1B2-086A-3C37-BA98F26CD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248992-250A-87B1-C704-BF9993FDB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0295" y="2002719"/>
            <a:ext cx="6013980" cy="4495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728E6F-E44D-CA37-6B14-6763D33C7577}"/>
              </a:ext>
            </a:extLst>
          </p:cNvPr>
          <p:cNvSpPr txBox="1"/>
          <p:nvPr/>
        </p:nvSpPr>
        <p:spPr>
          <a:xfrm>
            <a:off x="2483708" y="6497930"/>
            <a:ext cx="8118389" cy="37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From MsPASS User's Manual HPC configurations section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C35E68-5B5D-4F43-AB90-7A2F9094EE98}"/>
              </a:ext>
            </a:extLst>
          </p:cNvPr>
          <p:cNvSpPr/>
          <p:nvPr/>
        </p:nvSpPr>
        <p:spPr>
          <a:xfrm>
            <a:off x="4788189" y="2486451"/>
            <a:ext cx="2122967" cy="4784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0D129-C127-5517-2E78-BE1D00A739C1}"/>
              </a:ext>
            </a:extLst>
          </p:cNvPr>
          <p:cNvSpPr txBox="1"/>
          <p:nvPr/>
        </p:nvSpPr>
        <p:spPr>
          <a:xfrm>
            <a:off x="7719237" y="2796363"/>
            <a:ext cx="39340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Points about this figure: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Each dashed box is a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Each solid box is a compute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Containers are an implementation detail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start script (top)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Run when container launched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Same virtual machine runs in different “roles” ==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216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BDE9-65F1-6582-BC23-406C6B8C5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HPCClusterLauncher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885E8E-E827-0172-9393-7D43C2622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3433" y="2015525"/>
            <a:ext cx="6836426" cy="475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7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Scalability</a:t>
            </a:r>
          </a:p>
        </p:txBody>
      </p:sp>
    </p:spTree>
    <p:extLst>
      <p:ext uri="{BB962C8B-B14F-4D97-AF65-F5344CB8AC3E}">
        <p14:creationId xmlns:p14="http://schemas.microsoft.com/office/powerpoint/2010/main" val="3961850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1F88-D9A4-BF75-9E8C-B94D12766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fast can we bake a cake?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Assume (with no claim of realism)…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Two hours to prepare the cake for baking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Another half hour to bake the cake</a:t>
            </a:r>
          </a:p>
          <a:p>
            <a:pPr lvl="2"/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/>
              <a:t>So total time is…</a:t>
            </a:r>
          </a:p>
          <a:p>
            <a:pPr marL="914400" lvl="2">
              <a:lnSpc>
                <a:spcPct val="10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Prep: 120 minutes</a:t>
            </a:r>
          </a:p>
          <a:p>
            <a:pPr marL="914400" lvl="2">
              <a:lnSpc>
                <a:spcPct val="10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Bake:  30 minutes</a:t>
            </a:r>
          </a:p>
          <a:p>
            <a:pPr marL="914400" lvl="2">
              <a:lnSpc>
                <a:spcPct val="10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Total: 150 minutes</a:t>
            </a:r>
          </a:p>
        </p:txBody>
      </p:sp>
    </p:spTree>
    <p:extLst>
      <p:ext uri="{BB962C8B-B14F-4D97-AF65-F5344CB8AC3E}">
        <p14:creationId xmlns:p14="http://schemas.microsoft.com/office/powerpoint/2010/main" val="266860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F09A-C02A-A0B8-8381-F30E2809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fast can we bake a cake?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But what if we have two cooks?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Assume they work perfectly together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No wasted time, no overhead</a:t>
            </a:r>
          </a:p>
          <a:p>
            <a:pPr lvl="2"/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800" dirty="0"/>
              <a:t>Then total time is…</a:t>
            </a:r>
          </a:p>
          <a:p>
            <a:pPr marL="914400" lvl="2">
              <a:lnSpc>
                <a:spcPct val="10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Prep: 120/2 = 60 minutes</a:t>
            </a:r>
          </a:p>
          <a:p>
            <a:pPr marL="914400" lvl="2">
              <a:lnSpc>
                <a:spcPct val="10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Bake:         30 minutes</a:t>
            </a:r>
          </a:p>
          <a:p>
            <a:pPr marL="914400" lvl="2">
              <a:lnSpc>
                <a:spcPct val="100000"/>
              </a:lnSpc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Total:         90 minutes</a:t>
            </a:r>
          </a:p>
        </p:txBody>
      </p:sp>
    </p:spTree>
    <p:extLst>
      <p:ext uri="{BB962C8B-B14F-4D97-AF65-F5344CB8AC3E}">
        <p14:creationId xmlns:p14="http://schemas.microsoft.com/office/powerpoint/2010/main" val="119067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420428" y="914401"/>
          <a:ext cx="9445625" cy="501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085443" imgH="6416040" progId="Excel.Sheet.12">
                  <p:embed/>
                </p:oleObj>
              </mc:Choice>
              <mc:Fallback>
                <p:oleObj name="Worksheet" r:id="rId2" imgW="12085443" imgH="6416040" progId="Excel.Sheet.12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428" y="914401"/>
                        <a:ext cx="9445625" cy="5014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216763" y="187575"/>
            <a:ext cx="10515600" cy="72682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i="0" kern="1200">
                <a:solidFill>
                  <a:schemeClr val="tx1"/>
                </a:solidFill>
                <a:latin typeface="Helvetica Neue LT Std 77 Bold Condensed" charset="0"/>
                <a:ea typeface="Helvetica Neue LT Std 77 Bold Condensed" charset="0"/>
                <a:cs typeface="Helvetica Neue LT Std 77 Bold Condensed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T Std 77 Bold Condensed" charset="0"/>
              </a:rPr>
              <a:t>How fast can we bake a cake?</a:t>
            </a:r>
          </a:p>
        </p:txBody>
      </p:sp>
    </p:spTree>
    <p:extLst>
      <p:ext uri="{BB962C8B-B14F-4D97-AF65-F5344CB8AC3E}">
        <p14:creationId xmlns:p14="http://schemas.microsoft.com/office/powerpoint/2010/main" val="50232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420427" y="914401"/>
          <a:ext cx="9445625" cy="501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085443" imgH="6416040" progId="Excel.Sheet.12">
                  <p:embed/>
                </p:oleObj>
              </mc:Choice>
              <mc:Fallback>
                <p:oleObj name="Worksheet" r:id="rId2" imgW="12085443" imgH="6416040" progId="Excel.Sheet.12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427" y="914401"/>
                        <a:ext cx="9445625" cy="5014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216763" y="187575"/>
            <a:ext cx="10515600" cy="72682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i="0" kern="1200">
                <a:solidFill>
                  <a:schemeClr val="tx1"/>
                </a:solidFill>
                <a:latin typeface="Helvetica Neue LT Std 77 Bold Condensed" charset="0"/>
                <a:ea typeface="Helvetica Neue LT Std 77 Bold Condensed" charset="0"/>
                <a:cs typeface="Helvetica Neue LT Std 77 Bold Condensed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T Std 77 Bold Condensed" charset="0"/>
              </a:rPr>
              <a:t>How fast can we bake a cake?</a:t>
            </a:r>
          </a:p>
        </p:txBody>
      </p:sp>
    </p:spTree>
    <p:extLst>
      <p:ext uri="{BB962C8B-B14F-4D97-AF65-F5344CB8AC3E}">
        <p14:creationId xmlns:p14="http://schemas.microsoft.com/office/powerpoint/2010/main" val="97963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62957"/>
            <a:ext cx="5029200" cy="4708525"/>
          </a:xfrm>
        </p:spPr>
        <p:txBody>
          <a:bodyPr/>
          <a:lstStyle/>
          <a:p>
            <a:r>
              <a:rPr lang="en-US" sz="2400" dirty="0"/>
              <a:t>Back-of-napkin scalability bounds</a:t>
            </a:r>
          </a:p>
          <a:p>
            <a:endParaRPr lang="en-US" sz="2400" dirty="0"/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/>
          </a:p>
        </p:txBody>
      </p:sp>
      <p:grpSp>
        <p:nvGrpSpPr>
          <p:cNvPr id="7" name="Group 6"/>
          <p:cNvGrpSpPr/>
          <p:nvPr/>
        </p:nvGrpSpPr>
        <p:grpSpPr>
          <a:xfrm>
            <a:off x="8610600" y="1976437"/>
            <a:ext cx="3419379" cy="4881563"/>
            <a:chOff x="5486304" y="1244730"/>
            <a:chExt cx="3419475" cy="4881562"/>
          </a:xfrm>
        </p:grpSpPr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5486304" y="1244730"/>
            <a:ext cx="3419475" cy="4881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2" imgW="4276745" imgH="6105457" progId="Excel.Sheet.12">
                    <p:embed/>
                  </p:oleObj>
                </mc:Choice>
                <mc:Fallback>
                  <p:oleObj name="Worksheet" r:id="rId2" imgW="4276745" imgH="6105457" progId="Excel.Sheet.12">
                    <p:embed/>
                    <p:pic>
                      <p:nvPicPr>
                        <p:cNvPr id="5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6304" y="1244730"/>
                          <a:ext cx="3419475" cy="4881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Box 3"/>
            <p:cNvSpPr txBox="1"/>
            <p:nvPr/>
          </p:nvSpPr>
          <p:spPr>
            <a:xfrm>
              <a:off x="8001000" y="1694624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serial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fraction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001000" y="4114800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serial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fraction</a:t>
              </a:r>
            </a:p>
          </p:txBody>
        </p:sp>
      </p:grp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468" y="2600152"/>
            <a:ext cx="3429000" cy="1016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A8042126-6739-BE12-CE76-3D952CBC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Amdahl's Law: Strong Scaling</a:t>
            </a:r>
          </a:p>
        </p:txBody>
      </p:sp>
    </p:spTree>
    <p:extLst>
      <p:ext uri="{BB962C8B-B14F-4D97-AF65-F5344CB8AC3E}">
        <p14:creationId xmlns:p14="http://schemas.microsoft.com/office/powerpoint/2010/main" val="83995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62957"/>
            <a:ext cx="5029200" cy="4708525"/>
          </a:xfrm>
        </p:spPr>
        <p:txBody>
          <a:bodyPr/>
          <a:lstStyle/>
          <a:p>
            <a:r>
              <a:rPr lang="en-US" sz="2400" dirty="0"/>
              <a:t>Back-of-napkin scalability bounds</a:t>
            </a:r>
          </a:p>
          <a:p>
            <a:endParaRPr lang="en-US" sz="2400" dirty="0"/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/>
          </a:p>
        </p:txBody>
      </p:sp>
      <p:grpSp>
        <p:nvGrpSpPr>
          <p:cNvPr id="34" name="Group 33"/>
          <p:cNvGrpSpPr/>
          <p:nvPr/>
        </p:nvGrpSpPr>
        <p:grpSpPr>
          <a:xfrm>
            <a:off x="2223469" y="2600152"/>
            <a:ext cx="4602463" cy="3468610"/>
            <a:chOff x="699468" y="1954834"/>
            <a:chExt cx="4602463" cy="3468610"/>
          </a:xfrm>
        </p:grpSpPr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68" y="1954834"/>
              <a:ext cx="3429000" cy="1016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4" name="Straight Arrow Connector 13"/>
            <p:cNvCxnSpPr>
              <a:stCxn id="23" idx="0"/>
            </p:cNvCxnSpPr>
            <p:nvPr/>
          </p:nvCxnSpPr>
          <p:spPr>
            <a:xfrm flipV="1">
              <a:off x="1795576" y="2971800"/>
              <a:ext cx="0" cy="33679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2756868" y="2966868"/>
              <a:ext cx="0" cy="92650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V="1">
              <a:off x="3671268" y="2938406"/>
              <a:ext cx="0" cy="190993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345773" y="3308596"/>
              <a:ext cx="89960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actual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speedup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34267" y="3893372"/>
              <a:ext cx="14452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perfect 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parallel section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17223" y="4838669"/>
              <a:ext cx="17080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infinitely fast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 parallel section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3415314" y="2123422"/>
              <a:ext cx="457200" cy="648466"/>
            </a:xfrm>
            <a:prstGeom prst="ellipse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 flipV="1">
              <a:off x="3918918" y="2678066"/>
              <a:ext cx="438150" cy="34147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4357068" y="3015027"/>
              <a:ext cx="0" cy="461711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978556" y="3470522"/>
              <a:ext cx="13233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reciprocal of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serial fraction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84572A7F-9434-F714-F5CC-BBCBEA409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Amdahl's Law: Strong Scaling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C83D6B-7E45-D26A-433C-72866798A760}"/>
              </a:ext>
            </a:extLst>
          </p:cNvPr>
          <p:cNvGrpSpPr/>
          <p:nvPr/>
        </p:nvGrpSpPr>
        <p:grpSpPr>
          <a:xfrm>
            <a:off x="8610600" y="1976437"/>
            <a:ext cx="3419379" cy="4881563"/>
            <a:chOff x="5486304" y="1244730"/>
            <a:chExt cx="3419475" cy="4881562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5D4248DE-34DE-65FE-523C-084649875E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304" y="1244730"/>
            <a:ext cx="3419475" cy="4881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3" imgW="4276745" imgH="6105457" progId="Excel.Sheet.12">
                    <p:embed/>
                  </p:oleObj>
                </mc:Choice>
                <mc:Fallback>
                  <p:oleObj name="Worksheet" r:id="rId3" imgW="4276745" imgH="6105457" progId="Excel.Sheet.12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5D4248DE-34DE-65FE-523C-084649875E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6304" y="1244730"/>
                          <a:ext cx="3419475" cy="4881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5712C8-7C73-6200-2D1C-DBAE17B6343C}"/>
                </a:ext>
              </a:extLst>
            </p:cNvPr>
            <p:cNvSpPr txBox="1"/>
            <p:nvPr/>
          </p:nvSpPr>
          <p:spPr>
            <a:xfrm>
              <a:off x="8001000" y="1694624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serial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fraction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D699C6-FEB1-535F-63A2-FCA6AB4C1480}"/>
                </a:ext>
              </a:extLst>
            </p:cNvPr>
            <p:cNvSpPr txBox="1"/>
            <p:nvPr/>
          </p:nvSpPr>
          <p:spPr>
            <a:xfrm>
              <a:off x="8001000" y="4114800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serial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067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62957"/>
            <a:ext cx="6629400" cy="4708525"/>
          </a:xfrm>
        </p:spPr>
        <p:txBody>
          <a:bodyPr/>
          <a:lstStyle/>
          <a:p>
            <a:r>
              <a:rPr lang="en-US" sz="2400" dirty="0"/>
              <a:t>Back-of-napkin scalability bounds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Under reasonable assumptions…</a:t>
            </a:r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Serial fraction is a severe constraint</a:t>
            </a:r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As you add processors, you reach a point of diminishing returns</a:t>
            </a:r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Can't run faster than serial time</a:t>
            </a:r>
          </a:p>
          <a:p>
            <a:pPr marL="6858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Speedup bounded by reciprocal of serial fraction</a:t>
            </a:r>
          </a:p>
          <a:p>
            <a:endParaRPr lang="en-US" sz="2400" dirty="0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468" y="2600152"/>
            <a:ext cx="3429000" cy="1016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66FF49-8455-E77F-63AD-830C1FD1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Amdahl's Law: Strong Scaling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BE7A36-4E28-D3BB-3249-AF5FA69FE3E4}"/>
              </a:ext>
            </a:extLst>
          </p:cNvPr>
          <p:cNvGrpSpPr/>
          <p:nvPr/>
        </p:nvGrpSpPr>
        <p:grpSpPr>
          <a:xfrm>
            <a:off x="8610600" y="1976437"/>
            <a:ext cx="3419379" cy="4881563"/>
            <a:chOff x="5486304" y="1244730"/>
            <a:chExt cx="3419475" cy="4881562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58764188-A017-88BD-4B8D-0D3E7B2DA9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6304" y="1244730"/>
            <a:ext cx="3419475" cy="4881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3" imgW="4276745" imgH="6105457" progId="Excel.Sheet.12">
                    <p:embed/>
                  </p:oleObj>
                </mc:Choice>
                <mc:Fallback>
                  <p:oleObj name="Worksheet" r:id="rId3" imgW="4276745" imgH="6105457" progId="Excel.Sheet.12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58764188-A017-88BD-4B8D-0D3E7B2DA9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6304" y="1244730"/>
                          <a:ext cx="3419475" cy="4881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5910D-9FFE-4012-1E78-663C092F36AA}"/>
                </a:ext>
              </a:extLst>
            </p:cNvPr>
            <p:cNvSpPr txBox="1"/>
            <p:nvPr/>
          </p:nvSpPr>
          <p:spPr>
            <a:xfrm>
              <a:off x="8001000" y="1694624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serial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fraction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2567EDF-848A-F58B-B821-417EE7DA6C09}"/>
                </a:ext>
              </a:extLst>
            </p:cNvPr>
            <p:cNvSpPr txBox="1"/>
            <p:nvPr/>
          </p:nvSpPr>
          <p:spPr>
            <a:xfrm>
              <a:off x="8001000" y="4114800"/>
              <a:ext cx="6030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serial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65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5BD6-C46C-0509-8642-27CA3FFD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0EC65-9B3B-3A43-90C1-675FFC47D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4829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321</TotalTime>
  <Words>740</Words>
  <Application>Microsoft Office PowerPoint</Application>
  <PresentationFormat>Widescreen</PresentationFormat>
  <Paragraphs>184</Paragraphs>
  <Slides>20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Helvetica Neue LT Std 77 Bold Condensed</vt:lpstr>
      <vt:lpstr>Aptos</vt:lpstr>
      <vt:lpstr>Arial</vt:lpstr>
      <vt:lpstr>Calibri</vt:lpstr>
      <vt:lpstr>Courier New</vt:lpstr>
      <vt:lpstr>Trebuchet MS</vt:lpstr>
      <vt:lpstr>Berlin</vt:lpstr>
      <vt:lpstr>Worksheet</vt:lpstr>
      <vt:lpstr>Using MsPASS for Seismology Data Processing  Intro to HPC Systems</vt:lpstr>
      <vt:lpstr>PowerPoint Presentation</vt:lpstr>
      <vt:lpstr>Supercomputer</vt:lpstr>
      <vt:lpstr>Top500 Ranking</vt:lpstr>
      <vt:lpstr>Shared Memory</vt:lpstr>
      <vt:lpstr>Distributed Memory</vt:lpstr>
      <vt:lpstr>Levels of Parallelism</vt:lpstr>
      <vt:lpstr>HPC Configuration of MsPASS</vt:lpstr>
      <vt:lpstr>MsPASS Service model and HPC</vt:lpstr>
      <vt:lpstr>Container example</vt:lpstr>
      <vt:lpstr>HPCClusterLauncher</vt:lpstr>
      <vt:lpstr>Measuring Scalability</vt:lpstr>
      <vt:lpstr>How fast can we bake a cake?</vt:lpstr>
      <vt:lpstr>How fast can we bake a cake?</vt:lpstr>
      <vt:lpstr>PowerPoint Presentation</vt:lpstr>
      <vt:lpstr>PowerPoint Presentation</vt:lpstr>
      <vt:lpstr>Amdahl's Law: Strong Scaling</vt:lpstr>
      <vt:lpstr>Amdahl's Law: Strong Scaling</vt:lpstr>
      <vt:lpstr>Amdahl's Law: Strong Scaling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Pavlis, Gary Lee</dc:creator>
  <cp:lastModifiedBy>Ian W</cp:lastModifiedBy>
  <cp:revision>22</cp:revision>
  <dcterms:created xsi:type="dcterms:W3CDTF">2024-07-05T09:30:07Z</dcterms:created>
  <dcterms:modified xsi:type="dcterms:W3CDTF">2026-07-17T17:08:29Z</dcterms:modified>
</cp:coreProperties>
</file>