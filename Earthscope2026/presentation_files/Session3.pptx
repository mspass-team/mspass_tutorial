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41"/>
  </p:notesMasterIdLst>
  <p:sldIdLst>
    <p:sldId id="256" r:id="rId2"/>
    <p:sldId id="465" r:id="rId3"/>
    <p:sldId id="467" r:id="rId4"/>
    <p:sldId id="468" r:id="rId5"/>
    <p:sldId id="469" r:id="rId6"/>
    <p:sldId id="466" r:id="rId7"/>
    <p:sldId id="448" r:id="rId8"/>
    <p:sldId id="262" r:id="rId9"/>
    <p:sldId id="263" r:id="rId10"/>
    <p:sldId id="264" r:id="rId11"/>
    <p:sldId id="265" r:id="rId12"/>
    <p:sldId id="266" r:id="rId13"/>
    <p:sldId id="267" r:id="rId14"/>
    <p:sldId id="261" r:id="rId15"/>
    <p:sldId id="268" r:id="rId16"/>
    <p:sldId id="460" r:id="rId17"/>
    <p:sldId id="461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69" r:id="rId27"/>
    <p:sldId id="278" r:id="rId28"/>
    <p:sldId id="463" r:id="rId29"/>
    <p:sldId id="464" r:id="rId30"/>
    <p:sldId id="288" r:id="rId31"/>
    <p:sldId id="289" r:id="rId32"/>
    <p:sldId id="282" r:id="rId33"/>
    <p:sldId id="462" r:id="rId34"/>
    <p:sldId id="258" r:id="rId35"/>
    <p:sldId id="284" r:id="rId36"/>
    <p:sldId id="286" r:id="rId37"/>
    <p:sldId id="287" r:id="rId38"/>
    <p:sldId id="259" r:id="rId39"/>
    <p:sldId id="28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32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2FCBE-A0B3-6545-A6A1-53D208938325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B35E6-2E01-C94F-82B5-FD577D941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E6913-E011-9443-A07F-3F023F2AB4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0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2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5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1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3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4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8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43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5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38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67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3446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4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49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1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54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4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D96F2-9807-734D-9C9B-F92AC7C3E6E0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D46D1-4D9E-704C-8A99-F47EE4548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66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mailto:Pavlis@iu.edu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planetscale.com/blog/io-devices-and-latency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9330-0F30-3B1A-0727-950AC443D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1668" y="1215496"/>
            <a:ext cx="5367866" cy="2387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Session 3:  Accessing </a:t>
            </a:r>
            <a:r>
              <a:rPr lang="en-US" sz="4400" dirty="0" err="1"/>
              <a:t>Earthscope</a:t>
            </a:r>
            <a:r>
              <a:rPr lang="en-US" sz="4400" dirty="0"/>
              <a:t> Cloud Store Data with </a:t>
            </a:r>
            <a:r>
              <a:rPr lang="en-US" sz="4400" dirty="0" err="1"/>
              <a:t>MsPASS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6510A-5F29-E7B6-B073-D1DA42276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1667" y="3602038"/>
            <a:ext cx="5376333" cy="1655762"/>
          </a:xfrm>
        </p:spPr>
        <p:txBody>
          <a:bodyPr>
            <a:normAutofit/>
          </a:bodyPr>
          <a:lstStyle/>
          <a:p>
            <a:r>
              <a:rPr lang="en-US" sz="1800" dirty="0"/>
              <a:t>Prof. Gary L. Pavlis</a:t>
            </a:r>
          </a:p>
          <a:p>
            <a:r>
              <a:rPr lang="en-US" sz="1800" dirty="0"/>
              <a:t>Dept of Earth and Atmospheric Sciences</a:t>
            </a:r>
          </a:p>
          <a:p>
            <a:r>
              <a:rPr lang="en-US" sz="1800" dirty="0"/>
              <a:t>Indiana University</a:t>
            </a:r>
          </a:p>
        </p:txBody>
      </p:sp>
      <p:pic>
        <p:nvPicPr>
          <p:cNvPr id="5" name="Picture 4" descr="Geometric white clouds on a blue sky">
            <a:extLst>
              <a:ext uri="{FF2B5EF4-FFF2-40B4-BE49-F238E27FC236}">
                <a16:creationId xmlns:a16="http://schemas.microsoft.com/office/drawing/2014/main" id="{80DBF9DE-AAFD-D86A-B9CD-E85E0508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5" b="28094"/>
          <a:stretch>
            <a:fillRect/>
          </a:stretch>
        </p:blipFill>
        <p:spPr>
          <a:xfrm>
            <a:off x="1225311" y="812800"/>
            <a:ext cx="3531365" cy="1904352"/>
          </a:xfrm>
          <a:custGeom>
            <a:avLst/>
            <a:gdLst/>
            <a:ahLst/>
            <a:cxnLst/>
            <a:rect l="l" t="t" r="r" b="b"/>
            <a:pathLst>
              <a:path w="3531365" h="1904352">
                <a:moveTo>
                  <a:pt x="171624" y="0"/>
                </a:moveTo>
                <a:lnTo>
                  <a:pt x="3531365" y="0"/>
                </a:lnTo>
                <a:lnTo>
                  <a:pt x="3531365" y="1904352"/>
                </a:lnTo>
                <a:lnTo>
                  <a:pt x="0" y="1904352"/>
                </a:lnTo>
                <a:lnTo>
                  <a:pt x="0" y="171624"/>
                </a:lnTo>
                <a:cubicBezTo>
                  <a:pt x="0" y="76839"/>
                  <a:pt x="76839" y="0"/>
                  <a:pt x="171624" y="0"/>
                </a:cubicBez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NSF_4-Color_bitmap_Logo.png">
            <a:extLst>
              <a:ext uri="{FF2B5EF4-FFF2-40B4-BE49-F238E27FC236}">
                <a16:creationId xmlns:a16="http://schemas.microsoft.com/office/drawing/2014/main" id="{010CABE0-1153-5C9C-9B46-7607BEA1DF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8" r="3" b="8001"/>
          <a:stretch>
            <a:fillRect/>
          </a:stretch>
        </p:blipFill>
        <p:spPr>
          <a:xfrm>
            <a:off x="1225311" y="2880822"/>
            <a:ext cx="3531365" cy="2910378"/>
          </a:xfrm>
          <a:custGeom>
            <a:avLst/>
            <a:gdLst/>
            <a:ahLst/>
            <a:cxnLst/>
            <a:rect l="l" t="t" r="r" b="b"/>
            <a:pathLst>
              <a:path w="3531365" h="2910378">
                <a:moveTo>
                  <a:pt x="0" y="0"/>
                </a:moveTo>
                <a:lnTo>
                  <a:pt x="3531365" y="0"/>
                </a:lnTo>
                <a:lnTo>
                  <a:pt x="3531365" y="2738754"/>
                </a:lnTo>
                <a:cubicBezTo>
                  <a:pt x="3531365" y="2833539"/>
                  <a:pt x="3454526" y="2910378"/>
                  <a:pt x="3359741" y="2910378"/>
                </a:cubicBezTo>
                <a:lnTo>
                  <a:pt x="0" y="2910378"/>
                </a:ln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A3CCDBC9-9DBD-4C55-A267-3A5045464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92" name="Freeform 32">
              <a:extLst>
                <a:ext uri="{FF2B5EF4-FFF2-40B4-BE49-F238E27FC236}">
                  <a16:creationId xmlns:a16="http://schemas.microsoft.com/office/drawing/2014/main" id="{E183865D-6189-4B7F-8A97-16FF9EA2F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3">
              <a:extLst>
                <a:ext uri="{FF2B5EF4-FFF2-40B4-BE49-F238E27FC236}">
                  <a16:creationId xmlns:a16="http://schemas.microsoft.com/office/drawing/2014/main" id="{3D1DCAF9-DEA1-4D90-957E-5839134814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4">
              <a:extLst>
                <a:ext uri="{FF2B5EF4-FFF2-40B4-BE49-F238E27FC236}">
                  <a16:creationId xmlns:a16="http://schemas.microsoft.com/office/drawing/2014/main" id="{EFC4F727-8B14-4CD1-B12B-22C609A15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5">
              <a:extLst>
                <a:ext uri="{FF2B5EF4-FFF2-40B4-BE49-F238E27FC236}">
                  <a16:creationId xmlns:a16="http://schemas.microsoft.com/office/drawing/2014/main" id="{5A500084-590E-46BB-B3FE-142377150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6">
              <a:extLst>
                <a:ext uri="{FF2B5EF4-FFF2-40B4-BE49-F238E27FC236}">
                  <a16:creationId xmlns:a16="http://schemas.microsoft.com/office/drawing/2014/main" id="{EAB456C8-9A54-4C80-AADF-243F0BEAE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7">
              <a:extLst>
                <a:ext uri="{FF2B5EF4-FFF2-40B4-BE49-F238E27FC236}">
                  <a16:creationId xmlns:a16="http://schemas.microsoft.com/office/drawing/2014/main" id="{143BDB20-D4A8-4CFA-B1A0-7C9C61F7C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8">
              <a:extLst>
                <a:ext uri="{FF2B5EF4-FFF2-40B4-BE49-F238E27FC236}">
                  <a16:creationId xmlns:a16="http://schemas.microsoft.com/office/drawing/2014/main" id="{FBD879E6-3D97-4653-8B6C-16277A84A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9">
              <a:extLst>
                <a:ext uri="{FF2B5EF4-FFF2-40B4-BE49-F238E27FC236}">
                  <a16:creationId xmlns:a16="http://schemas.microsoft.com/office/drawing/2014/main" id="{80828E11-0548-44BA-BB02-6DCF1B5C1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40">
              <a:extLst>
                <a:ext uri="{FF2B5EF4-FFF2-40B4-BE49-F238E27FC236}">
                  <a16:creationId xmlns:a16="http://schemas.microsoft.com/office/drawing/2014/main" id="{25BA7D6A-8771-4E0B-A71C-612071E68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Rectangle 41">
              <a:extLst>
                <a:ext uri="{FF2B5EF4-FFF2-40B4-BE49-F238E27FC236}">
                  <a16:creationId xmlns:a16="http://schemas.microsoft.com/office/drawing/2014/main" id="{CDB80323-FDAD-4162-B12E-5906DA9E7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BD0EF62-2F55-B65D-DD93-2C0B7F2C9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32" y="4908030"/>
            <a:ext cx="5864368" cy="191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4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970714-9E05-F947-E005-046B31DB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comments:  Part 1 – response by me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A3EFCFE-1A7D-E62B-C764-F6EC5A9455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8577" y="2401618"/>
            <a:ext cx="4878387" cy="2710979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7340CC-F441-34DC-BDC4-DBE7DA9893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Had a couple reports of this infamous (to us) </a:t>
            </a:r>
            <a:r>
              <a:rPr lang="en-US" dirty="0" err="1"/>
              <a:t>jupyter</a:t>
            </a:r>
            <a:r>
              <a:rPr lang="en-US" dirty="0"/>
              <a:t> splash screen</a:t>
            </a:r>
          </a:p>
          <a:p>
            <a:r>
              <a:rPr lang="en-US" dirty="0"/>
              <a:t>What happens if the operating system kills the job</a:t>
            </a:r>
          </a:p>
          <a:p>
            <a:pPr lvl="1"/>
            <a:r>
              <a:rPr lang="en-US" dirty="0"/>
              <a:t>Usually means a memory fault</a:t>
            </a:r>
          </a:p>
          <a:p>
            <a:pPr lvl="1"/>
            <a:r>
              <a:rPr lang="en-US" dirty="0"/>
              <a:t>In this case it was hitting file quota limit on </a:t>
            </a:r>
            <a:r>
              <a:rPr lang="en-US" dirty="0" err="1"/>
              <a:t>GeoLab</a:t>
            </a:r>
            <a:endParaRPr lang="en-US" dirty="0"/>
          </a:p>
          <a:p>
            <a:pPr lvl="1"/>
            <a:r>
              <a:rPr lang="en-US" dirty="0"/>
              <a:t>Happened when people had to rerun the load_waveforms_s3 notebook and didn’t do a complete cleanup</a:t>
            </a:r>
          </a:p>
        </p:txBody>
      </p:sp>
    </p:spTree>
    <p:extLst>
      <p:ext uri="{BB962C8B-B14F-4D97-AF65-F5344CB8AC3E}">
        <p14:creationId xmlns:p14="http://schemas.microsoft.com/office/powerpoint/2010/main" val="186796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87364B-AFE4-7329-A99F-D2E800E5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B7EC2-8867-D9C8-6655-8AC79C6FE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If you get that infamous message, it means the OS killed the main python job script process</a:t>
            </a:r>
          </a:p>
          <a:p>
            <a:pPr lvl="1"/>
            <a:r>
              <a:rPr lang="en-US" dirty="0"/>
              <a:t>Memory fault</a:t>
            </a:r>
          </a:p>
          <a:p>
            <a:pPr lvl="1"/>
            <a:r>
              <a:rPr lang="en-US" dirty="0"/>
              <a:t>Something else that the OS considered a limit (in this case storage quota)</a:t>
            </a:r>
          </a:p>
          <a:p>
            <a:r>
              <a:rPr lang="en-US" dirty="0"/>
              <a:t>Takes detective work to solve</a:t>
            </a:r>
          </a:p>
          <a:p>
            <a:pPr lvl="1"/>
            <a:r>
              <a:rPr lang="en-US" dirty="0"/>
              <a:t>Hypothesis driven testing</a:t>
            </a:r>
          </a:p>
          <a:p>
            <a:pPr lvl="1"/>
            <a:r>
              <a:rPr lang="en-US" dirty="0"/>
              <a:t>Shell command line tools to test file storage issues</a:t>
            </a:r>
          </a:p>
          <a:p>
            <a:pPr lvl="1"/>
            <a:r>
              <a:rPr lang="en-US" dirty="0"/>
              <a:t>Look at log files </a:t>
            </a:r>
          </a:p>
          <a:p>
            <a:pPr lvl="2"/>
            <a:r>
              <a:rPr lang="en-US" dirty="0"/>
              <a:t>I’ll show you where they are on </a:t>
            </a:r>
            <a:r>
              <a:rPr lang="en-US" dirty="0" err="1"/>
              <a:t>geolab</a:t>
            </a:r>
            <a:r>
              <a:rPr lang="en-US" dirty="0"/>
              <a:t> for hints </a:t>
            </a:r>
          </a:p>
          <a:p>
            <a:pPr lvl="2"/>
            <a:r>
              <a:rPr lang="en-US" dirty="0"/>
              <a:t>They can be challenging to interpret</a:t>
            </a:r>
          </a:p>
          <a:p>
            <a:pPr lvl="1"/>
            <a:r>
              <a:rPr lang="en-US" dirty="0"/>
              <a:t>Use assorted memory monitoring tools – ask your favorite AI for suggestions</a:t>
            </a:r>
          </a:p>
        </p:txBody>
      </p:sp>
    </p:spTree>
    <p:extLst>
      <p:ext uri="{BB962C8B-B14F-4D97-AF65-F5344CB8AC3E}">
        <p14:creationId xmlns:p14="http://schemas.microsoft.com/office/powerpoint/2010/main" val="102395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4169-3B25-D854-B6EB-AC4C8EBE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questions from howework2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CFC23-3DF0-2B29-64D3-C80D954DB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are the most common causes of metadata mismatches (such as net, </a:t>
            </a:r>
            <a:r>
              <a:rPr lang="en-US" dirty="0" err="1"/>
              <a:t>sta</a:t>
            </a:r>
            <a:r>
              <a:rPr lang="en-US" dirty="0"/>
              <a:t> , </a:t>
            </a:r>
            <a:r>
              <a:rPr lang="en-US" dirty="0" err="1"/>
              <a:t>chan</a:t>
            </a:r>
            <a:r>
              <a:rPr lang="en-US" dirty="0"/>
              <a:t>, and loc) that send data to the </a:t>
            </a:r>
            <a:r>
              <a:rPr lang="en-US" dirty="0" err="1"/>
              <a:t>cementry</a:t>
            </a:r>
            <a:r>
              <a:rPr lang="en-US" dirty="0"/>
              <a:t> collection, and how can they be prevented?</a:t>
            </a:r>
          </a:p>
          <a:p>
            <a:pPr lvl="1"/>
            <a:r>
              <a:rPr lang="en-US" dirty="0"/>
              <a:t>Usually not a problem with net, </a:t>
            </a:r>
            <a:r>
              <a:rPr lang="en-US" dirty="0" err="1"/>
              <a:t>sta</a:t>
            </a:r>
            <a:r>
              <a:rPr lang="en-US" dirty="0"/>
              <a:t>, </a:t>
            </a:r>
            <a:r>
              <a:rPr lang="en-US" dirty="0" err="1"/>
              <a:t>chan</a:t>
            </a:r>
            <a:r>
              <a:rPr lang="en-US" dirty="0"/>
              <a:t>, or loc but a mismatch of </a:t>
            </a:r>
            <a:r>
              <a:rPr lang="en-US" dirty="0" err="1"/>
              <a:t>startime</a:t>
            </a:r>
            <a:r>
              <a:rPr lang="en-US" dirty="0"/>
              <a:t>::</a:t>
            </a:r>
            <a:r>
              <a:rPr lang="en-US" dirty="0" err="1"/>
              <a:t>endtime</a:t>
            </a:r>
            <a:r>
              <a:rPr lang="en-US" dirty="0"/>
              <a:t> periods with IRIS holdings and what the provider gives as the time range of operation of a station – e.g. a maintenance window with a sensor swap.</a:t>
            </a:r>
          </a:p>
          <a:p>
            <a:pPr lvl="1"/>
            <a:r>
              <a:rPr lang="en-US" dirty="0"/>
              <a:t>The examples in this data  all  belonged in the cemetery – unreliable data best discarded</a:t>
            </a:r>
          </a:p>
          <a:p>
            <a:pPr lvl="1"/>
            <a:r>
              <a:rPr lang="en-US" dirty="0"/>
              <a:t>This is a type example of why error handlers and something like the cemetery are essential for large processing jobs to be stable</a:t>
            </a:r>
          </a:p>
          <a:p>
            <a:r>
              <a:rPr lang="en-US" dirty="0"/>
              <a:t>Late from Session 1 homework: student got a different answer than I got – I’ll show you my key notebook and discuss this one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79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190D02-4406-8F08-7546-4500303B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others?</a:t>
            </a:r>
          </a:p>
        </p:txBody>
      </p:sp>
    </p:spTree>
    <p:extLst>
      <p:ext uri="{BB962C8B-B14F-4D97-AF65-F5344CB8AC3E}">
        <p14:creationId xmlns:p14="http://schemas.microsoft.com/office/powerpoint/2010/main" val="42359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7D9A-2C84-852B-2BDD-4BE1D304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 of Today:  Ian Wang on Using </a:t>
            </a:r>
            <a:r>
              <a:rPr lang="en-US" dirty="0" err="1"/>
              <a:t>MsPASS</a:t>
            </a:r>
            <a:r>
              <a:rPr lang="en-US" dirty="0"/>
              <a:t> on an HPC cluster</a:t>
            </a:r>
          </a:p>
        </p:txBody>
      </p:sp>
    </p:spTree>
    <p:extLst>
      <p:ext uri="{BB962C8B-B14F-4D97-AF65-F5344CB8AC3E}">
        <p14:creationId xmlns:p14="http://schemas.microsoft.com/office/powerpoint/2010/main" val="396939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D9B18F-D836-8F3E-17E3-730CE02A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Overview</a:t>
            </a:r>
          </a:p>
        </p:txBody>
      </p:sp>
    </p:spTree>
    <p:extLst>
      <p:ext uri="{BB962C8B-B14F-4D97-AF65-F5344CB8AC3E}">
        <p14:creationId xmlns:p14="http://schemas.microsoft.com/office/powerpoint/2010/main" val="684416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26D1C5-A635-1744-2FB1-D1BB8479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take as a Scientist on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AB91A-DA3E-1518-F6E4-4CB9471BE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lot of web sources are corrupted by commercial sales pitches</a:t>
            </a:r>
          </a:p>
          <a:p>
            <a:pPr lvl="1"/>
            <a:r>
              <a:rPr lang="en-US" dirty="0"/>
              <a:t>Technical audience </a:t>
            </a:r>
          </a:p>
          <a:p>
            <a:pPr lvl="1"/>
            <a:r>
              <a:rPr lang="en-US" dirty="0"/>
              <a:t>Nontechnical (manager) audience</a:t>
            </a:r>
          </a:p>
          <a:p>
            <a:r>
              <a:rPr lang="en-US" dirty="0"/>
              <a:t>This is a huge subject with trillions of $ involved</a:t>
            </a:r>
          </a:p>
          <a:p>
            <a:r>
              <a:rPr lang="en-US" dirty="0"/>
              <a:t>I will focus today on a few key concepts relevant to “big data” == </a:t>
            </a:r>
            <a:r>
              <a:rPr lang="en-US" dirty="0" err="1"/>
              <a:t>MsPASS</a:t>
            </a:r>
            <a:endParaRPr lang="en-US" dirty="0"/>
          </a:p>
          <a:p>
            <a:pPr lvl="1"/>
            <a:r>
              <a:rPr lang="en-US" dirty="0"/>
              <a:t>Abstraction of what a processor is</a:t>
            </a:r>
          </a:p>
          <a:p>
            <a:pPr lvl="1"/>
            <a:r>
              <a:rPr lang="en-US" dirty="0"/>
              <a:t>Abstraction of data storage</a:t>
            </a:r>
          </a:p>
          <a:p>
            <a:pPr lvl="1"/>
            <a:r>
              <a:rPr lang="en-US" dirty="0"/>
              <a:t>Web view of data</a:t>
            </a:r>
          </a:p>
        </p:txBody>
      </p:sp>
    </p:spTree>
    <p:extLst>
      <p:ext uri="{BB962C8B-B14F-4D97-AF65-F5344CB8AC3E}">
        <p14:creationId xmlns:p14="http://schemas.microsoft.com/office/powerpoint/2010/main" val="2915814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5887-763C-C022-59BA-7F0AE6F1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one:   Processor Abstraction</a:t>
            </a:r>
          </a:p>
        </p:txBody>
      </p:sp>
    </p:spTree>
    <p:extLst>
      <p:ext uri="{BB962C8B-B14F-4D97-AF65-F5344CB8AC3E}">
        <p14:creationId xmlns:p14="http://schemas.microsoft.com/office/powerpoint/2010/main" val="302899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9933-5FD6-4F8A-1BEF-D29868B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F3DCA-7564-797C-0ADE-DEDC08A5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71BFF3-6F33-A61C-12C9-E2DDE11E9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86" y="1453693"/>
            <a:ext cx="8478188" cy="559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9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086E-2CDA-55C7-D51A-21105658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B025C-F81A-62E1-F986-BB3EEC7F0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GeoLab</a:t>
            </a:r>
            <a:r>
              <a:rPr lang="en-US" dirty="0"/>
              <a:t> is a cloud gateway</a:t>
            </a:r>
          </a:p>
          <a:p>
            <a:r>
              <a:rPr lang="en-US" dirty="0"/>
              <a:t>Abstracts processors (“CPU” is not entirely accurate) and memory assigned to you while connected</a:t>
            </a:r>
          </a:p>
          <a:p>
            <a:r>
              <a:rPr lang="en-US" dirty="0"/>
              <a:t>You have no clue what processor type or which node(s) of the cluster are assigned to your login</a:t>
            </a:r>
          </a:p>
        </p:txBody>
      </p:sp>
    </p:spTree>
    <p:extLst>
      <p:ext uri="{BB962C8B-B14F-4D97-AF65-F5344CB8AC3E}">
        <p14:creationId xmlns:p14="http://schemas.microsoft.com/office/powerpoint/2010/main" val="3781327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3743-2C00-001F-7C97-EB8B163A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Differ from HPC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131315-7C05-6B92-CF28-C532FA966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046" y="2200060"/>
            <a:ext cx="5536635" cy="35417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FF63B-5BCA-41C9-53BF-C3D14CA38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279" y="2602173"/>
            <a:ext cx="5554675" cy="3139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508432-D38C-1BE4-3399-48F45439910A}"/>
              </a:ext>
            </a:extLst>
          </p:cNvPr>
          <p:cNvSpPr txBox="1"/>
          <p:nvPr/>
        </p:nvSpPr>
        <p:spPr>
          <a:xfrm>
            <a:off x="1631092" y="6116595"/>
            <a:ext cx="249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HPC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FF603-E226-8BD3-303B-2206E7DD22A7}"/>
              </a:ext>
            </a:extLst>
          </p:cNvPr>
          <p:cNvSpPr txBox="1"/>
          <p:nvPr/>
        </p:nvSpPr>
        <p:spPr>
          <a:xfrm>
            <a:off x="7253416" y="6116595"/>
            <a:ext cx="295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Amazon Data Center</a:t>
            </a:r>
          </a:p>
        </p:txBody>
      </p:sp>
    </p:spTree>
    <p:extLst>
      <p:ext uri="{BB962C8B-B14F-4D97-AF65-F5344CB8AC3E}">
        <p14:creationId xmlns:p14="http://schemas.microsoft.com/office/powerpoint/2010/main" val="256238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362DE1-8DC2-572E-75E5-CA5C81232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Answer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67ADB4-B47E-D85B-3E39-F47FA871D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is similar – multiple racks each with a stack of blades</a:t>
            </a:r>
          </a:p>
          <a:p>
            <a:r>
              <a:rPr lang="en-US" dirty="0"/>
              <a:t>Software is completely different</a:t>
            </a:r>
          </a:p>
        </p:txBody>
      </p:sp>
    </p:spTree>
    <p:extLst>
      <p:ext uri="{BB962C8B-B14F-4D97-AF65-F5344CB8AC3E}">
        <p14:creationId xmlns:p14="http://schemas.microsoft.com/office/powerpoint/2010/main" val="3443323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C46B7D-49CA-1F63-84E9-8501C8E5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HPC versus Cloud Systems</a:t>
            </a:r>
            <a:br>
              <a:rPr lang="en-US" dirty="0"/>
            </a:br>
            <a:r>
              <a:rPr lang="en-US" dirty="0"/>
              <a:t>(a scientist perspective)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33CD25-1B36-4E7D-929C-401F191F6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5"/>
            <a:ext cx="4878389" cy="46085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300" u="sng" dirty="0"/>
              <a:t>HPC Systems</a:t>
            </a:r>
          </a:p>
          <a:p>
            <a:r>
              <a:rPr lang="en-US" sz="2300" dirty="0"/>
              <a:t>Created to support science</a:t>
            </a:r>
          </a:p>
          <a:p>
            <a:pPr lvl="1"/>
            <a:r>
              <a:rPr lang="en-US" sz="2300" dirty="0"/>
              <a:t>Support from NSF, DOE, and universities</a:t>
            </a:r>
          </a:p>
          <a:p>
            <a:pPr lvl="1"/>
            <a:r>
              <a:rPr lang="en-US" sz="2300" dirty="0"/>
              <a:t>Focus on simulation</a:t>
            </a:r>
          </a:p>
          <a:p>
            <a:r>
              <a:rPr lang="en-US" sz="2300" dirty="0"/>
              <a:t>Grant support 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/>
              <a:t>Set up to support academic research</a:t>
            </a:r>
          </a:p>
          <a:p>
            <a:r>
              <a:rPr lang="en-US" sz="2300" dirty="0"/>
              <a:t>Simulation focus</a:t>
            </a:r>
          </a:p>
          <a:p>
            <a:pPr lvl="1"/>
            <a:r>
              <a:rPr lang="en-US" sz="2300" dirty="0"/>
              <a:t>Compute performance optimized</a:t>
            </a:r>
          </a:p>
          <a:p>
            <a:pPr lvl="1"/>
            <a:r>
              <a:rPr lang="en-US" sz="2300" dirty="0"/>
              <a:t>Batch processing (homogenous processing)</a:t>
            </a:r>
          </a:p>
          <a:p>
            <a:pPr marL="457200" lvl="1" indent="0">
              <a:buNone/>
            </a:pPr>
            <a:endParaRPr lang="en-US" sz="2300" dirty="0"/>
          </a:p>
          <a:p>
            <a:r>
              <a:rPr lang="en-US" sz="2300" dirty="0"/>
              <a:t>Containers (virtual machines) are a newer application</a:t>
            </a:r>
          </a:p>
          <a:p>
            <a:pPr lvl="1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7EF73-9E67-382D-D535-D2D55CBC3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97089"/>
            <a:ext cx="4875211" cy="47609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u="sng" dirty="0"/>
              <a:t>Cloud Systems</a:t>
            </a:r>
          </a:p>
          <a:p>
            <a:r>
              <a:rPr lang="en-US" sz="1600" dirty="0"/>
              <a:t>Driven by commercial interests</a:t>
            </a:r>
          </a:p>
          <a:p>
            <a:pPr lvl="1"/>
            <a:r>
              <a:rPr lang="en-US" sz="1600" dirty="0"/>
              <a:t>E-commerce market</a:t>
            </a:r>
          </a:p>
          <a:p>
            <a:pPr lvl="1"/>
            <a:r>
              <a:rPr lang="en-US" sz="1600" dirty="0"/>
              <a:t>Decreasing IT costs for the company</a:t>
            </a:r>
          </a:p>
          <a:p>
            <a:r>
              <a:rPr lang="en-US" sz="1600" dirty="0"/>
              <a:t>TANSTAFL (There </a:t>
            </a:r>
            <a:r>
              <a:rPr lang="en-US" sz="1600" dirty="0" err="1"/>
              <a:t>Ain’t</a:t>
            </a:r>
            <a:r>
              <a:rPr lang="en-US" sz="1600" dirty="0"/>
              <a:t> No Such Thing As a Free Lunch – Robert Heinlein)</a:t>
            </a:r>
          </a:p>
          <a:p>
            <a:r>
              <a:rPr lang="en-US" sz="1600" dirty="0"/>
              <a:t>We are poorly financed customers</a:t>
            </a:r>
          </a:p>
          <a:p>
            <a:r>
              <a:rPr lang="en-US" sz="1600" dirty="0"/>
              <a:t>Data handling and web focus</a:t>
            </a:r>
          </a:p>
          <a:p>
            <a:pPr lvl="1"/>
            <a:r>
              <a:rPr lang="en-US" sz="1600" dirty="0"/>
              <a:t>Optimized to handle large data volumes</a:t>
            </a:r>
          </a:p>
          <a:p>
            <a:pPr lvl="1"/>
            <a:r>
              <a:rPr lang="en-US" sz="1600" dirty="0"/>
              <a:t>Broad range of processing functionality</a:t>
            </a:r>
          </a:p>
          <a:p>
            <a:pPr lvl="1"/>
            <a:r>
              <a:rPr lang="en-US" sz="1600" dirty="0"/>
              <a:t>Center of e-commerce</a:t>
            </a:r>
          </a:p>
          <a:p>
            <a:r>
              <a:rPr lang="en-US" sz="1600" dirty="0"/>
              <a:t>Entirely dependent upon containers</a:t>
            </a:r>
          </a:p>
        </p:txBody>
      </p:sp>
    </p:spTree>
    <p:extLst>
      <p:ext uri="{BB962C8B-B14F-4D97-AF65-F5344CB8AC3E}">
        <p14:creationId xmlns:p14="http://schemas.microsoft.com/office/powerpoint/2010/main" val="3186095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ABC6-AF74-113E-C910-8D9F49E3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HPC versus Cloud Software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04A7-0AF2-6043-C9E2-B4471331DB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u="sng" dirty="0"/>
              <a:t>HPC</a:t>
            </a:r>
          </a:p>
          <a:p>
            <a:r>
              <a:rPr lang="en-US" dirty="0"/>
              <a:t>Batch processing</a:t>
            </a:r>
          </a:p>
          <a:p>
            <a:r>
              <a:rPr lang="en-US" dirty="0"/>
              <a:t>Hardware conscious</a:t>
            </a:r>
          </a:p>
          <a:p>
            <a:pPr lvl="1"/>
            <a:r>
              <a:rPr lang="en-US" dirty="0"/>
              <a:t>Job requests resources as N nodes</a:t>
            </a:r>
          </a:p>
          <a:p>
            <a:pPr lvl="1"/>
            <a:r>
              <a:rPr lang="en-US" dirty="0"/>
              <a:t>Job requests other resources</a:t>
            </a:r>
          </a:p>
          <a:p>
            <a:r>
              <a:rPr lang="en-US" dirty="0"/>
              <a:t>Components (processes) tightly connected together (</a:t>
            </a:r>
            <a:r>
              <a:rPr lang="en-US" dirty="0" err="1"/>
              <a:t>mpi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37A42-EB49-5B69-2ED2-05D8EB4238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u="sng" dirty="0"/>
              <a:t>Cloud</a:t>
            </a:r>
          </a:p>
          <a:p>
            <a:r>
              <a:rPr lang="en-US" dirty="0"/>
              <a:t>Service abstraction</a:t>
            </a:r>
          </a:p>
          <a:p>
            <a:r>
              <a:rPr lang="en-US" dirty="0"/>
              <a:t>Resources assigned dynamically</a:t>
            </a:r>
          </a:p>
          <a:p>
            <a:r>
              <a:rPr lang="en-US" dirty="0"/>
              <a:t>Components (services) loosely connected (typically a 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9178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551E-5DE3-CED3-6753-4F626A1B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B15DDE-AE7F-BED5-2E1B-35ACB4A557BC}"/>
              </a:ext>
            </a:extLst>
          </p:cNvPr>
          <p:cNvSpPr/>
          <p:nvPr/>
        </p:nvSpPr>
        <p:spPr>
          <a:xfrm>
            <a:off x="-95250" y="-247650"/>
            <a:ext cx="12382500" cy="7353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C1313D-09C6-42ED-6CAA-3A0C70E66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91" y="0"/>
            <a:ext cx="9558239" cy="72088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66D587-933A-DBB8-80FE-67B665287A91}"/>
              </a:ext>
            </a:extLst>
          </p:cNvPr>
          <p:cNvSpPr txBox="1"/>
          <p:nvPr/>
        </p:nvSpPr>
        <p:spPr>
          <a:xfrm>
            <a:off x="287079" y="4816549"/>
            <a:ext cx="43593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Key point:   </a:t>
            </a:r>
            <a:r>
              <a:rPr lang="en-US" sz="3200" dirty="0" err="1">
                <a:solidFill>
                  <a:schemeClr val="bg1"/>
                </a:solidFill>
              </a:rPr>
              <a:t>MsPASS</a:t>
            </a:r>
            <a:r>
              <a:rPr lang="en-US" sz="3200" dirty="0">
                <a:solidFill>
                  <a:schemeClr val="bg1"/>
                </a:solidFill>
              </a:rPr>
              <a:t> is the only existing seismic processing system built for cloud architecture</a:t>
            </a:r>
          </a:p>
        </p:txBody>
      </p:sp>
    </p:spTree>
    <p:extLst>
      <p:ext uri="{BB962C8B-B14F-4D97-AF65-F5344CB8AC3E}">
        <p14:creationId xmlns:p14="http://schemas.microsoft.com/office/powerpoint/2010/main" val="66218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83D747-21B7-BB34-7AC5-435897B1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Key Points: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E2F95-BB16-CB1D-C7E9-F3ED905D1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cloud system everything is abstracted</a:t>
            </a:r>
          </a:p>
          <a:p>
            <a:pPr lvl="1"/>
            <a:r>
              <a:rPr lang="en-US" dirty="0"/>
              <a:t>Processors</a:t>
            </a:r>
          </a:p>
          <a:p>
            <a:pPr lvl="1"/>
            <a:r>
              <a:rPr lang="en-US" dirty="0"/>
              <a:t>Memory use</a:t>
            </a:r>
          </a:p>
          <a:p>
            <a:pPr lvl="1"/>
            <a:r>
              <a:rPr lang="en-US" dirty="0"/>
              <a:t>Services </a:t>
            </a:r>
          </a:p>
          <a:p>
            <a:r>
              <a:rPr lang="en-US" dirty="0"/>
              <a:t>HPC systems are “bare metal” – </a:t>
            </a:r>
            <a:r>
              <a:rPr lang="en-US" dirty="0" err="1"/>
              <a:t>MsPASS</a:t>
            </a:r>
            <a:r>
              <a:rPr lang="en-US" dirty="0"/>
              <a:t> creates the abstraction to make use indistinguishable from that on the cloud or a desktop</a:t>
            </a:r>
          </a:p>
        </p:txBody>
      </p:sp>
    </p:spTree>
    <p:extLst>
      <p:ext uri="{BB962C8B-B14F-4D97-AF65-F5344CB8AC3E}">
        <p14:creationId xmlns:p14="http://schemas.microsoft.com/office/powerpoint/2010/main" val="588070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05EFCB-CB7D-1DB3-10D0-005F2EF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two:   Data Abstraction</a:t>
            </a:r>
          </a:p>
        </p:txBody>
      </p:sp>
    </p:spTree>
    <p:extLst>
      <p:ext uri="{BB962C8B-B14F-4D97-AF65-F5344CB8AC3E}">
        <p14:creationId xmlns:p14="http://schemas.microsoft.com/office/powerpoint/2010/main" val="146246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8D6685-A718-2FF0-21E4-62042D6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6858F-876C-70B0-311C-6203EAC85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your concept of what a “computer file” is?</a:t>
            </a:r>
          </a:p>
          <a:p>
            <a:r>
              <a:rPr lang="en-US" dirty="0"/>
              <a:t>Similarly, what is a “file system” like the </a:t>
            </a:r>
            <a:r>
              <a:rPr lang="en-US" dirty="0" err="1"/>
              <a:t>unix</a:t>
            </a:r>
            <a:r>
              <a:rPr lang="en-US" dirty="0"/>
              <a:t> or windows file system?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2BB51-119B-2F4A-6396-BABEBB24C66E}"/>
              </a:ext>
            </a:extLst>
          </p:cNvPr>
          <p:cNvSpPr txBox="1"/>
          <p:nvPr/>
        </p:nvSpPr>
        <p:spPr>
          <a:xfrm>
            <a:off x="1605516" y="6054816"/>
            <a:ext cx="6794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be using a zoom poll here</a:t>
            </a:r>
          </a:p>
        </p:txBody>
      </p:sp>
    </p:spTree>
    <p:extLst>
      <p:ext uri="{BB962C8B-B14F-4D97-AF65-F5344CB8AC3E}">
        <p14:creationId xmlns:p14="http://schemas.microsoft.com/office/powerpoint/2010/main" val="154176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1E38-30FC-38FD-8676-F8E89DB6F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75D59-E116-3216-254C-10D78D5A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981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collection of digital data stored on an external (to a running program) device (i.e. outside of system main memory)</a:t>
            </a:r>
          </a:p>
          <a:p>
            <a:r>
              <a:rPr lang="en-US" dirty="0"/>
              <a:t>Loaded into system memory through a programming API</a:t>
            </a:r>
          </a:p>
          <a:p>
            <a:pPr lvl="1"/>
            <a:r>
              <a:rPr lang="en-US" dirty="0"/>
              <a:t>Loading of bits is a low-level operation done under the hood in any language</a:t>
            </a:r>
          </a:p>
          <a:p>
            <a:pPr lvl="1"/>
            <a:r>
              <a:rPr lang="en-US" dirty="0"/>
              <a:t>Usually “blocking”</a:t>
            </a:r>
          </a:p>
          <a:p>
            <a:pPr lvl="2"/>
            <a:r>
              <a:rPr lang="en-US" dirty="0"/>
              <a:t>Your program halts until IO operation completes</a:t>
            </a:r>
          </a:p>
          <a:p>
            <a:pPr lvl="2"/>
            <a:r>
              <a:rPr lang="en-US" dirty="0"/>
              <a:t>Operating system lets other process run while your program waits for input/output operation to complete</a:t>
            </a:r>
          </a:p>
          <a:p>
            <a:r>
              <a:rPr lang="en-US" dirty="0"/>
              <a:t>Usually requires a special API to crack the format of the file after staged to memory</a:t>
            </a:r>
          </a:p>
          <a:p>
            <a:pPr lvl="1"/>
            <a:r>
              <a:rPr lang="en-US" dirty="0" err="1"/>
              <a:t>Miniseed</a:t>
            </a:r>
            <a:endParaRPr lang="en-US" dirty="0"/>
          </a:p>
          <a:p>
            <a:pPr lvl="1"/>
            <a:r>
              <a:rPr lang="en-US" dirty="0" err="1"/>
              <a:t>StationXML</a:t>
            </a:r>
            <a:endParaRPr lang="en-US" dirty="0"/>
          </a:p>
          <a:p>
            <a:pPr lvl="1"/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793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70C6-B6C0-5BC3-A7D5-313C8F2E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4F7E-6958-25C0-84EB-920E89920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system for organizing computer files</a:t>
            </a:r>
          </a:p>
          <a:p>
            <a:r>
              <a:rPr lang="en-US" dirty="0"/>
              <a:t>Born from the then new technology of magnetic disks (random access storage)</a:t>
            </a:r>
          </a:p>
          <a:p>
            <a:r>
              <a:rPr lang="en-US" dirty="0"/>
              <a:t>Traditional implementations tightly linked to disk storage</a:t>
            </a:r>
          </a:p>
          <a:p>
            <a:r>
              <a:rPr lang="en-US" dirty="0"/>
              <a:t>Software file system emulators</a:t>
            </a:r>
          </a:p>
          <a:p>
            <a:pPr lvl="1"/>
            <a:r>
              <a:rPr lang="en-US" dirty="0"/>
              <a:t>Necessary evil to handle some hardware – notably large disk arrays</a:t>
            </a:r>
          </a:p>
          <a:p>
            <a:pPr lvl="1"/>
            <a:r>
              <a:rPr lang="en-US" dirty="0"/>
              <a:t>Used for decades – earliest IRIS servers used archival tape storage that simulated a </a:t>
            </a:r>
            <a:r>
              <a:rPr lang="en-US" dirty="0" err="1"/>
              <a:t>unix</a:t>
            </a:r>
            <a:r>
              <a:rPr lang="en-US" dirty="0"/>
              <a:t> file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33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6C60-1BE5-969A-7DC2-6F0A26B0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  Modern HPC Cluster file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1D4F0-2A45-0039-EF55-D981BD90F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Petabyte+ scale disk array found on most HPC clusters</a:t>
            </a:r>
          </a:p>
          <a:p>
            <a:r>
              <a:rPr lang="en-US" dirty="0"/>
              <a:t>Some version of this was used at IRIS Data Center in Seattle that is now being phased out</a:t>
            </a:r>
          </a:p>
          <a:p>
            <a:r>
              <a:rPr lang="en-US" dirty="0"/>
              <a:t>NOT a “</a:t>
            </a:r>
            <a:r>
              <a:rPr lang="en-US" dirty="0" err="1"/>
              <a:t>unix</a:t>
            </a:r>
            <a:r>
              <a:rPr lang="en-US" dirty="0"/>
              <a:t> file” system although the “path” (e.g. /N/scratch/</a:t>
            </a:r>
            <a:r>
              <a:rPr lang="en-US" dirty="0" err="1"/>
              <a:t>pavlis</a:t>
            </a:r>
            <a:r>
              <a:rPr lang="en-US" dirty="0"/>
              <a:t>) looks like a </a:t>
            </a:r>
            <a:r>
              <a:rPr lang="en-US" dirty="0" err="1"/>
              <a:t>unix</a:t>
            </a:r>
            <a:r>
              <a:rPr lang="en-US" dirty="0"/>
              <a:t> file system directory to a program</a:t>
            </a:r>
          </a:p>
          <a:p>
            <a:r>
              <a:rPr lang="en-US" dirty="0"/>
              <a:t>In all cases I know where the data can actually be found is managed by a relational DBMS (File “Metadata”)</a:t>
            </a:r>
          </a:p>
        </p:txBody>
      </p:sp>
    </p:spTree>
    <p:extLst>
      <p:ext uri="{BB962C8B-B14F-4D97-AF65-F5344CB8AC3E}">
        <p14:creationId xmlns:p14="http://schemas.microsoft.com/office/powerpoint/2010/main" val="407106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68D04-67F1-7D74-DC2C-3103D647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I inflict that on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4BFBC-1AB4-BA03-6C4E-E37DFCB64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Important to know that if you are working on a HPC system</a:t>
            </a:r>
          </a:p>
          <a:p>
            <a:pPr lvl="1"/>
            <a:r>
              <a:rPr lang="en-US" dirty="0"/>
              <a:t>Awful performance for large numbers of small files (e.g. SAC data)</a:t>
            </a:r>
          </a:p>
          <a:p>
            <a:pPr lvl="1"/>
            <a:r>
              <a:rPr lang="en-US" dirty="0"/>
              <a:t>You can crash an HPC cluster with excessive file operations</a:t>
            </a:r>
          </a:p>
          <a:p>
            <a:r>
              <a:rPr lang="en-US" dirty="0"/>
              <a:t>Cloud systems</a:t>
            </a:r>
          </a:p>
          <a:p>
            <a:pPr lvl="1"/>
            <a:r>
              <a:rPr lang="en-US" dirty="0"/>
              <a:t>The actual data storage is similar to </a:t>
            </a:r>
            <a:r>
              <a:rPr lang="en-US" dirty="0" err="1"/>
              <a:t>Lustre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binary blobs on giant disk arrays</a:t>
            </a:r>
          </a:p>
          <a:p>
            <a:pPr lvl="2"/>
            <a:r>
              <a:rPr lang="en-US" dirty="0"/>
              <a:t>Treated as “objects” instead of “files”</a:t>
            </a:r>
          </a:p>
          <a:p>
            <a:pPr lvl="1"/>
            <a:r>
              <a:rPr lang="en-US" dirty="0"/>
              <a:t>The API to access that data we will use (S3) does NOT simulate a file system</a:t>
            </a:r>
          </a:p>
          <a:p>
            <a:r>
              <a:rPr lang="en-US" dirty="0"/>
              <a:t>Understanding blocking IO and it impacts on a parallel job is fundamental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06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4015-4AE1-FDDD-375F-72965030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AE741-05D6-E606-BABE-CD4F4FF3F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likely use cloud stores every day with your phone and/or desktop</a:t>
            </a:r>
          </a:p>
          <a:p>
            <a:r>
              <a:rPr lang="en-US" dirty="0"/>
              <a:t>Today’s exercise focused on </a:t>
            </a:r>
            <a:r>
              <a:rPr lang="en-US" dirty="0" err="1"/>
              <a:t>earthscope_sdk</a:t>
            </a:r>
            <a:r>
              <a:rPr lang="en-US" dirty="0"/>
              <a:t> to access waveform archive now being moved to Amazon’s cloud service called “S3”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879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2372-0FF9-AE86-E700-B914FE550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S3 (Simple Storage Service)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230A8-1BD4-E36F-9CBF-626016C4D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understood by examples we will run in a notebook after I finally stop talking</a:t>
            </a:r>
          </a:p>
          <a:p>
            <a:r>
              <a:rPr lang="en-US" dirty="0"/>
              <a:t>Key concepts to take away from the exercise:</a:t>
            </a:r>
          </a:p>
          <a:p>
            <a:pPr lvl="1"/>
            <a:r>
              <a:rPr lang="en-US" dirty="0"/>
              <a:t>Standard python API is a package called boto3</a:t>
            </a:r>
          </a:p>
          <a:p>
            <a:pPr lvl="1"/>
            <a:r>
              <a:rPr lang="en-US" dirty="0"/>
              <a:t>S3 Bucket </a:t>
            </a:r>
            <a:r>
              <a:rPr lang="en-US" dirty="0">
                <a:sym typeface="Wingdings" pitchFamily="2" charset="2"/>
              </a:rPr>
              <a:t> File System</a:t>
            </a:r>
            <a:endParaRPr lang="en-US" dirty="0"/>
          </a:p>
          <a:p>
            <a:pPr lvl="1"/>
            <a:r>
              <a:rPr lang="en-US" dirty="0"/>
              <a:t>Object </a:t>
            </a:r>
            <a:r>
              <a:rPr lang="en-US" dirty="0">
                <a:sym typeface="Wingdings" pitchFamily="2" charset="2"/>
              </a:rPr>
              <a:t> File</a:t>
            </a:r>
          </a:p>
          <a:p>
            <a:pPr lvl="1"/>
            <a:r>
              <a:rPr lang="en-US" dirty="0">
                <a:sym typeface="Wingdings" pitchFamily="2" charset="2"/>
              </a:rPr>
              <a:t>A unique Object (File) is accessed by a unique key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10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A99E95-6F8A-DD2D-2EEA-F3AF9A70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MsPASS</a:t>
            </a:r>
            <a:r>
              <a:rPr lang="en-US" dirty="0"/>
              <a:t> Design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EC2C2-1C43-E8DE-9332-47B8F4728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Was shaped by modern concepts in cloud computing</a:t>
            </a:r>
          </a:p>
          <a:p>
            <a:pPr lvl="1"/>
            <a:r>
              <a:rPr lang="en-US" dirty="0"/>
              <a:t>Service concepts (cluster, </a:t>
            </a:r>
            <a:r>
              <a:rPr lang="en-US" dirty="0" err="1"/>
              <a:t>db</a:t>
            </a:r>
            <a:r>
              <a:rPr lang="en-US" dirty="0"/>
              <a:t>, and frontend services)</a:t>
            </a:r>
          </a:p>
          <a:p>
            <a:pPr lvl="1"/>
            <a:r>
              <a:rPr lang="en-US" dirty="0"/>
              <a:t>Data abstraction (data objects and database reader - Session 1)</a:t>
            </a:r>
          </a:p>
          <a:p>
            <a:pPr lvl="1"/>
            <a:r>
              <a:rPr lang="en-US" dirty="0"/>
              <a:t>Containerized (distributed as docker container)</a:t>
            </a:r>
          </a:p>
          <a:p>
            <a:r>
              <a:rPr lang="en-US" dirty="0"/>
              <a:t>Design allows the exact same package to run on</a:t>
            </a:r>
          </a:p>
          <a:p>
            <a:pPr lvl="1"/>
            <a:r>
              <a:rPr lang="en-US" dirty="0"/>
              <a:t>Desktop</a:t>
            </a:r>
          </a:p>
          <a:p>
            <a:pPr lvl="1"/>
            <a:r>
              <a:rPr lang="en-US" dirty="0"/>
              <a:t>HPC</a:t>
            </a:r>
          </a:p>
          <a:p>
            <a:pPr lvl="1"/>
            <a:r>
              <a:rPr lang="en-US" dirty="0"/>
              <a:t>Cloud (</a:t>
            </a:r>
            <a:r>
              <a:rPr lang="en-US" dirty="0" err="1"/>
              <a:t>GeoLab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85981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340071-5504-1ACC-5DEB-4256885B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dirty="0" err="1"/>
              <a:t>Geolab</a:t>
            </a:r>
            <a:r>
              <a:rPr lang="en-US" dirty="0"/>
              <a:t> Notebook – Session3.ipynb</a:t>
            </a:r>
          </a:p>
        </p:txBody>
      </p:sp>
    </p:spTree>
    <p:extLst>
      <p:ext uri="{BB962C8B-B14F-4D97-AF65-F5344CB8AC3E}">
        <p14:creationId xmlns:p14="http://schemas.microsoft.com/office/powerpoint/2010/main" val="824178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95994D-9FF9-6FA4-DF47-A9A264A0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prototype and Possible Solutions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38D54-F40D-7831-0394-091858EC74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600" u="sng" dirty="0"/>
              <a:t>Issues</a:t>
            </a:r>
          </a:p>
          <a:p>
            <a:r>
              <a:rPr lang="en-US" dirty="0" err="1"/>
              <a:t>GeoLab</a:t>
            </a:r>
            <a:r>
              <a:rPr lang="en-US" dirty="0"/>
              <a:t> storage limit</a:t>
            </a:r>
          </a:p>
          <a:p>
            <a:r>
              <a:rPr lang="en-US" dirty="0"/>
              <a:t>Resource limit (GB-hour metric)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659FDD-D424-486B-39A2-45A63EA39D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u="sng" dirty="0"/>
              <a:t>Possible solutions</a:t>
            </a:r>
          </a:p>
          <a:p>
            <a:r>
              <a:rPr lang="en-US" dirty="0"/>
              <a:t>Pay for your own S3 bucket for output (TANSTFL)</a:t>
            </a:r>
          </a:p>
          <a:p>
            <a:r>
              <a:rPr lang="en-US" dirty="0"/>
              <a:t>Pay for additional processor time (TANSTFL)</a:t>
            </a:r>
          </a:p>
          <a:p>
            <a:r>
              <a:rPr lang="en-US" dirty="0"/>
              <a:t>Set up lambda service</a:t>
            </a:r>
          </a:p>
          <a:p>
            <a:pPr lvl="1"/>
            <a:r>
              <a:rPr lang="en-US" dirty="0"/>
              <a:t>See our 2025 paper with link on Moodle</a:t>
            </a:r>
          </a:p>
          <a:p>
            <a:pPr lvl="1"/>
            <a:r>
              <a:rPr lang="en-US" dirty="0"/>
              <a:t>Very inexpensive (free currently possible) for modest performance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8509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371224-F662-D34A-D744-BF5E248D9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7" y="487049"/>
            <a:ext cx="7772400" cy="63709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8AD91-CA3C-F72C-91D6-06E66B7F533C}"/>
              </a:ext>
            </a:extLst>
          </p:cNvPr>
          <p:cNvSpPr txBox="1"/>
          <p:nvPr/>
        </p:nvSpPr>
        <p:spPr>
          <a:xfrm>
            <a:off x="2313709" y="0"/>
            <a:ext cx="7980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 Flow Diagram for using AWS Lambda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0C410-8A83-1B79-7FCB-85B640CCF9B7}"/>
              </a:ext>
            </a:extLst>
          </p:cNvPr>
          <p:cNvSpPr txBox="1"/>
          <p:nvPr/>
        </p:nvSpPr>
        <p:spPr>
          <a:xfrm>
            <a:off x="4593265" y="6071194"/>
            <a:ext cx="342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From Mohapatra et al (2025) – reprint on </a:t>
            </a:r>
            <a:r>
              <a:rPr lang="en-US" dirty="0" err="1">
                <a:solidFill>
                  <a:schemeClr val="bg1"/>
                </a:solidFill>
              </a:rPr>
              <a:t>moodle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FB4CB-6C91-EBC6-82DF-2E83C65CDB47}"/>
              </a:ext>
            </a:extLst>
          </p:cNvPr>
          <p:cNvSpPr txBox="1"/>
          <p:nvPr/>
        </p:nvSpPr>
        <p:spPr>
          <a:xfrm>
            <a:off x="8016950" y="1477926"/>
            <a:ext cx="405100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Key points: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prototype you ran should work to drive a lambda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could run the left hand box on your local system</a:t>
            </a:r>
          </a:p>
        </p:txBody>
      </p:sp>
    </p:spTree>
    <p:extLst>
      <p:ext uri="{BB962C8B-B14F-4D97-AF65-F5344CB8AC3E}">
        <p14:creationId xmlns:p14="http://schemas.microsoft.com/office/powerpoint/2010/main" val="1698229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0EAD17-1D40-E738-EAF0-749ACB8E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/>
              <a:t>Earthscope</a:t>
            </a:r>
            <a:r>
              <a:rPr lang="en-US" dirty="0"/>
              <a:t> Data Services Cloud Plans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Chad Trabant</a:t>
            </a:r>
          </a:p>
        </p:txBody>
      </p:sp>
    </p:spTree>
    <p:extLst>
      <p:ext uri="{BB962C8B-B14F-4D97-AF65-F5344CB8AC3E}">
        <p14:creationId xmlns:p14="http://schemas.microsoft.com/office/powerpoint/2010/main" val="4035298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C5448A-374C-BFEB-8D76-B3A459A2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Topics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A4B8E-E6DD-53B4-B3C0-F30F3DA3E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Final Project:   Instructions on Moodle</a:t>
            </a:r>
          </a:p>
          <a:p>
            <a:pPr lvl="1"/>
            <a:r>
              <a:rPr lang="en-US" dirty="0"/>
              <a:t>Don’t take on too much</a:t>
            </a:r>
          </a:p>
          <a:p>
            <a:pPr lvl="2"/>
            <a:r>
              <a:rPr lang="en-US" dirty="0"/>
              <a:t>Demonstrate independent application of </a:t>
            </a:r>
            <a:r>
              <a:rPr lang="en-US" dirty="0" err="1"/>
              <a:t>MsPASS</a:t>
            </a:r>
            <a:r>
              <a:rPr lang="en-US" dirty="0"/>
              <a:t> and/or</a:t>
            </a:r>
          </a:p>
          <a:p>
            <a:pPr lvl="2"/>
            <a:r>
              <a:rPr lang="en-US" dirty="0"/>
              <a:t>Demonstrate from words and coding you grasp one or more key concepts from the class</a:t>
            </a:r>
          </a:p>
          <a:p>
            <a:pPr lvl="1"/>
            <a:r>
              <a:rPr lang="en-US" dirty="0"/>
              <a:t>Defining problem and some prototyping is good enough for certificate</a:t>
            </a:r>
          </a:p>
          <a:p>
            <a:pPr lvl="1"/>
            <a:r>
              <a:rPr lang="en-US" dirty="0"/>
              <a:t>Plenty of time – Aug 15 deadline </a:t>
            </a:r>
          </a:p>
          <a:p>
            <a:pPr lvl="1"/>
            <a:r>
              <a:rPr lang="en-US" dirty="0"/>
              <a:t> I am willing help you continue after Aug 15 to take help you in your research</a:t>
            </a:r>
          </a:p>
          <a:p>
            <a:pPr lvl="1"/>
            <a:r>
              <a:rPr lang="en-US" dirty="0"/>
              <a:t>Use your favorite AI to help you – that is not only fair but recommended with </a:t>
            </a:r>
            <a:r>
              <a:rPr lang="en-US" dirty="0" err="1"/>
              <a:t>MsPASS</a:t>
            </a:r>
            <a:endParaRPr lang="en-US" dirty="0"/>
          </a:p>
          <a:p>
            <a:pPr lvl="1"/>
            <a:r>
              <a:rPr lang="en-US" dirty="0"/>
              <a:t>Use email to </a:t>
            </a:r>
            <a:r>
              <a:rPr lang="en-US" dirty="0">
                <a:hlinkClick r:id="rId2"/>
              </a:rPr>
              <a:t>Pavlis@iu.edu</a:t>
            </a:r>
            <a:r>
              <a:rPr lang="en-US" dirty="0"/>
              <a:t> as I my monitoring of slack is </a:t>
            </a:r>
            <a:r>
              <a:rPr lang="en-US" dirty="0" err="1"/>
              <a:t>sporatic</a:t>
            </a:r>
            <a:r>
              <a:rPr lang="en-US" dirty="0"/>
              <a:t> after the class is over</a:t>
            </a:r>
          </a:p>
          <a:p>
            <a:r>
              <a:rPr lang="en-US" dirty="0"/>
              <a:t>Certification deadline:  Aug 15 (complete all Moodle exercises by then)</a:t>
            </a:r>
          </a:p>
          <a:p>
            <a:r>
              <a:rPr lang="en-US" dirty="0"/>
              <a:t>Cleanup your debris before leaving for last time:  </a:t>
            </a:r>
            <a:r>
              <a:rPr lang="en-US" dirty="0" err="1"/>
              <a:t>GeoLab</a:t>
            </a:r>
            <a:r>
              <a:rPr lang="en-US" dirty="0"/>
              <a:t> notebook file “</a:t>
            </a:r>
            <a:r>
              <a:rPr lang="en-US" dirty="0" err="1"/>
              <a:t>Housecleaning.ipynb</a:t>
            </a:r>
            <a:r>
              <a:rPr lang="en-US" dirty="0"/>
              <a:t>”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46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F48F-26BC-5EF3-DF63-682AE9A073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Discussion and Review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84F19-A40C-2787-4273-AF93BFCFE0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30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2A9CFB-40EE-917C-59D3-9ABE1228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Material:   keep in presentation but used only if needed for discussions</a:t>
            </a:r>
          </a:p>
        </p:txBody>
      </p:sp>
    </p:spTree>
    <p:extLst>
      <p:ext uri="{BB962C8B-B14F-4D97-AF65-F5344CB8AC3E}">
        <p14:creationId xmlns:p14="http://schemas.microsoft.com/office/powerpoint/2010/main" val="1393496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9FC6-AADF-5676-43A9-8A6F976C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Hard Disk Speeds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3D6FD1-8EEF-A440-F6B9-E1DB6E690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104" y="1825625"/>
            <a:ext cx="1034979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B89EF3-3749-7E79-4E61-4392A2A746B4}"/>
              </a:ext>
            </a:extLst>
          </p:cNvPr>
          <p:cNvSpPr txBox="1"/>
          <p:nvPr/>
        </p:nvSpPr>
        <p:spPr>
          <a:xfrm>
            <a:off x="2792627" y="6176963"/>
            <a:ext cx="788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/wiki/IOPS</a:t>
            </a:r>
          </a:p>
        </p:txBody>
      </p:sp>
    </p:spTree>
    <p:extLst>
      <p:ext uri="{BB962C8B-B14F-4D97-AF65-F5344CB8AC3E}">
        <p14:creationId xmlns:p14="http://schemas.microsoft.com/office/powerpoint/2010/main" val="2367568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FD95-AD13-A7AA-05AB-D271C4A09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61967"/>
            <a:ext cx="9905998" cy="1478570"/>
          </a:xfrm>
        </p:spPr>
        <p:txBody>
          <a:bodyPr/>
          <a:lstStyle/>
          <a:p>
            <a:r>
              <a:rPr lang="en-US" dirty="0"/>
              <a:t>Solid State Disk (SSD) speeds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5C4D3-8414-7A7A-9B7B-C08A5CC55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8397" y="1309816"/>
            <a:ext cx="8458765" cy="48671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CD6C64-52F0-F500-61AF-8EA165886025}"/>
              </a:ext>
            </a:extLst>
          </p:cNvPr>
          <p:cNvSpPr txBox="1"/>
          <p:nvPr/>
        </p:nvSpPr>
        <p:spPr>
          <a:xfrm>
            <a:off x="1786270" y="6337005"/>
            <a:ext cx="680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/wiki/IOPS</a:t>
            </a:r>
          </a:p>
        </p:txBody>
      </p:sp>
    </p:spTree>
    <p:extLst>
      <p:ext uri="{BB962C8B-B14F-4D97-AF65-F5344CB8AC3E}">
        <p14:creationId xmlns:p14="http://schemas.microsoft.com/office/powerpoint/2010/main" val="1953396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7FBE5D-AE9E-258E-D591-5D7ECDCC71FF}"/>
              </a:ext>
            </a:extLst>
          </p:cNvPr>
          <p:cNvSpPr txBox="1"/>
          <p:nvPr/>
        </p:nvSpPr>
        <p:spPr>
          <a:xfrm>
            <a:off x="1212112" y="318977"/>
            <a:ext cx="8335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Storage Device Transfer Speeds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C2984-E217-FBDD-88AE-554C00982EF5}"/>
              </a:ext>
            </a:extLst>
          </p:cNvPr>
          <p:cNvSpPr txBox="1"/>
          <p:nvPr/>
        </p:nvSpPr>
        <p:spPr>
          <a:xfrm>
            <a:off x="10019442" y="2098148"/>
            <a:ext cx="129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1000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D07371-E518-9966-6ED7-20D2FABD7FD9}"/>
              </a:ext>
            </a:extLst>
          </p:cNvPr>
          <p:cNvGrpSpPr/>
          <p:nvPr/>
        </p:nvGrpSpPr>
        <p:grpSpPr>
          <a:xfrm>
            <a:off x="1488558" y="1435394"/>
            <a:ext cx="9016409" cy="1158949"/>
            <a:chOff x="1488558" y="2615609"/>
            <a:chExt cx="9016409" cy="115894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D91C20-2F6A-A037-DD05-9E3C6E70D55B}"/>
                </a:ext>
              </a:extLst>
            </p:cNvPr>
            <p:cNvCxnSpPr/>
            <p:nvPr/>
          </p:nvCxnSpPr>
          <p:spPr>
            <a:xfrm>
              <a:off x="1658679" y="3774558"/>
              <a:ext cx="8846288" cy="0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EB1C68-7A91-3A7E-1E5B-DB6292232C29}"/>
                </a:ext>
              </a:extLst>
            </p:cNvPr>
            <p:cNvSpPr txBox="1"/>
            <p:nvPr/>
          </p:nvSpPr>
          <p:spPr>
            <a:xfrm>
              <a:off x="1488558" y="3267736"/>
              <a:ext cx="7442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0.1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D1D13D-9BD3-5CF3-ED7C-EC055A5C471E}"/>
                </a:ext>
              </a:extLst>
            </p:cNvPr>
            <p:cNvSpPr txBox="1"/>
            <p:nvPr/>
          </p:nvSpPr>
          <p:spPr>
            <a:xfrm>
              <a:off x="3437867" y="3329291"/>
              <a:ext cx="1318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E4BD97-F67C-D15B-199E-2D7D4747AA81}"/>
                </a:ext>
              </a:extLst>
            </p:cNvPr>
            <p:cNvSpPr txBox="1"/>
            <p:nvPr/>
          </p:nvSpPr>
          <p:spPr>
            <a:xfrm>
              <a:off x="5961334" y="3329291"/>
              <a:ext cx="8399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9AE355-B5D0-E163-B3AD-745AAC2A3472}"/>
                </a:ext>
              </a:extLst>
            </p:cNvPr>
            <p:cNvSpPr txBox="1"/>
            <p:nvPr/>
          </p:nvSpPr>
          <p:spPr>
            <a:xfrm>
              <a:off x="8006336" y="3329291"/>
              <a:ext cx="808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1132F1-DBD6-4170-D176-7AA52518D752}"/>
                </a:ext>
              </a:extLst>
            </p:cNvPr>
            <p:cNvSpPr txBox="1"/>
            <p:nvPr/>
          </p:nvSpPr>
          <p:spPr>
            <a:xfrm>
              <a:off x="3795823" y="2615609"/>
              <a:ext cx="44018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Transfer rate (MB/s)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32D8987-55B4-A81C-8178-19ADC6BA1722}"/>
              </a:ext>
            </a:extLst>
          </p:cNvPr>
          <p:cNvSpPr txBox="1"/>
          <p:nvPr/>
        </p:nvSpPr>
        <p:spPr>
          <a:xfrm>
            <a:off x="1860697" y="2860155"/>
            <a:ext cx="157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 service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374899-5F96-8139-6832-50F7E7B07162}"/>
              </a:ext>
            </a:extLst>
          </p:cNvPr>
          <p:cNvSpPr txBox="1"/>
          <p:nvPr/>
        </p:nvSpPr>
        <p:spPr>
          <a:xfrm>
            <a:off x="3732025" y="2860155"/>
            <a:ext cx="1913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haul internet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E14FB1-E25B-16BA-3FB0-6ED703EAAE39}"/>
              </a:ext>
            </a:extLst>
          </p:cNvPr>
          <p:cNvSpPr txBox="1"/>
          <p:nvPr/>
        </p:nvSpPr>
        <p:spPr>
          <a:xfrm>
            <a:off x="6315740" y="2860155"/>
            <a:ext cx="1881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Magnetic disks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E9A595-8FCA-9CAD-D85E-EFE163C6DDA7}"/>
              </a:ext>
            </a:extLst>
          </p:cNvPr>
          <p:cNvSpPr txBox="1"/>
          <p:nvPr/>
        </p:nvSpPr>
        <p:spPr>
          <a:xfrm>
            <a:off x="9516144" y="2860155"/>
            <a:ext cx="2679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Solid State Disks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BF92D-6287-A0DB-105B-9EED799EF75A}"/>
              </a:ext>
            </a:extLst>
          </p:cNvPr>
          <p:cNvSpPr txBox="1"/>
          <p:nvPr/>
        </p:nvSpPr>
        <p:spPr>
          <a:xfrm>
            <a:off x="1541725" y="4308815"/>
            <a:ext cx="93141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Discussion points: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human perception of time is not logarithmic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Consider time to copy 1 TB (10</a:t>
            </a:r>
            <a:r>
              <a:rPr lang="en-US" sz="3200" baseline="30000" dirty="0"/>
              <a:t>12</a:t>
            </a:r>
            <a:r>
              <a:rPr lang="en-US" sz="3200" dirty="0"/>
              <a:t>) of data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890E5C-8190-5506-D0D9-30506ED3D543}"/>
              </a:ext>
            </a:extLst>
          </p:cNvPr>
          <p:cNvCxnSpPr/>
          <p:nvPr/>
        </p:nvCxnSpPr>
        <p:spPr>
          <a:xfrm>
            <a:off x="3795823" y="3519377"/>
            <a:ext cx="42105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054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7CDB-D9CB-439F-E96C-1740B6D7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25AE7A-5390-4726-FB23-E1C54E7EB806}"/>
              </a:ext>
            </a:extLst>
          </p:cNvPr>
          <p:cNvSpPr txBox="1"/>
          <p:nvPr/>
        </p:nvSpPr>
        <p:spPr>
          <a:xfrm>
            <a:off x="1212112" y="318977"/>
            <a:ext cx="8335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Latency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A5720-E089-A5A1-2E14-9F48878799EC}"/>
              </a:ext>
            </a:extLst>
          </p:cNvPr>
          <p:cNvSpPr txBox="1"/>
          <p:nvPr/>
        </p:nvSpPr>
        <p:spPr>
          <a:xfrm>
            <a:off x="8512589" y="2290804"/>
            <a:ext cx="129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F656CF-6C97-2A02-0CE0-23521DF74127}"/>
              </a:ext>
            </a:extLst>
          </p:cNvPr>
          <p:cNvCxnSpPr>
            <a:cxnSpLocks/>
          </p:cNvCxnSpPr>
          <p:nvPr/>
        </p:nvCxnSpPr>
        <p:spPr>
          <a:xfrm>
            <a:off x="1039549" y="2992496"/>
            <a:ext cx="10301611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B045EE-663F-DA0D-EAFF-2788E600EB73}"/>
              </a:ext>
            </a:extLst>
          </p:cNvPr>
          <p:cNvSpPr txBox="1"/>
          <p:nvPr/>
        </p:nvSpPr>
        <p:spPr>
          <a:xfrm>
            <a:off x="869428" y="2290804"/>
            <a:ext cx="1124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0.01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A7BF2B-5859-FA38-6C1C-A4D54F01B664}"/>
              </a:ext>
            </a:extLst>
          </p:cNvPr>
          <p:cNvSpPr txBox="1"/>
          <p:nvPr/>
        </p:nvSpPr>
        <p:spPr>
          <a:xfrm>
            <a:off x="2881607" y="2352359"/>
            <a:ext cx="1318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CBEA47-8026-B839-90DF-B66659ED314D}"/>
              </a:ext>
            </a:extLst>
          </p:cNvPr>
          <p:cNvSpPr txBox="1"/>
          <p:nvPr/>
        </p:nvSpPr>
        <p:spPr>
          <a:xfrm>
            <a:off x="5088210" y="2352359"/>
            <a:ext cx="839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33D3AD-48EB-5D40-95F9-3A485B6B83BD}"/>
              </a:ext>
            </a:extLst>
          </p:cNvPr>
          <p:cNvSpPr txBox="1"/>
          <p:nvPr/>
        </p:nvSpPr>
        <p:spPr>
          <a:xfrm>
            <a:off x="6816348" y="2352359"/>
            <a:ext cx="80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26E21B-E179-693E-0927-F2ABAEA0F742}"/>
              </a:ext>
            </a:extLst>
          </p:cNvPr>
          <p:cNvSpPr txBox="1"/>
          <p:nvPr/>
        </p:nvSpPr>
        <p:spPr>
          <a:xfrm>
            <a:off x="4345924" y="1653667"/>
            <a:ext cx="4401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Latency (</a:t>
            </a:r>
            <a:r>
              <a:rPr lang="en-US" sz="2800" dirty="0" err="1"/>
              <a:t>ms</a:t>
            </a:r>
            <a:r>
              <a:rPr lang="en-US" sz="2800" dirty="0"/>
              <a:t>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EF938C-3105-512B-2372-1B2CA7690903}"/>
              </a:ext>
            </a:extLst>
          </p:cNvPr>
          <p:cNvCxnSpPr/>
          <p:nvPr/>
        </p:nvCxnSpPr>
        <p:spPr>
          <a:xfrm>
            <a:off x="3795823" y="3519377"/>
            <a:ext cx="42105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240A6F-9E30-D4CF-B488-7617EC37743C}"/>
              </a:ext>
            </a:extLst>
          </p:cNvPr>
          <p:cNvSpPr txBox="1"/>
          <p:nvPr/>
        </p:nvSpPr>
        <p:spPr>
          <a:xfrm>
            <a:off x="1488558" y="6008914"/>
            <a:ext cx="9255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Useful source:   </a:t>
            </a:r>
            <a:r>
              <a:rPr lang="en-US" dirty="0">
                <a:hlinkClick r:id="rId2"/>
              </a:rPr>
              <a:t>https://planetscale.com/blog/io-devices-and-latency</a:t>
            </a:r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001D-ECFB-1BD9-C030-7F202970B7B7}"/>
              </a:ext>
            </a:extLst>
          </p:cNvPr>
          <p:cNvSpPr txBox="1"/>
          <p:nvPr/>
        </p:nvSpPr>
        <p:spPr>
          <a:xfrm>
            <a:off x="10694358" y="2290804"/>
            <a:ext cx="129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76EC2-3760-2149-7BFE-3AAC8CDA7A26}"/>
              </a:ext>
            </a:extLst>
          </p:cNvPr>
          <p:cNvSpPr txBox="1"/>
          <p:nvPr/>
        </p:nvSpPr>
        <p:spPr>
          <a:xfrm>
            <a:off x="1234419" y="3267856"/>
            <a:ext cx="1842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SSD Disk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7DAB44-2A21-2937-F7FC-4DDFB139CCE6}"/>
              </a:ext>
            </a:extLst>
          </p:cNvPr>
          <p:cNvSpPr txBox="1"/>
          <p:nvPr/>
        </p:nvSpPr>
        <p:spPr>
          <a:xfrm>
            <a:off x="3222885" y="3267856"/>
            <a:ext cx="1603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SATA disks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2710FC-AE10-446B-5B1F-F420F2BC8AFB}"/>
              </a:ext>
            </a:extLst>
          </p:cNvPr>
          <p:cNvSpPr txBox="1"/>
          <p:nvPr/>
        </p:nvSpPr>
        <p:spPr>
          <a:xfrm>
            <a:off x="5380073" y="3267856"/>
            <a:ext cx="3132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Stock magnetic disks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97DAC5-3B92-089E-E5E2-27E156D4F739}"/>
              </a:ext>
            </a:extLst>
          </p:cNvPr>
          <p:cNvSpPr txBox="1"/>
          <p:nvPr/>
        </p:nvSpPr>
        <p:spPr>
          <a:xfrm>
            <a:off x="4964755" y="4288274"/>
            <a:ext cx="1236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Local</a:t>
            </a:r>
          </a:p>
          <a:p>
            <a:pPr algn="ctr"/>
            <a:r>
              <a:rPr lang="en-US" sz="2400" dirty="0"/>
              <a:t>Network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75943B-C3DA-721F-F031-EB4499BF1115}"/>
              </a:ext>
            </a:extLst>
          </p:cNvPr>
          <p:cNvSpPr txBox="1"/>
          <p:nvPr/>
        </p:nvSpPr>
        <p:spPr>
          <a:xfrm>
            <a:off x="7495077" y="4467072"/>
            <a:ext cx="973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WAN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2D772B2-E618-8C4D-3629-B260FCBDA3FD}"/>
              </a:ext>
            </a:extLst>
          </p:cNvPr>
          <p:cNvGrpSpPr/>
          <p:nvPr/>
        </p:nvGrpSpPr>
        <p:grpSpPr>
          <a:xfrm>
            <a:off x="10613032" y="3267856"/>
            <a:ext cx="1281376" cy="2230314"/>
            <a:chOff x="10193311" y="3267856"/>
            <a:chExt cx="1281376" cy="223031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75ACF8-7C85-3673-F7BC-3BF019709747}"/>
                </a:ext>
              </a:extLst>
            </p:cNvPr>
            <p:cNvSpPr txBox="1"/>
            <p:nvPr/>
          </p:nvSpPr>
          <p:spPr>
            <a:xfrm>
              <a:off x="10193311" y="3928510"/>
              <a:ext cx="128137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boto3</a:t>
              </a:r>
            </a:p>
            <a:p>
              <a:pPr algn="ctr"/>
              <a:r>
                <a:rPr lang="en-US" sz="2400" dirty="0"/>
                <a:t>Day File </a:t>
              </a:r>
            </a:p>
            <a:p>
              <a:pPr algn="ctr"/>
              <a:r>
                <a:rPr lang="en-US" sz="2400" dirty="0"/>
                <a:t>Transfer</a:t>
              </a:r>
            </a:p>
            <a:p>
              <a:pPr algn="ctr"/>
              <a:r>
                <a:rPr lang="en-US" sz="2400" dirty="0"/>
                <a:t>Time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26B03A2-E298-FA11-0D04-01163774B9BD}"/>
                </a:ext>
              </a:extLst>
            </p:cNvPr>
            <p:cNvCxnSpPr>
              <a:stCxn id="26" idx="0"/>
            </p:cNvCxnSpPr>
            <p:nvPr/>
          </p:nvCxnSpPr>
          <p:spPr>
            <a:xfrm flipV="1">
              <a:off x="10833999" y="3267856"/>
              <a:ext cx="0" cy="66065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52D82E1-D00A-1426-F210-D191F2D5F8E8}"/>
              </a:ext>
            </a:extLst>
          </p:cNvPr>
          <p:cNvSpPr txBox="1"/>
          <p:nvPr/>
        </p:nvSpPr>
        <p:spPr>
          <a:xfrm>
            <a:off x="5174615" y="3852475"/>
            <a:ext cx="283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Internet ping times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36CD9AE-3E4A-3467-1A8D-CCDE6F1E8ABE}"/>
              </a:ext>
            </a:extLst>
          </p:cNvPr>
          <p:cNvCxnSpPr/>
          <p:nvPr/>
        </p:nvCxnSpPr>
        <p:spPr>
          <a:xfrm>
            <a:off x="7220385" y="4467072"/>
            <a:ext cx="2585809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3675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8F885A-68DA-A82C-C90D-281CCE03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example comparison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829109-2071-9FA6-E0C3-8E51DBE1D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4329" y="2238853"/>
            <a:ext cx="4878389" cy="72763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Python Example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6DA5B-9C3D-1A0A-F9EB-CBA1C4006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1462" y="2249486"/>
            <a:ext cx="7322288" cy="3541714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S3 boto3 equivalent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DC096-BDA0-B546-86D5-A5F95DD6FC36}"/>
              </a:ext>
            </a:extLst>
          </p:cNvPr>
          <p:cNvSpPr txBox="1"/>
          <p:nvPr/>
        </p:nvSpPr>
        <p:spPr>
          <a:xfrm>
            <a:off x="5550200" y="2977116"/>
            <a:ext cx="6549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 = s3client.get_object(Bucket=</a:t>
            </a:r>
            <a:r>
              <a:rPr lang="en-US" dirty="0" err="1"/>
              <a:t>bucket,Key</a:t>
            </a:r>
            <a:r>
              <a:rPr lang="en-US" dirty="0"/>
              <a:t>=s3key)</a:t>
            </a:r>
          </a:p>
          <a:p>
            <a:r>
              <a:rPr lang="en-US" dirty="0" err="1"/>
              <a:t>mseed_content</a:t>
            </a:r>
            <a:r>
              <a:rPr lang="en-US" dirty="0"/>
              <a:t>=obj["Body"].read()</a:t>
            </a:r>
          </a:p>
          <a:p>
            <a:r>
              <a:rPr lang="en-US" dirty="0" err="1"/>
              <a:t>st</a:t>
            </a:r>
            <a:r>
              <a:rPr lang="en-US" dirty="0"/>
              <a:t> = </a:t>
            </a:r>
            <a:r>
              <a:rPr lang="en-US" dirty="0" err="1"/>
              <a:t>obspy.read</a:t>
            </a:r>
            <a:r>
              <a:rPr lang="en-US" dirty="0"/>
              <a:t>(</a:t>
            </a:r>
            <a:r>
              <a:rPr lang="en-US" dirty="0" err="1"/>
              <a:t>io.BytesIO</a:t>
            </a:r>
            <a:r>
              <a:rPr lang="en-US" dirty="0"/>
              <a:t>(</a:t>
            </a:r>
            <a:r>
              <a:rPr lang="en-US" dirty="0" err="1"/>
              <a:t>mseed_content</a:t>
            </a:r>
            <a:r>
              <a:rPr lang="en-US" dirty="0"/>
              <a:t>),format="</a:t>
            </a:r>
            <a:r>
              <a:rPr lang="en-US" dirty="0" err="1"/>
              <a:t>mseed</a:t>
            </a:r>
            <a:r>
              <a:rPr lang="en-US" dirty="0"/>
              <a:t>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385BD-CF38-3C5B-F52E-6B2B9B68D6C6}"/>
              </a:ext>
            </a:extLst>
          </p:cNvPr>
          <p:cNvSpPr txBox="1"/>
          <p:nvPr/>
        </p:nvSpPr>
        <p:spPr>
          <a:xfrm>
            <a:off x="829348" y="2913315"/>
            <a:ext cx="4465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open(</a:t>
            </a:r>
            <a:r>
              <a:rPr lang="en-US" dirty="0" err="1"/>
              <a:t>fname</a:t>
            </a:r>
            <a:r>
              <a:rPr lang="en-US" dirty="0"/>
              <a:t>, mode="</a:t>
            </a:r>
            <a:r>
              <a:rPr lang="en-US" dirty="0" err="1"/>
              <a:t>rb</a:t>
            </a:r>
            <a:r>
              <a:rPr lang="en-US" dirty="0"/>
              <a:t>") as </a:t>
            </a:r>
            <a:r>
              <a:rPr lang="en-US" dirty="0" err="1"/>
              <a:t>fh</a:t>
            </a:r>
            <a:r>
              <a:rPr lang="en-US" dirty="0"/>
              <a:t>:</a:t>
            </a:r>
          </a:p>
          <a:p>
            <a:r>
              <a:rPr lang="en-US" dirty="0"/>
              <a:t>     if </a:t>
            </a:r>
            <a:r>
              <a:rPr lang="en-US" dirty="0" err="1"/>
              <a:t>foff</a:t>
            </a:r>
            <a:r>
              <a:rPr lang="en-US" dirty="0"/>
              <a:t> &gt; 0:</a:t>
            </a:r>
          </a:p>
          <a:p>
            <a:r>
              <a:rPr lang="en-US" dirty="0"/>
              <a:t>          </a:t>
            </a:r>
            <a:r>
              <a:rPr lang="en-US" dirty="0" err="1"/>
              <a:t>fh.seek</a:t>
            </a:r>
            <a:r>
              <a:rPr lang="en-US" dirty="0"/>
              <a:t>(</a:t>
            </a:r>
            <a:r>
              <a:rPr lang="en-US" dirty="0" err="1"/>
              <a:t>foff</a:t>
            </a:r>
            <a:r>
              <a:rPr lang="en-US" dirty="0"/>
              <a:t>)</a:t>
            </a:r>
          </a:p>
          <a:p>
            <a:r>
              <a:rPr lang="en-US" dirty="0"/>
              <a:t>     </a:t>
            </a:r>
            <a:r>
              <a:rPr lang="en-US" dirty="0" err="1"/>
              <a:t>flh</a:t>
            </a:r>
            <a:r>
              <a:rPr lang="en-US" dirty="0"/>
              <a:t> = </a:t>
            </a:r>
            <a:r>
              <a:rPr lang="en-US" dirty="0" err="1"/>
              <a:t>io.BytesIO</a:t>
            </a:r>
            <a:r>
              <a:rPr lang="en-US" dirty="0"/>
              <a:t>(</a:t>
            </a:r>
            <a:r>
              <a:rPr lang="en-US" dirty="0" err="1"/>
              <a:t>fh.read</a:t>
            </a:r>
            <a:r>
              <a:rPr lang="en-US" dirty="0"/>
              <a:t>(</a:t>
            </a:r>
            <a:r>
              <a:rPr lang="en-US" dirty="0" err="1"/>
              <a:t>nbytes</a:t>
            </a:r>
            <a:r>
              <a:rPr lang="en-US" dirty="0"/>
              <a:t>))</a:t>
            </a:r>
          </a:p>
          <a:p>
            <a:r>
              <a:rPr lang="en-US" dirty="0"/>
              <a:t>     </a:t>
            </a:r>
            <a:r>
              <a:rPr lang="en-US" dirty="0" err="1"/>
              <a:t>st</a:t>
            </a:r>
            <a:r>
              <a:rPr lang="en-US" dirty="0"/>
              <a:t> = </a:t>
            </a:r>
            <a:r>
              <a:rPr lang="en-US" dirty="0" err="1"/>
              <a:t>obspy.read</a:t>
            </a:r>
            <a:r>
              <a:rPr lang="en-US" dirty="0"/>
              <a:t>(</a:t>
            </a:r>
            <a:r>
              <a:rPr lang="en-US" dirty="0" err="1"/>
              <a:t>flh</a:t>
            </a:r>
            <a:r>
              <a:rPr lang="en-US" dirty="0"/>
              <a:t>, format=format)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25AF2-ADD1-8D0A-1AB6-6138179BC98E}"/>
              </a:ext>
            </a:extLst>
          </p:cNvPr>
          <p:cNvSpPr txBox="1"/>
          <p:nvPr/>
        </p:nvSpPr>
        <p:spPr>
          <a:xfrm>
            <a:off x="1499191" y="5571460"/>
            <a:ext cx="9803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Discussion:  What limits performance in both cases?</a:t>
            </a:r>
          </a:p>
        </p:txBody>
      </p:sp>
    </p:spTree>
    <p:extLst>
      <p:ext uri="{BB962C8B-B14F-4D97-AF65-F5344CB8AC3E}">
        <p14:creationId xmlns:p14="http://schemas.microsoft.com/office/powerpoint/2010/main" val="38378616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135E28-4197-A255-4419-55C5A7D8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 you should take from discussion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4547A-F654-E182-3940-53D421B25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boto3 “</a:t>
            </a:r>
            <a:r>
              <a:rPr lang="en-US" dirty="0" err="1"/>
              <a:t>get_object</a:t>
            </a:r>
            <a:r>
              <a:rPr lang="en-US" dirty="0"/>
              <a:t>” requires moving binary data into memory</a:t>
            </a:r>
          </a:p>
          <a:p>
            <a:r>
              <a:rPr lang="en-US" dirty="0"/>
              <a:t>Where that data lives matters</a:t>
            </a:r>
          </a:p>
          <a:p>
            <a:pPr lvl="1"/>
            <a:r>
              <a:rPr lang="en-US" dirty="0"/>
              <a:t>If data is local transfer speed can be gigabytes/s</a:t>
            </a:r>
          </a:p>
          <a:p>
            <a:pPr lvl="1"/>
            <a:r>
              <a:rPr lang="en-US" dirty="0"/>
              <a:t>If data is remote band limited by network (1 – 10+ Mb/s) – “long haul internet” problem</a:t>
            </a:r>
          </a:p>
        </p:txBody>
      </p:sp>
    </p:spTree>
    <p:extLst>
      <p:ext uri="{BB962C8B-B14F-4D97-AF65-F5344CB8AC3E}">
        <p14:creationId xmlns:p14="http://schemas.microsoft.com/office/powerpoint/2010/main" val="1210246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7135</TotalTime>
  <Words>1828</Words>
  <Application>Microsoft Macintosh PowerPoint</Application>
  <PresentationFormat>Widescreen</PresentationFormat>
  <Paragraphs>237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Arial</vt:lpstr>
      <vt:lpstr>Tw Cen MT</vt:lpstr>
      <vt:lpstr>Wingdings</vt:lpstr>
      <vt:lpstr>Circuit</vt:lpstr>
      <vt:lpstr>Session 3:  Accessing Earthscope Cloud Store Data with MsPASS</vt:lpstr>
      <vt:lpstr>Questions and comments:  Part 1 – response by me</vt:lpstr>
      <vt:lpstr>Lessons</vt:lpstr>
      <vt:lpstr>Other questions from howework2</vt:lpstr>
      <vt:lpstr>Any others?</vt:lpstr>
      <vt:lpstr>Part 1 of Today:  Ian Wang on Using MsPASS on an HPC cluster</vt:lpstr>
      <vt:lpstr>Cloud Computing Overview</vt:lpstr>
      <vt:lpstr>My take as a Scientist on Cloud Computing</vt:lpstr>
      <vt:lpstr>Concept one:   Processor Abstraction</vt:lpstr>
      <vt:lpstr>What is this?</vt:lpstr>
      <vt:lpstr>Key Points</vt:lpstr>
      <vt:lpstr>How Does This Differ from HPC</vt:lpstr>
      <vt:lpstr>Quick Answer</vt:lpstr>
      <vt:lpstr>HPC versus Cloud Systems (a scientist perspective)</vt:lpstr>
      <vt:lpstr>HPC versus Cloud Software </vt:lpstr>
      <vt:lpstr>PowerPoint Presentation</vt:lpstr>
      <vt:lpstr>Some Key Points:</vt:lpstr>
      <vt:lpstr>Concept two:   Data Abstraction</vt:lpstr>
      <vt:lpstr>Discussion</vt:lpstr>
      <vt:lpstr>Computer File</vt:lpstr>
      <vt:lpstr>File System</vt:lpstr>
      <vt:lpstr>An example:  Modern HPC Cluster file Systems</vt:lpstr>
      <vt:lpstr>Why did I inflict that on you?</vt:lpstr>
      <vt:lpstr>Cloud Storage</vt:lpstr>
      <vt:lpstr>Amazon S3 (Simple Storage Service)</vt:lpstr>
      <vt:lpstr>MsPASS Design</vt:lpstr>
      <vt:lpstr>To Geolab Notebook – Session3.ipynb</vt:lpstr>
      <vt:lpstr>Issues with prototype and Possible Solutions </vt:lpstr>
      <vt:lpstr>PowerPoint Presentation</vt:lpstr>
      <vt:lpstr>Earthscope Data Services Cloud Plans  Chad Trabant</vt:lpstr>
      <vt:lpstr>Closing Topics</vt:lpstr>
      <vt:lpstr>Discussion and Review </vt:lpstr>
      <vt:lpstr>Optional Material:   keep in presentation but used only if needed for discussions</vt:lpstr>
      <vt:lpstr>Mechanical Hard Disk Speeds</vt:lpstr>
      <vt:lpstr>Solid State Disk (SSD) speeds</vt:lpstr>
      <vt:lpstr>PowerPoint Presentation</vt:lpstr>
      <vt:lpstr>PowerPoint Presentation</vt:lpstr>
      <vt:lpstr>Input example comparison</vt:lpstr>
      <vt:lpstr>Key point you should take from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Pavlis, Gary Lee</dc:creator>
  <cp:lastModifiedBy>Pavlis, Gary Lee</cp:lastModifiedBy>
  <cp:revision>54</cp:revision>
  <dcterms:created xsi:type="dcterms:W3CDTF">2025-06-30T09:01:23Z</dcterms:created>
  <dcterms:modified xsi:type="dcterms:W3CDTF">2026-07-17T16:57:29Z</dcterms:modified>
</cp:coreProperties>
</file>