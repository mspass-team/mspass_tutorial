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57" r:id="rId2"/>
    <p:sldId id="428" r:id="rId3"/>
    <p:sldId id="269" r:id="rId4"/>
    <p:sldId id="453" r:id="rId5"/>
    <p:sldId id="441" r:id="rId6"/>
    <p:sldId id="268" r:id="rId7"/>
    <p:sldId id="443" r:id="rId8"/>
    <p:sldId id="438" r:id="rId9"/>
    <p:sldId id="439" r:id="rId10"/>
    <p:sldId id="440" r:id="rId11"/>
    <p:sldId id="432" r:id="rId12"/>
    <p:sldId id="435" r:id="rId13"/>
    <p:sldId id="436" r:id="rId14"/>
    <p:sldId id="429" r:id="rId15"/>
    <p:sldId id="299" r:id="rId16"/>
    <p:sldId id="430" r:id="rId17"/>
    <p:sldId id="258" r:id="rId18"/>
    <p:sldId id="301" r:id="rId19"/>
    <p:sldId id="296" r:id="rId20"/>
    <p:sldId id="302" r:id="rId21"/>
    <p:sldId id="425" r:id="rId22"/>
    <p:sldId id="448" r:id="rId23"/>
    <p:sldId id="264" r:id="rId24"/>
    <p:sldId id="284" r:id="rId25"/>
    <p:sldId id="300" r:id="rId26"/>
    <p:sldId id="426" r:id="rId27"/>
    <p:sldId id="427" r:id="rId28"/>
    <p:sldId id="449" r:id="rId29"/>
    <p:sldId id="450" r:id="rId30"/>
    <p:sldId id="451" r:id="rId31"/>
    <p:sldId id="452" r:id="rId32"/>
    <p:sldId id="454" r:id="rId33"/>
    <p:sldId id="455" r:id="rId34"/>
    <p:sldId id="307" r:id="rId35"/>
    <p:sldId id="444" r:id="rId36"/>
    <p:sldId id="446" r:id="rId37"/>
    <p:sldId id="308" r:id="rId38"/>
    <p:sldId id="309" r:id="rId39"/>
    <p:sldId id="445" r:id="rId40"/>
    <p:sldId id="314" r:id="rId41"/>
    <p:sldId id="311" r:id="rId42"/>
    <p:sldId id="31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4"/>
    <p:restoredTop sz="94707"/>
  </p:normalViewPr>
  <p:slideViewPr>
    <p:cSldViewPr snapToGrid="0">
      <p:cViewPr varScale="1">
        <p:scale>
          <a:sx n="136" d="100"/>
          <a:sy n="136" d="100"/>
        </p:scale>
        <p:origin x="24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64F3B-5C24-7346-93FB-13EDB6EBB64D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126F6-DA57-DA4A-9775-21680B402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5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ddae788ee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ddae788ee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da0f649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da0f649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E5182F3-06C9-A379-FA19-3C96F4FB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da0f64981_0_0:notes">
            <a:extLst>
              <a:ext uri="{FF2B5EF4-FFF2-40B4-BE49-F238E27FC236}">
                <a16:creationId xmlns:a16="http://schemas.microsoft.com/office/drawing/2014/main" id="{5679C77F-145F-0615-DA78-F0DF30BD6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da0f64981_0_0:notes">
            <a:extLst>
              <a:ext uri="{FF2B5EF4-FFF2-40B4-BE49-F238E27FC236}">
                <a16:creationId xmlns:a16="http://schemas.microsoft.com/office/drawing/2014/main" id="{EBF4A590-F486-C792-852D-34DDAB875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55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126F6-DA57-DA4A-9775-21680B4021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6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126F6-DA57-DA4A-9775-21680B40218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10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user manual link and review TOC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126F6-DA57-DA4A-9775-21680B40218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8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7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4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8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3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5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9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5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6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7497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1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7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89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45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957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77EA4-891D-A246-93B2-3B44A5BC8805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ABACF-85C3-044D-8F3A-D0640208E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33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pMreN8dce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cageo.2009.10.00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pass.org/user_manual/algorithms.html" TargetMode="External"/><Relationship Id="rId2" Type="http://schemas.openxmlformats.org/officeDocument/2006/relationships/hyperlink" Target="https://mspass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pas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spass-team/mspass_tutorial" TargetMode="External"/><Relationship Id="rId5" Type="http://schemas.openxmlformats.org/officeDocument/2006/relationships/hyperlink" Target="https://www.mspass.org/cxx_api/mspass.html#mspass-namespace" TargetMode="External"/><Relationship Id="rId4" Type="http://schemas.openxmlformats.org/officeDocument/2006/relationships/hyperlink" Target="https://www.mspass.org/python_api/index.html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pass-team/mspass_tutorial/blob/master/notebooks/mongodb_tutorial.ipynb" TargetMode="External"/><Relationship Id="rId2" Type="http://schemas.openxmlformats.org/officeDocument/2006/relationships/hyperlink" Target="https://www.mspass.org/user_manual/mongodb_and_mspass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83AF-2EB6-9B4C-BAB9-22671AD33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850672"/>
            <a:ext cx="8144134" cy="1373070"/>
          </a:xfrm>
        </p:spPr>
        <p:txBody>
          <a:bodyPr/>
          <a:lstStyle/>
          <a:p>
            <a:pPr algn="ctr"/>
            <a:r>
              <a:rPr lang="en-US" sz="2800" dirty="0"/>
              <a:t>Using </a:t>
            </a:r>
            <a:r>
              <a:rPr lang="en-US" sz="2800" dirty="0" err="1"/>
              <a:t>MsPASS</a:t>
            </a:r>
            <a:r>
              <a:rPr lang="en-US" sz="2800" dirty="0"/>
              <a:t> for Data Processing on HPC and Cloud Systems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Session 1:   Data Management with </a:t>
            </a:r>
            <a:r>
              <a:rPr lang="en-US" sz="2800" dirty="0" err="1"/>
              <a:t>MsPASS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75D36-E10E-7249-950D-12FD29EE1F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Prof. Gary L. </a:t>
            </a:r>
            <a:r>
              <a:rPr lang="en-US" dirty="0" err="1"/>
              <a:t>Pavlis</a:t>
            </a:r>
            <a:endParaRPr lang="en-US" dirty="0"/>
          </a:p>
          <a:p>
            <a:r>
              <a:rPr lang="en-US" dirty="0"/>
              <a:t>Department of Earth and Atmospheric Sciences</a:t>
            </a:r>
          </a:p>
          <a:p>
            <a:r>
              <a:rPr lang="en-US" dirty="0"/>
              <a:t>Indiana University, Bloomington, IN</a:t>
            </a:r>
          </a:p>
        </p:txBody>
      </p:sp>
      <p:pic>
        <p:nvPicPr>
          <p:cNvPr id="4" name="Picture 3" descr="NSF_4-Color_bitmap_Logo.png">
            <a:extLst>
              <a:ext uri="{FF2B5EF4-FFF2-40B4-BE49-F238E27FC236}">
                <a16:creationId xmlns:a16="http://schemas.microsoft.com/office/drawing/2014/main" id="{D4E62C88-2347-F95D-ECA2-105CB7F49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522" y="593671"/>
            <a:ext cx="3358478" cy="337535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756EEA-06AB-619E-095E-54F1EBD4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980" y="5511726"/>
            <a:ext cx="4122020" cy="134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7C6-05DC-E13A-05B9-05C88B51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E9CBB-A6C6-5EEA-57D6-0A97C29D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Gary Pavlis</a:t>
            </a:r>
          </a:p>
          <a:p>
            <a:pPr lvl="1"/>
            <a:r>
              <a:rPr lang="en-US" dirty="0"/>
              <a:t>50-year history in computational seismology</a:t>
            </a:r>
          </a:p>
          <a:p>
            <a:pPr lvl="1"/>
            <a:r>
              <a:rPr lang="en-US" dirty="0"/>
              <a:t>Taught 35 years at Indiana University</a:t>
            </a:r>
          </a:p>
          <a:p>
            <a:pPr lvl="1"/>
            <a:r>
              <a:rPr lang="en-US" dirty="0"/>
              <a:t>Emeritus professor (old, “retired” guy) since 2018</a:t>
            </a:r>
          </a:p>
          <a:p>
            <a:pPr lvl="1"/>
            <a:r>
              <a:rPr lang="en-US" dirty="0"/>
              <a:t>Co-developer of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I am doing all this as a volunteer in service to this community</a:t>
            </a:r>
          </a:p>
        </p:txBody>
      </p:sp>
    </p:spTree>
    <p:extLst>
      <p:ext uri="{BB962C8B-B14F-4D97-AF65-F5344CB8AC3E}">
        <p14:creationId xmlns:p14="http://schemas.microsoft.com/office/powerpoint/2010/main" val="287741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3744000" cy="100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en" dirty="0"/>
              <a:t>Ian Wang</a:t>
            </a:r>
            <a:endParaRPr dirty="0"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373000" y="1007600"/>
            <a:ext cx="11446000" cy="569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95000"/>
              </a:lnSpc>
              <a:buSzPts val="1018"/>
              <a:buNone/>
            </a:pPr>
            <a:r>
              <a:rPr lang="en" sz="2013" b="1" dirty="0"/>
              <a:t>Career path: </a:t>
            </a:r>
            <a:endParaRPr sz="2013" b="1" dirty="0"/>
          </a:p>
          <a:p>
            <a:pPr indent="-415703">
              <a:lnSpc>
                <a:spcPct val="95000"/>
              </a:lnSpc>
              <a:spcBef>
                <a:spcPts val="1600"/>
              </a:spcBef>
              <a:buSzPts val="1310"/>
            </a:pPr>
            <a:r>
              <a:rPr lang="en" sz="1747" dirty="0"/>
              <a:t>Ph.D. @Indiana University, 2017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Postdoc @CREST, 2017 - 2018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Research Associate @TACC, 2018 - now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Manage the HPC P&amp;A Group @TACC, 2022 – 2025</a:t>
            </a:r>
          </a:p>
          <a:p>
            <a:pPr indent="-415703">
              <a:lnSpc>
                <a:spcPct val="95000"/>
              </a:lnSpc>
              <a:buSzPts val="1310"/>
            </a:pPr>
            <a:r>
              <a:rPr lang="en-US" sz="1747" dirty="0"/>
              <a:t>Private industry since 2025</a:t>
            </a:r>
            <a:endParaRPr sz="1747" dirty="0"/>
          </a:p>
          <a:p>
            <a:pPr marL="0" indent="0">
              <a:lnSpc>
                <a:spcPct val="95000"/>
              </a:lnSpc>
              <a:spcBef>
                <a:spcPts val="1600"/>
              </a:spcBef>
              <a:buSzPts val="1018"/>
              <a:buNone/>
            </a:pPr>
            <a:r>
              <a:rPr lang="en" sz="2013" b="1" dirty="0"/>
              <a:t>Coding learning path:</a:t>
            </a:r>
            <a:endParaRPr sz="2013" b="1" dirty="0"/>
          </a:p>
          <a:p>
            <a:pPr indent="-415703">
              <a:lnSpc>
                <a:spcPct val="95000"/>
              </a:lnSpc>
              <a:spcBef>
                <a:spcPts val="1600"/>
              </a:spcBef>
              <a:buSzPts val="1310"/>
            </a:pPr>
            <a:r>
              <a:rPr lang="en" sz="1747" dirty="0"/>
              <a:t>Worked mostly in C++ during Ph.D.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Picked up Python, </a:t>
            </a:r>
            <a:r>
              <a:rPr lang="en" sz="1747" dirty="0" err="1"/>
              <a:t>Matlab</a:t>
            </a:r>
            <a:r>
              <a:rPr lang="en" sz="1747" dirty="0"/>
              <a:t>, and others, too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Learned parallel runtime systems during postdoc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Seismology + HPC @TACC</a:t>
            </a:r>
            <a:endParaRPr sz="1747" dirty="0"/>
          </a:p>
          <a:p>
            <a:pPr marL="0" indent="0">
              <a:lnSpc>
                <a:spcPct val="95000"/>
              </a:lnSpc>
              <a:spcBef>
                <a:spcPts val="1600"/>
              </a:spcBef>
              <a:buSzPts val="1018"/>
              <a:buNone/>
            </a:pPr>
            <a:r>
              <a:rPr lang="en" sz="2013" b="1" dirty="0"/>
              <a:t>Interest in Seismology:</a:t>
            </a:r>
            <a:endParaRPr sz="2013" b="1" dirty="0"/>
          </a:p>
          <a:p>
            <a:pPr indent="-415703">
              <a:lnSpc>
                <a:spcPct val="95000"/>
              </a:lnSpc>
              <a:spcBef>
                <a:spcPts val="1600"/>
              </a:spcBef>
              <a:buSzPts val="1310"/>
            </a:pPr>
            <a:r>
              <a:rPr lang="en" sz="1747" dirty="0"/>
              <a:t>A seismologist since undergrad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Mostly into signal processing and receiver functions during master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Ph.D. work: 3D plane wave migration, 410 and 660 discontinuities, water in the transition zone</a:t>
            </a:r>
            <a:endParaRPr sz="1747" dirty="0"/>
          </a:p>
          <a:p>
            <a:pPr indent="-415703">
              <a:lnSpc>
                <a:spcPct val="95000"/>
              </a:lnSpc>
              <a:buSzPts val="1310"/>
            </a:pPr>
            <a:r>
              <a:rPr lang="en" sz="1747" dirty="0"/>
              <a:t>Currently: seismic data management and processing, profiler, performance monitoring etc. </a:t>
            </a:r>
            <a:endParaRPr sz="1747" dirty="0"/>
          </a:p>
          <a:p>
            <a:pPr marL="0" indent="0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1018"/>
              <a:buNone/>
            </a:pPr>
            <a:endParaRPr sz="1747" dirty="0"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0033" y="345401"/>
            <a:ext cx="2902800" cy="36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11F8-7721-9C47-A437-4B9159F9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would not have been possible without </a:t>
            </a:r>
            <a:r>
              <a:rPr lang="en-US" dirty="0" err="1"/>
              <a:t>Earthscope</a:t>
            </a:r>
            <a:r>
              <a:rPr lang="en-US" dirty="0"/>
              <a:t> staff: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B90E-97F5-4078-F98C-DF87A2FB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Tammy Bravo</a:t>
            </a:r>
          </a:p>
          <a:p>
            <a:r>
              <a:rPr lang="en-US" dirty="0"/>
              <a:t>Melissa Weber</a:t>
            </a:r>
          </a:p>
          <a:p>
            <a:r>
              <a:rPr lang="en-US" dirty="0"/>
              <a:t>Gillian Haberli</a:t>
            </a:r>
          </a:p>
          <a:p>
            <a:r>
              <a:rPr lang="en-US" dirty="0"/>
              <a:t>Sophia </a:t>
            </a:r>
            <a:r>
              <a:rPr lang="en-US" dirty="0" err="1"/>
              <a:t>Parafina</a:t>
            </a:r>
            <a:endParaRPr lang="en-US" dirty="0"/>
          </a:p>
          <a:p>
            <a:r>
              <a:rPr lang="en-US" dirty="0"/>
              <a:t>Chad Trabant</a:t>
            </a:r>
          </a:p>
          <a:p>
            <a:r>
              <a:rPr lang="en-US" dirty="0"/>
              <a:t>Austin </a:t>
            </a:r>
            <a:r>
              <a:rPr lang="en-US" dirty="0" err="1"/>
              <a:t>Ulakovich</a:t>
            </a:r>
            <a:endParaRPr lang="en-US" dirty="0"/>
          </a:p>
          <a:p>
            <a:r>
              <a:rPr lang="en-US" dirty="0"/>
              <a:t>Interns: Asif Ashraf and </a:t>
            </a:r>
            <a:r>
              <a:rPr lang="en-US" dirty="0" err="1"/>
              <a:t>Eshanta</a:t>
            </a:r>
            <a:r>
              <a:rPr lang="en-US" dirty="0"/>
              <a:t> Mishra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26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BFD2-77A8-F48C-E231-181A599F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Business</a:t>
            </a:r>
          </a:p>
        </p:txBody>
      </p:sp>
    </p:spTree>
    <p:extLst>
      <p:ext uri="{BB962C8B-B14F-4D97-AF65-F5344CB8AC3E}">
        <p14:creationId xmlns:p14="http://schemas.microsoft.com/office/powerpoint/2010/main" val="177378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440635" y="136396"/>
            <a:ext cx="7604000" cy="867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EarthScope Digital Credential</a:t>
            </a:r>
            <a:endParaRPr dirty="0"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587233" y="882374"/>
            <a:ext cx="10167499" cy="641589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r>
              <a:rPr lang="en-US" sz="1867" b="1" dirty="0"/>
              <a:t>By completing this course, </a:t>
            </a:r>
          </a:p>
          <a:p>
            <a:r>
              <a:rPr lang="en-US" sz="1867" b="1" dirty="0"/>
              <a:t>you’ll earn a Proficiency-Level Digital Credential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721DF-7AE8-6B56-A956-2116B9583179}"/>
              </a:ext>
            </a:extLst>
          </p:cNvPr>
          <p:cNvSpPr txBox="1"/>
          <p:nvPr/>
        </p:nvSpPr>
        <p:spPr>
          <a:xfrm>
            <a:off x="130925" y="1884737"/>
            <a:ext cx="6984407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it means:</a:t>
            </a:r>
            <a:endParaRPr lang="en-US" sz="2000" dirty="0"/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You’ve completed all required course activities,     earning a grade of 70% or higher on 80% of the     course material.</a:t>
            </a:r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You’ve demonstrated key skills through evaluated    work</a:t>
            </a:r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achievement is verified and shareable</a:t>
            </a:r>
          </a:p>
          <a:p>
            <a:endParaRPr lang="en-US" sz="2000" b="1" dirty="0"/>
          </a:p>
          <a:p>
            <a:r>
              <a:rPr lang="en-US" sz="2000" b="1" dirty="0"/>
              <a:t>Why it matters:</a:t>
            </a:r>
            <a:endParaRPr lang="en-US" sz="2000" dirty="0"/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Showcases your skills on platforms like </a:t>
            </a:r>
            <a:r>
              <a:rPr lang="en-US" sz="2000" b="1" dirty="0"/>
              <a:t>LinkedIn </a:t>
            </a:r>
            <a:r>
              <a:rPr lang="en-US" sz="2000" dirty="0"/>
              <a:t>or     on your </a:t>
            </a:r>
            <a:r>
              <a:rPr lang="en-US" sz="2000" b="1" dirty="0"/>
              <a:t>CV</a:t>
            </a:r>
            <a:endParaRPr lang="en-US" sz="2000" dirty="0"/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Recognizes your applied learning and continued professional growth</a:t>
            </a:r>
          </a:p>
          <a:p>
            <a:pPr marL="685783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Becomes part of your professional learning pathway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85464-488E-D943-F139-D5B15B3EB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332" y="890972"/>
            <a:ext cx="5076669" cy="5975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F91B0A5F-669A-F85C-A6AB-5F2BA119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>
            <a:extLst>
              <a:ext uri="{FF2B5EF4-FFF2-40B4-BE49-F238E27FC236}">
                <a16:creationId xmlns:a16="http://schemas.microsoft.com/office/drawing/2014/main" id="{32A31820-F66A-4453-3044-5393A9C4A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268" y="945793"/>
            <a:ext cx="7604000" cy="867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How to Claim Your Credential</a:t>
            </a:r>
            <a:endParaRPr dirty="0"/>
          </a:p>
        </p:txBody>
      </p:sp>
      <p:sp>
        <p:nvSpPr>
          <p:cNvPr id="172" name="Google Shape;172;p21">
            <a:extLst>
              <a:ext uri="{FF2B5EF4-FFF2-40B4-BE49-F238E27FC236}">
                <a16:creationId xmlns:a16="http://schemas.microsoft.com/office/drawing/2014/main" id="{F0023322-B913-3428-FC1B-83D9CAB95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7233" y="2064040"/>
            <a:ext cx="8746643" cy="5610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67" b="1" dirty="0"/>
              <a:t>Step 1:</a:t>
            </a:r>
            <a:r>
              <a:rPr lang="en-US" sz="1867" dirty="0"/>
              <a:t> After the course ends, you’ll get an email from </a:t>
            </a:r>
            <a:r>
              <a:rPr lang="en-US" sz="1867" b="1" dirty="0" err="1"/>
              <a:t>Credly</a:t>
            </a:r>
            <a:br>
              <a:rPr lang="en-US" sz="1867" dirty="0"/>
            </a:br>
            <a:endParaRPr lang="en-US" sz="1867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67" b="1" dirty="0"/>
              <a:t>Step 2:</a:t>
            </a:r>
            <a:r>
              <a:rPr lang="en-US" sz="1867" dirty="0"/>
              <a:t> Click the link in the email to </a:t>
            </a:r>
            <a:r>
              <a:rPr lang="en-US" sz="1867" b="1" dirty="0"/>
              <a:t>accept your badge</a:t>
            </a:r>
            <a:endParaRPr lang="en-US" sz="1867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867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67" b="1" dirty="0"/>
              <a:t>Step 3:</a:t>
            </a:r>
            <a:r>
              <a:rPr lang="en-US" sz="1867" dirty="0"/>
              <a:t> Add it to your LinkedIn profile, resume, or digital portfolio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867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867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67" b="1" dirty="0"/>
              <a:t>Have questions?</a:t>
            </a:r>
            <a:br>
              <a:rPr lang="en-US" sz="1867" dirty="0"/>
            </a:br>
            <a:r>
              <a:rPr lang="en-US" sz="1867" dirty="0"/>
              <a:t>Email us at courses@earthscope.org</a:t>
            </a:r>
          </a:p>
        </p:txBody>
      </p:sp>
      <p:pic>
        <p:nvPicPr>
          <p:cNvPr id="3" name="Picture 2" descr="A circular sign with text and a grey ribbon&#10;&#10;AI-generated content may be incorrect.">
            <a:extLst>
              <a:ext uri="{FF2B5EF4-FFF2-40B4-BE49-F238E27FC236}">
                <a16:creationId xmlns:a16="http://schemas.microsoft.com/office/drawing/2014/main" id="{6C2C2DED-0F4C-021D-CDDF-C4B2D7102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57" y="2149809"/>
            <a:ext cx="4291980" cy="429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8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9EAF-7259-2216-F23A-5DF5EBD6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Axioms of the modern world: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B144A-ECD4-728D-A945-A4C19566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Everyone is an expert and everyone is an idiot</a:t>
            </a:r>
          </a:p>
          <a:p>
            <a:r>
              <a:rPr lang="en-US" sz="2800" dirty="0"/>
              <a:t>Beware the </a:t>
            </a:r>
            <a:r>
              <a:rPr lang="en-US" sz="2800" dirty="0">
                <a:hlinkClick r:id="rId2"/>
              </a:rPr>
              <a:t>Dunning-Kruger Effect</a:t>
            </a:r>
            <a:r>
              <a:rPr lang="en-US" sz="2800" dirty="0"/>
              <a:t> (video title:  “Why Stupid People Think They’re Smart”)</a:t>
            </a:r>
          </a:p>
          <a:p>
            <a:r>
              <a:rPr lang="en-US" sz="2800" dirty="0"/>
              <a:t>Don’t build your career on expertise in something that can be done by a robot</a:t>
            </a:r>
          </a:p>
        </p:txBody>
      </p:sp>
    </p:spTree>
    <p:extLst>
      <p:ext uri="{BB962C8B-B14F-4D97-AF65-F5344CB8AC3E}">
        <p14:creationId xmlns:p14="http://schemas.microsoft.com/office/powerpoint/2010/main" val="61720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FA39-9B6F-379C-9FF3-158E2A37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corollaries: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8D0784-36BC-2889-A574-2C085C2A39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Expert</a:t>
            </a:r>
          </a:p>
          <a:p>
            <a:r>
              <a:rPr lang="en-US" dirty="0"/>
              <a:t>To be successful you must become an expert in many things</a:t>
            </a:r>
          </a:p>
          <a:p>
            <a:r>
              <a:rPr lang="en-US" dirty="0"/>
              <a:t>Know what you know and realize you know little else</a:t>
            </a:r>
          </a:p>
          <a:p>
            <a:r>
              <a:rPr lang="en-US" dirty="0"/>
              <a:t>You must be a lifelong learner</a:t>
            </a:r>
          </a:p>
          <a:p>
            <a:r>
              <a:rPr lang="en-US" dirty="0"/>
              <a:t>Continue to enroll in courses like this one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B0502-94FE-0A46-9D5C-55B0487A0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Idiot</a:t>
            </a:r>
          </a:p>
          <a:p>
            <a:r>
              <a:rPr lang="en-US" dirty="0"/>
              <a:t>Be patient – remember you are one too</a:t>
            </a:r>
          </a:p>
          <a:p>
            <a:r>
              <a:rPr lang="en-US" dirty="0"/>
              <a:t>Educate them, don’t run them down</a:t>
            </a:r>
          </a:p>
          <a:p>
            <a:r>
              <a:rPr lang="en-US" dirty="0"/>
              <a:t>Preach and live the lesson of the Dunning-Kruger Effect</a:t>
            </a:r>
          </a:p>
        </p:txBody>
      </p:sp>
    </p:spTree>
    <p:extLst>
      <p:ext uri="{BB962C8B-B14F-4D97-AF65-F5344CB8AC3E}">
        <p14:creationId xmlns:p14="http://schemas.microsoft.com/office/powerpoint/2010/main" val="162318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868F-25D8-D222-AD7E-BEFB48BB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corollary 2:  AI and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D9E5-C9EA-B3DB-13E9-35F459B5A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 to use the AI as a tool in your work </a:t>
            </a:r>
          </a:p>
          <a:p>
            <a:r>
              <a:rPr lang="en-US" dirty="0"/>
              <a:t>Avoid becoming an expert in areas the robot can do better</a:t>
            </a:r>
          </a:p>
          <a:p>
            <a:pPr lvl="1"/>
            <a:r>
              <a:rPr lang="en-US" dirty="0"/>
              <a:t>Encyclopedic professor – minutia </a:t>
            </a:r>
          </a:p>
          <a:p>
            <a:pPr lvl="1"/>
            <a:r>
              <a:rPr lang="en-US" dirty="0"/>
              <a:t>Problems dependent on busy work done better by a robot</a:t>
            </a:r>
          </a:p>
          <a:p>
            <a:r>
              <a:rPr lang="en-US" dirty="0"/>
              <a:t>Develop problem solving skills</a:t>
            </a:r>
          </a:p>
          <a:p>
            <a:r>
              <a:rPr lang="en-US" dirty="0"/>
              <a:t>Develop skills in assembling and interpreting information using the AI as a tool</a:t>
            </a:r>
          </a:p>
          <a:p>
            <a:r>
              <a:rPr lang="en-US" dirty="0"/>
              <a:t>Learn to use tools like </a:t>
            </a:r>
            <a:r>
              <a:rPr lang="en-US" dirty="0" err="1"/>
              <a:t>MsPASS</a:t>
            </a:r>
            <a:r>
              <a:rPr lang="en-US" dirty="0"/>
              <a:t> that can exploit the new world</a:t>
            </a:r>
          </a:p>
          <a:p>
            <a:r>
              <a:rPr lang="en-US" dirty="0"/>
              <a:t>Use the AI to hone your programming skills, not to do the work for you</a:t>
            </a:r>
          </a:p>
          <a:p>
            <a:pPr lvl="1"/>
            <a:r>
              <a:rPr lang="en-US" dirty="0"/>
              <a:t>Use AI guidance as a suggestion not gospel truth</a:t>
            </a:r>
          </a:p>
          <a:p>
            <a:pPr lvl="1"/>
            <a:r>
              <a:rPr lang="en-US" dirty="0"/>
              <a:t>An AI is a good teacher for the “how do I …” questions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16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DCB6-6387-5304-0B41-7DFB6BCF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Corollaries: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6576F-17C1-1826-4938-42745526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Ask questions for all the rest of us idiots – highly likely you aren’t alone</a:t>
            </a:r>
          </a:p>
          <a:p>
            <a:r>
              <a:rPr lang="en-US" dirty="0"/>
              <a:t>Use good judgement because you may not know the difference</a:t>
            </a:r>
          </a:p>
          <a:p>
            <a:pPr lvl="1"/>
            <a:r>
              <a:rPr lang="en-US" dirty="0"/>
              <a:t>Your problem may or may not be unique</a:t>
            </a:r>
          </a:p>
          <a:p>
            <a:pPr lvl="1"/>
            <a:r>
              <a:rPr lang="en-US" dirty="0"/>
              <a:t>There are limits to what we can solve remotely</a:t>
            </a:r>
          </a:p>
          <a:p>
            <a:r>
              <a:rPr lang="en-US" dirty="0"/>
              <a:t>Mechanism:</a:t>
            </a:r>
          </a:p>
          <a:p>
            <a:pPr lvl="1"/>
            <a:r>
              <a:rPr lang="en-US" dirty="0"/>
              <a:t>Zoom chat</a:t>
            </a:r>
          </a:p>
          <a:p>
            <a:pPr lvl="1"/>
            <a:r>
              <a:rPr lang="en-US" dirty="0" err="1"/>
              <a:t>Zoomp</a:t>
            </a:r>
            <a:r>
              <a:rPr lang="en-US" dirty="0"/>
              <a:t> poll</a:t>
            </a:r>
          </a:p>
          <a:p>
            <a:pPr lvl="1"/>
            <a:r>
              <a:rPr lang="en-US" dirty="0"/>
              <a:t>Zoom breakouts if needed</a:t>
            </a:r>
          </a:p>
          <a:p>
            <a:pPr lvl="1"/>
            <a:r>
              <a:rPr lang="en-US" dirty="0"/>
              <a:t>Slack</a:t>
            </a:r>
          </a:p>
          <a:p>
            <a:pPr lvl="1"/>
            <a:r>
              <a:rPr lang="en-US" dirty="0"/>
              <a:t>Raise your hand if appropriate – stay muted until recognized</a:t>
            </a:r>
          </a:p>
          <a:p>
            <a:pPr lvl="1"/>
            <a:r>
              <a:rPr lang="en-US" dirty="0"/>
              <a:t>Attend office hour help sessions for personalized help</a:t>
            </a:r>
          </a:p>
        </p:txBody>
      </p:sp>
    </p:spTree>
    <p:extLst>
      <p:ext uri="{BB962C8B-B14F-4D97-AF65-F5344CB8AC3E}">
        <p14:creationId xmlns:p14="http://schemas.microsoft.com/office/powerpoint/2010/main" val="378123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52FF-11F3-2D78-CDDE-2D57FFB2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32718-F35F-E2E8-2EF1-927D4BAD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425434"/>
          </a:xfrm>
        </p:spPr>
        <p:txBody>
          <a:bodyPr/>
          <a:lstStyle/>
          <a:p>
            <a:r>
              <a:rPr lang="en-US" dirty="0"/>
              <a:t>You have listened to the </a:t>
            </a:r>
            <a:r>
              <a:rPr lang="en-US" dirty="0" err="1"/>
              <a:t>precourse</a:t>
            </a:r>
            <a:r>
              <a:rPr lang="en-US" dirty="0"/>
              <a:t> lectures</a:t>
            </a:r>
          </a:p>
          <a:p>
            <a:r>
              <a:rPr lang="en-US" dirty="0"/>
              <a:t>You completed the </a:t>
            </a:r>
            <a:r>
              <a:rPr lang="en-US" dirty="0" err="1"/>
              <a:t>precourse</a:t>
            </a:r>
            <a:r>
              <a:rPr lang="en-US" dirty="0"/>
              <a:t> quiz and understand how to use Moodle</a:t>
            </a:r>
          </a:p>
          <a:p>
            <a:r>
              <a:rPr lang="en-US" dirty="0"/>
              <a:t>You have run the </a:t>
            </a:r>
            <a:r>
              <a:rPr lang="en-US" dirty="0" err="1"/>
              <a:t>precourse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Confirms you can get into </a:t>
            </a:r>
            <a:r>
              <a:rPr lang="en-US" dirty="0" err="1"/>
              <a:t>GeoLab</a:t>
            </a:r>
            <a:r>
              <a:rPr lang="en-US" dirty="0"/>
              <a:t> in the right configuration</a:t>
            </a:r>
          </a:p>
          <a:p>
            <a:pPr lvl="1"/>
            <a:r>
              <a:rPr lang="en-US" dirty="0"/>
              <a:t>Confirms you have a basic knowledge of </a:t>
            </a:r>
            <a:r>
              <a:rPr lang="en-US" dirty="0" err="1"/>
              <a:t>jupyter</a:t>
            </a:r>
            <a:r>
              <a:rPr lang="en-US" dirty="0"/>
              <a:t> lab</a:t>
            </a:r>
          </a:p>
          <a:p>
            <a:pPr lvl="1"/>
            <a:r>
              <a:rPr lang="en-US" dirty="0"/>
              <a:t>Confirms you have a working data set assembled for today’s exercise</a:t>
            </a:r>
          </a:p>
        </p:txBody>
      </p:sp>
    </p:spTree>
    <p:extLst>
      <p:ext uri="{BB962C8B-B14F-4D97-AF65-F5344CB8AC3E}">
        <p14:creationId xmlns:p14="http://schemas.microsoft.com/office/powerpoint/2010/main" val="916779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7B6E-3118-BE76-6FBE-F6739E5A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after each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407C-C8FF-8C59-B984-B8EF285B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59175"/>
            <a:ext cx="9613861" cy="359931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Not just busy work</a:t>
            </a:r>
          </a:p>
          <a:p>
            <a:pPr lvl="1"/>
            <a:r>
              <a:rPr lang="en-US" dirty="0"/>
              <a:t>Designed to reinforce learning goals of sessions</a:t>
            </a:r>
          </a:p>
          <a:p>
            <a:pPr lvl="1"/>
            <a:r>
              <a:rPr lang="en-US" dirty="0"/>
              <a:t>Reading assignments important to improve learning for next session</a:t>
            </a:r>
          </a:p>
          <a:p>
            <a:pPr lvl="1"/>
            <a:r>
              <a:rPr lang="en-US" dirty="0"/>
              <a:t>You need to complete all of </a:t>
            </a:r>
            <a:r>
              <a:rPr lang="en-US" dirty="0" err="1"/>
              <a:t>quizes</a:t>
            </a:r>
            <a:r>
              <a:rPr lang="en-US" dirty="0"/>
              <a:t> for </a:t>
            </a:r>
            <a:r>
              <a:rPr lang="en-US" dirty="0" err="1"/>
              <a:t>Earthscope</a:t>
            </a:r>
            <a:r>
              <a:rPr lang="en-US" dirty="0"/>
              <a:t> certification</a:t>
            </a:r>
          </a:p>
          <a:p>
            <a:pPr lvl="1"/>
            <a:r>
              <a:rPr lang="en-US" dirty="0"/>
              <a:t>Completion requires only persistence </a:t>
            </a:r>
          </a:p>
          <a:p>
            <a:pPr lvl="2"/>
            <a:r>
              <a:rPr lang="en-US" dirty="0"/>
              <a:t>Wrong answers give feedback to improve understanding</a:t>
            </a:r>
          </a:p>
          <a:p>
            <a:pPr lvl="2"/>
            <a:r>
              <a:rPr lang="en-US" dirty="0"/>
              <a:t>Retry until you have all the answers right</a:t>
            </a:r>
          </a:p>
          <a:p>
            <a:r>
              <a:rPr lang="en-US" dirty="0"/>
              <a:t>All done in Moodle</a:t>
            </a:r>
          </a:p>
          <a:p>
            <a:r>
              <a:rPr lang="en-US" dirty="0"/>
              <a:t>Feedback important to keep us together</a:t>
            </a:r>
          </a:p>
          <a:p>
            <a:pPr lvl="1"/>
            <a:r>
              <a:rPr lang="en-US" dirty="0"/>
              <a:t>Questions/comment box for each assignment section </a:t>
            </a:r>
          </a:p>
          <a:p>
            <a:pPr lvl="1"/>
            <a:r>
              <a:rPr lang="en-US" dirty="0"/>
              <a:t>Attend office hours for personalized help</a:t>
            </a:r>
          </a:p>
          <a:p>
            <a:pPr lvl="1"/>
            <a:r>
              <a:rPr lang="en-US" dirty="0"/>
              <a:t>Will address any comments or questions in that box at the start of session2 and session3</a:t>
            </a:r>
          </a:p>
        </p:txBody>
      </p:sp>
    </p:spTree>
    <p:extLst>
      <p:ext uri="{BB962C8B-B14F-4D97-AF65-F5344CB8AC3E}">
        <p14:creationId xmlns:p14="http://schemas.microsoft.com/office/powerpoint/2010/main" val="424682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45942-0A9F-4756-EBC7-6B113CFF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69E9-01F2-6D70-21D7-4826C9DA4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 1:  Big picture overview</a:t>
            </a:r>
          </a:p>
          <a:p>
            <a:pPr lvl="1"/>
            <a:r>
              <a:rPr lang="en-US" dirty="0"/>
              <a:t>Overview of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Data objects </a:t>
            </a:r>
          </a:p>
          <a:p>
            <a:pPr lvl="1"/>
            <a:r>
              <a:rPr lang="en-US" dirty="0"/>
              <a:t>Data management </a:t>
            </a:r>
          </a:p>
          <a:p>
            <a:pPr lvl="1"/>
            <a:r>
              <a:rPr lang="en-US" dirty="0"/>
              <a:t>Desktop setup and operation (an assignment)</a:t>
            </a:r>
          </a:p>
          <a:p>
            <a:r>
              <a:rPr lang="en-US" dirty="0"/>
              <a:t>Session 2:  Parallel processing with </a:t>
            </a:r>
            <a:r>
              <a:rPr lang="en-US" dirty="0" err="1"/>
              <a:t>MsPASS</a:t>
            </a:r>
            <a:endParaRPr lang="en-US" dirty="0"/>
          </a:p>
          <a:p>
            <a:r>
              <a:rPr lang="en-US" dirty="0"/>
              <a:t>Session 3:  HPC clusters, cloud computing, and accessing the </a:t>
            </a:r>
            <a:r>
              <a:rPr lang="en-US" dirty="0" err="1"/>
              <a:t>Earthscope</a:t>
            </a:r>
            <a:r>
              <a:rPr lang="en-US" dirty="0"/>
              <a:t> waveform archives</a:t>
            </a:r>
          </a:p>
        </p:txBody>
      </p:sp>
    </p:spTree>
    <p:extLst>
      <p:ext uri="{BB962C8B-B14F-4D97-AF65-F5344CB8AC3E}">
        <p14:creationId xmlns:p14="http://schemas.microsoft.com/office/powerpoint/2010/main" val="86484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0928-28C5-1BEB-8E13-6AC181D2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these sessions will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03794-4D0F-99C0-1C81-5B1260906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 sessions will begin with a short lecture overview</a:t>
            </a:r>
          </a:p>
          <a:p>
            <a:r>
              <a:rPr lang="en-US" sz="2800" dirty="0"/>
              <a:t>Days 2 and 3 will have feedback review from homework</a:t>
            </a:r>
          </a:p>
          <a:p>
            <a:r>
              <a:rPr lang="en-US" sz="2800" dirty="0"/>
              <a:t>Focus is hands-on work with </a:t>
            </a:r>
            <a:r>
              <a:rPr lang="en-US" sz="2800" dirty="0" err="1"/>
              <a:t>Jupyter</a:t>
            </a:r>
            <a:r>
              <a:rPr lang="en-US" sz="2800" dirty="0"/>
              <a:t> notebooks for each session</a:t>
            </a:r>
          </a:p>
          <a:p>
            <a:r>
              <a:rPr lang="en-US" sz="2800" dirty="0"/>
              <a:t>Homework</a:t>
            </a:r>
          </a:p>
          <a:p>
            <a:pPr lvl="1"/>
            <a:r>
              <a:rPr lang="en-US" sz="2400" dirty="0"/>
              <a:t>Step 1 is always to read through the completed notebook text </a:t>
            </a:r>
          </a:p>
          <a:p>
            <a:pPr lvl="1"/>
            <a:r>
              <a:rPr lang="en-US" sz="2400" dirty="0"/>
              <a:t>Complete Moodle quiz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5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E3CC-9695-47E4-82D9-04D4D06B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FE-11F1-1036-BD44-F8071F32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 the class we will lead you through the notebooks step-by-step and talking about what we are doing</a:t>
            </a:r>
          </a:p>
          <a:p>
            <a:r>
              <a:rPr lang="en-US" dirty="0"/>
              <a:t>Questions first – details later</a:t>
            </a:r>
          </a:p>
          <a:p>
            <a:pPr lvl="1"/>
            <a:r>
              <a:rPr lang="en-US" dirty="0"/>
              <a:t>Answering questions is first priority </a:t>
            </a:r>
          </a:p>
          <a:p>
            <a:pPr lvl="1"/>
            <a:r>
              <a:rPr lang="en-US" dirty="0"/>
              <a:t>If we need to push forward, may skip some details</a:t>
            </a:r>
          </a:p>
          <a:p>
            <a:r>
              <a:rPr lang="en-US" dirty="0"/>
              <a:t>Designed to be self-contained</a:t>
            </a:r>
          </a:p>
          <a:p>
            <a:pPr lvl="1"/>
            <a:r>
              <a:rPr lang="en-US" dirty="0"/>
              <a:t>You are expected to read the markdown box text</a:t>
            </a:r>
          </a:p>
          <a:p>
            <a:pPr lvl="1"/>
            <a:r>
              <a:rPr lang="en-US" dirty="0"/>
              <a:t>Pass 1 – skim during class sessions</a:t>
            </a:r>
          </a:p>
          <a:p>
            <a:pPr lvl="1"/>
            <a:r>
              <a:rPr lang="en-US" dirty="0"/>
              <a:t>Pass 2 – read again if needed as background for Moodle quiz</a:t>
            </a:r>
          </a:p>
          <a:p>
            <a:pPr lvl="1"/>
            <a:r>
              <a:rPr lang="en-US" dirty="0"/>
              <a:t>Follow hyperlinks and at least skim that material</a:t>
            </a:r>
          </a:p>
          <a:p>
            <a:pPr lvl="1"/>
            <a:r>
              <a:rPr lang="en-US" dirty="0"/>
              <a:t>If time runs short I’ll give an overview and say “complete the rest of this after the session”</a:t>
            </a:r>
          </a:p>
          <a:p>
            <a:r>
              <a:rPr lang="en-US" dirty="0"/>
              <a:t>For those unable to attend live zoom session</a:t>
            </a:r>
          </a:p>
          <a:p>
            <a:pPr lvl="1"/>
            <a:r>
              <a:rPr lang="en-US" dirty="0"/>
              <a:t>Listen to recorded lectures</a:t>
            </a:r>
          </a:p>
          <a:p>
            <a:pPr lvl="1"/>
            <a:r>
              <a:rPr lang="en-US" dirty="0"/>
              <a:t>Read through the notebooks running cells sequentially</a:t>
            </a:r>
          </a:p>
          <a:p>
            <a:pPr lvl="1"/>
            <a:r>
              <a:rPr lang="en-US" dirty="0"/>
              <a:t>Ignore the recording of the notebook sessions unless you get confused.  Fast forward and/or ask a question on slack if you encounter problems</a:t>
            </a:r>
          </a:p>
        </p:txBody>
      </p:sp>
    </p:spTree>
    <p:extLst>
      <p:ext uri="{BB962C8B-B14F-4D97-AF65-F5344CB8AC3E}">
        <p14:creationId xmlns:p14="http://schemas.microsoft.com/office/powerpoint/2010/main" val="2637980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EC41C-4DBD-8440-9FB6-29AA490B0519}"/>
              </a:ext>
            </a:extLst>
          </p:cNvPr>
          <p:cNvSpPr txBox="1"/>
          <p:nvPr/>
        </p:nvSpPr>
        <p:spPr>
          <a:xfrm>
            <a:off x="4408713" y="424543"/>
            <a:ext cx="3722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/>
              <a:t>MsPASS</a:t>
            </a:r>
            <a:endParaRPr lang="en-US" sz="8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CCD914-BECF-5442-8D9D-C4D849710225}"/>
              </a:ext>
            </a:extLst>
          </p:cNvPr>
          <p:cNvSpPr/>
          <p:nvPr/>
        </p:nvSpPr>
        <p:spPr>
          <a:xfrm>
            <a:off x="4245429" y="500743"/>
            <a:ext cx="1970314" cy="124723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B078E-E148-6049-BF89-1E63BAA590ED}"/>
              </a:ext>
            </a:extLst>
          </p:cNvPr>
          <p:cNvSpPr txBox="1"/>
          <p:nvPr/>
        </p:nvSpPr>
        <p:spPr>
          <a:xfrm>
            <a:off x="1023257" y="2318657"/>
            <a:ext cx="7021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Massively Parallel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Single CPU thing of the past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Archaic software infrastructure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FAB61-C4F8-8349-A50C-F6EE1B75EFB9}"/>
              </a:ext>
            </a:extLst>
          </p:cNvPr>
          <p:cNvSpPr txBox="1"/>
          <p:nvPr/>
        </p:nvSpPr>
        <p:spPr>
          <a:xfrm>
            <a:off x="4533900" y="4223657"/>
            <a:ext cx="65586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 startAt="2"/>
            </a:pPr>
            <a:r>
              <a:rPr lang="en-US" sz="3200" dirty="0">
                <a:solidFill>
                  <a:schemeClr val="bg1"/>
                </a:solidFill>
              </a:rPr>
              <a:t>Analysis System for Seismology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Research analysis – flexibility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For Seismology research – tool for us not computer scientists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FA019D-4B90-B149-8C41-66D235F500F6}"/>
              </a:ext>
            </a:extLst>
          </p:cNvPr>
          <p:cNvSpPr/>
          <p:nvPr/>
        </p:nvSpPr>
        <p:spPr>
          <a:xfrm>
            <a:off x="5562601" y="462642"/>
            <a:ext cx="2231570" cy="124723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694CAE-D923-E64B-BDF2-1D5C430D480C}"/>
              </a:ext>
            </a:extLst>
          </p:cNvPr>
          <p:cNvCxnSpPr/>
          <p:nvPr/>
        </p:nvCxnSpPr>
        <p:spPr>
          <a:xfrm flipH="1">
            <a:off x="3831771" y="1747982"/>
            <a:ext cx="947058" cy="570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B04EF3-9084-C04D-8715-48462F8CDE39}"/>
              </a:ext>
            </a:extLst>
          </p:cNvPr>
          <p:cNvCxnSpPr/>
          <p:nvPr/>
        </p:nvCxnSpPr>
        <p:spPr>
          <a:xfrm>
            <a:off x="7652657" y="1747982"/>
            <a:ext cx="315686" cy="24756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1C44D0-7E38-A545-8D2D-01B8C895C998}"/>
              </a:ext>
            </a:extLst>
          </p:cNvPr>
          <p:cNvSpPr txBox="1"/>
          <p:nvPr/>
        </p:nvSpPr>
        <p:spPr>
          <a:xfrm>
            <a:off x="250723" y="5515897"/>
            <a:ext cx="4528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https://</a:t>
            </a:r>
            <a:r>
              <a:rPr lang="en-US" sz="2800" dirty="0" err="1"/>
              <a:t>www.mspass.org</a:t>
            </a:r>
            <a:r>
              <a:rPr lang="en-US" sz="28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301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F576-B548-B19E-7F5C-9AA2956B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fundamental qualifier:  </a:t>
            </a:r>
            <a:br>
              <a:rPr lang="en-US" dirty="0"/>
            </a:br>
            <a:r>
              <a:rPr lang="en-US" dirty="0"/>
              <a:t>“research computing”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62C6-397D-89D3-B942-664DD36E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2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10BD-7BF3-4542-F66C-6A18A8B5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versus Research IT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0A6C-581C-093E-9CB5-21FCB6FDCB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u="sng" dirty="0"/>
              <a:t>Production (Enterprise software)</a:t>
            </a:r>
          </a:p>
          <a:p>
            <a:r>
              <a:rPr lang="en-US" dirty="0"/>
              <a:t>Solves Specific Problem</a:t>
            </a:r>
          </a:p>
          <a:p>
            <a:r>
              <a:rPr lang="en-US" dirty="0"/>
              <a:t>Performance is critical</a:t>
            </a:r>
          </a:p>
          <a:p>
            <a:pPr lvl="1"/>
            <a:r>
              <a:rPr lang="en-US" dirty="0"/>
              <a:t>Time is money</a:t>
            </a:r>
          </a:p>
          <a:p>
            <a:pPr lvl="1"/>
            <a:r>
              <a:rPr lang="en-US" dirty="0"/>
              <a:t>Mission critical role with repeating tasks</a:t>
            </a:r>
          </a:p>
          <a:p>
            <a:r>
              <a:rPr lang="en-US" dirty="0"/>
              <a:t>Operable with minimum skill set necessary for job – skilled labor is expensive</a:t>
            </a:r>
          </a:p>
          <a:p>
            <a:r>
              <a:rPr lang="en-US" dirty="0"/>
              <a:t>Data model well known and fixed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F07C0-7492-A32E-C511-061340E47C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u="sng" dirty="0"/>
              <a:t>Research</a:t>
            </a:r>
          </a:p>
          <a:p>
            <a:r>
              <a:rPr lang="en-US" dirty="0"/>
              <a:t>Handle range of problems </a:t>
            </a:r>
          </a:p>
          <a:p>
            <a:r>
              <a:rPr lang="en-US" dirty="0"/>
              <a:t>Performance is secondary</a:t>
            </a:r>
          </a:p>
          <a:p>
            <a:pPr lvl="1"/>
            <a:r>
              <a:rPr lang="en-US" dirty="0"/>
              <a:t>Being feasible sufficient</a:t>
            </a:r>
          </a:p>
          <a:p>
            <a:pPr lvl="1"/>
            <a:r>
              <a:rPr lang="en-US" dirty="0"/>
              <a:t>Many one-up solutions</a:t>
            </a:r>
          </a:p>
          <a:p>
            <a:r>
              <a:rPr lang="en-US" dirty="0"/>
              <a:t>Can assume users are specialists and life-long learners</a:t>
            </a:r>
          </a:p>
          <a:p>
            <a:r>
              <a:rPr lang="en-US" dirty="0"/>
              <a:t>Data highly variable (one person’s signal is another’s noise)</a:t>
            </a:r>
          </a:p>
        </p:txBody>
      </p:sp>
    </p:spTree>
    <p:extLst>
      <p:ext uri="{BB962C8B-B14F-4D97-AF65-F5344CB8AC3E}">
        <p14:creationId xmlns:p14="http://schemas.microsoft.com/office/powerpoint/2010/main" val="2242568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CA6C25-7724-8B0D-E985-9B1FD3EB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Roles </a:t>
            </a:r>
            <a:r>
              <a:rPr lang="en-US" dirty="0" err="1"/>
              <a:t>MsPASS</a:t>
            </a:r>
            <a:r>
              <a:rPr lang="en-US" dirty="0"/>
              <a:t> can play in research today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10C19-B2B5-CED9-9CE7-C3D4FC5D9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3403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only game in town for novel ”big data” problems</a:t>
            </a:r>
          </a:p>
          <a:p>
            <a:pPr lvl="1"/>
            <a:r>
              <a:rPr lang="en-US" dirty="0"/>
              <a:t>Manage large data sets (</a:t>
            </a:r>
            <a:r>
              <a:rPr lang="en-US" dirty="0" err="1"/>
              <a:t>terrabytes</a:t>
            </a:r>
            <a:r>
              <a:rPr lang="en-US" dirty="0"/>
              <a:t> with millions of seismograms)</a:t>
            </a:r>
          </a:p>
          <a:p>
            <a:pPr lvl="1"/>
            <a:r>
              <a:rPr lang="en-US" dirty="0"/>
              <a:t>Parallel processing</a:t>
            </a:r>
          </a:p>
          <a:p>
            <a:pPr lvl="1"/>
            <a:r>
              <a:rPr lang="en-US" dirty="0"/>
              <a:t>Scalability allows prototyping on a desktop before running on big iron</a:t>
            </a:r>
          </a:p>
          <a:p>
            <a:pPr lvl="1"/>
            <a:r>
              <a:rPr lang="en-US" dirty="0"/>
              <a:t>Best tool today for accessing data from the </a:t>
            </a:r>
            <a:r>
              <a:rPr lang="en-US" dirty="0" err="1"/>
              <a:t>Earthscope</a:t>
            </a:r>
            <a:r>
              <a:rPr lang="en-US" dirty="0"/>
              <a:t> cloud waveform archive</a:t>
            </a:r>
          </a:p>
          <a:p>
            <a:r>
              <a:rPr lang="en-US" dirty="0"/>
              <a:t>Tools for low-level work to assemble event-based data</a:t>
            </a:r>
          </a:p>
          <a:p>
            <a:r>
              <a:rPr lang="en-US" dirty="0"/>
              <a:t>Generic parallel tools for handling continuous data</a:t>
            </a:r>
          </a:p>
          <a:p>
            <a:r>
              <a:rPr lang="en-US" dirty="0"/>
              <a:t>Complete set of tools for P-wave receiver function processing</a:t>
            </a:r>
          </a:p>
          <a:p>
            <a:r>
              <a:rPr lang="en-US" dirty="0"/>
              <a:t>Tools for spectral estimation</a:t>
            </a:r>
          </a:p>
          <a:p>
            <a:r>
              <a:rPr lang="en-US" dirty="0"/>
              <a:t>Newer tool for automated processing of </a:t>
            </a:r>
            <a:r>
              <a:rPr lang="en-US" dirty="0" err="1"/>
              <a:t>teleseismic</a:t>
            </a:r>
            <a:r>
              <a:rPr lang="en-US" dirty="0"/>
              <a:t> P waves (son of </a:t>
            </a:r>
            <a:r>
              <a:rPr lang="en-US" dirty="0">
                <a:hlinkClick r:id="rId2"/>
              </a:rPr>
              <a:t>dbxcor</a:t>
            </a:r>
            <a:r>
              <a:rPr lang="en-US" dirty="0"/>
              <a:t>)</a:t>
            </a:r>
          </a:p>
          <a:p>
            <a:r>
              <a:rPr lang="en-US" dirty="0"/>
              <a:t>Foundation for new implementation of our 3D migration code (</a:t>
            </a:r>
            <a:r>
              <a:rPr lang="en-US" dirty="0" err="1"/>
              <a:t>pwmig</a:t>
            </a:r>
            <a:r>
              <a:rPr lang="en-US" dirty="0"/>
              <a:t>) </a:t>
            </a:r>
          </a:p>
          <a:p>
            <a:pPr lvl="1"/>
            <a:r>
              <a:rPr lang="en-US" dirty="0" err="1"/>
              <a:t>MsPASS</a:t>
            </a:r>
            <a:r>
              <a:rPr lang="en-US" dirty="0"/>
              <a:t> extension</a:t>
            </a:r>
          </a:p>
          <a:p>
            <a:pPr lvl="1"/>
            <a:r>
              <a:rPr lang="en-US" dirty="0" err="1"/>
              <a:t>Earthscope</a:t>
            </a:r>
            <a:r>
              <a:rPr lang="en-US" dirty="0"/>
              <a:t> course scheduled for </a:t>
            </a:r>
            <a:r>
              <a:rPr lang="en-US" dirty="0" err="1"/>
              <a:t>Novemeber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95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C244-A0C9-2303-7754-806CA797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MsPASS</a:t>
            </a:r>
            <a:r>
              <a:rPr lang="en-US" dirty="0"/>
              <a:t> good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D17A-D48A-6B72-6030-AB2A68D6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Generic waveform processing toolkit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Prototype on a desktop</a:t>
            </a:r>
          </a:p>
          <a:p>
            <a:pPr lvl="1"/>
            <a:r>
              <a:rPr lang="en-US" dirty="0"/>
              <a:t>If needed scale up to HPC  or cloud</a:t>
            </a:r>
          </a:p>
          <a:p>
            <a:pPr lvl="1"/>
            <a:r>
              <a:rPr lang="en-US" dirty="0"/>
              <a:t>Likely to become the tool of choice for interacting with </a:t>
            </a:r>
            <a:r>
              <a:rPr lang="en-US" dirty="0" err="1"/>
              <a:t>Earthscope</a:t>
            </a:r>
            <a:r>
              <a:rPr lang="en-US" dirty="0"/>
              <a:t> DMC when archive is completely migrated to the cloud</a:t>
            </a:r>
          </a:p>
          <a:p>
            <a:r>
              <a:rPr lang="en-US" dirty="0"/>
              <a:t>Data management (integrated database)</a:t>
            </a:r>
          </a:p>
          <a:p>
            <a:r>
              <a:rPr lang="en-US" dirty="0"/>
              <a:t>Reproducible science:  With </a:t>
            </a:r>
            <a:r>
              <a:rPr lang="en-US" dirty="0" err="1"/>
              <a:t>GeoLab</a:t>
            </a:r>
            <a:r>
              <a:rPr lang="en-US" dirty="0"/>
              <a:t> your </a:t>
            </a:r>
            <a:r>
              <a:rPr lang="en-US" dirty="0" err="1"/>
              <a:t>MsPASS</a:t>
            </a:r>
            <a:r>
              <a:rPr lang="en-US" dirty="0"/>
              <a:t> notebook will allow reproducing at least the low-level processing to assemble your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25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C5C4-2591-C7B4-2370-DD12937F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 Reproducible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9A7A-3274-18E3-41EF-707FCFF66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Today a large fraction of seismology papers should be published in the </a:t>
            </a:r>
            <a:r>
              <a:rPr lang="en-US" i="1" dirty="0"/>
              <a:t>Journal of Irreproducible Results</a:t>
            </a:r>
          </a:p>
          <a:p>
            <a:r>
              <a:rPr lang="en-US" dirty="0"/>
              <a:t>Reasons: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assembly sequence impossible to recreate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processing sequence impossible to recreate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of specialized research code not available to reader</a:t>
            </a:r>
          </a:p>
          <a:p>
            <a:r>
              <a:rPr lang="en-US" dirty="0"/>
              <a:t>Solutions</a:t>
            </a:r>
          </a:p>
          <a:p>
            <a:pPr lvl="1"/>
            <a:r>
              <a:rPr lang="en-US" dirty="0"/>
              <a:t>1 and 2 are solved by </a:t>
            </a:r>
            <a:r>
              <a:rPr lang="en-US" dirty="0" err="1"/>
              <a:t>MsPASS</a:t>
            </a:r>
            <a:endParaRPr lang="en-US" dirty="0"/>
          </a:p>
          <a:p>
            <a:pPr lvl="2"/>
            <a:r>
              <a:rPr lang="en-US" dirty="0"/>
              <a:t>it was a design goal</a:t>
            </a:r>
          </a:p>
          <a:p>
            <a:pPr lvl="2"/>
            <a:r>
              <a:rPr lang="en-US" dirty="0"/>
              <a:t>The data set and notebooks used in this course are an example</a:t>
            </a:r>
          </a:p>
          <a:p>
            <a:pPr lvl="1"/>
            <a:r>
              <a:rPr lang="en-US" dirty="0"/>
              <a:t>Journals now universally address 3  - “Data” statements in more recent papers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21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MsPASS</a:t>
            </a:r>
            <a:r>
              <a:rPr lang="en-US" dirty="0"/>
              <a:t>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Ideal solution for problems we viewed as solved:</a:t>
            </a:r>
          </a:p>
          <a:p>
            <a:pPr lvl="1"/>
            <a:r>
              <a:rPr lang="en-US" dirty="0"/>
              <a:t>Real time data handling</a:t>
            </a:r>
          </a:p>
          <a:p>
            <a:pPr lvl="1"/>
            <a:r>
              <a:rPr lang="en-US" dirty="0"/>
              <a:t>Seismic event catalog processing</a:t>
            </a:r>
          </a:p>
          <a:p>
            <a:pPr lvl="1"/>
            <a:r>
              <a:rPr lang="en-US" dirty="0"/>
              <a:t>Seismic reflection processing </a:t>
            </a:r>
          </a:p>
          <a:p>
            <a:pPr lvl="1"/>
            <a:r>
              <a:rPr lang="en-US" dirty="0"/>
              <a:t>Archival data management for </a:t>
            </a:r>
            <a:r>
              <a:rPr lang="en-US" dirty="0" err="1"/>
              <a:t>Earthscope</a:t>
            </a:r>
            <a:r>
              <a:rPr lang="en-US" dirty="0"/>
              <a:t> and other data centers</a:t>
            </a:r>
          </a:p>
          <a:p>
            <a:r>
              <a:rPr lang="en-US" dirty="0"/>
              <a:t>A complete solution for all of seismology</a:t>
            </a:r>
          </a:p>
          <a:p>
            <a:pPr lvl="1"/>
            <a:r>
              <a:rPr lang="en-US" dirty="0"/>
              <a:t>This is a framework, not a turnkey solution to all problems</a:t>
            </a:r>
          </a:p>
          <a:p>
            <a:pPr lvl="1"/>
            <a:r>
              <a:rPr lang="en-US" dirty="0"/>
              <a:t>May require some work to develop your custom “workflow”</a:t>
            </a:r>
          </a:p>
          <a:p>
            <a:pPr lvl="1"/>
            <a:r>
              <a:rPr lang="en-US" dirty="0"/>
              <a:t>Use of python as job control language makes flexibility feasible</a:t>
            </a:r>
          </a:p>
          <a:p>
            <a:pPr lvl="1"/>
            <a:r>
              <a:rPr lang="en-US" dirty="0"/>
              <a:t>More custom solutions require contributions from people like you</a:t>
            </a:r>
          </a:p>
          <a:p>
            <a:r>
              <a:rPr lang="en-US" dirty="0"/>
              <a:t>A commercial product</a:t>
            </a:r>
          </a:p>
          <a:p>
            <a:pPr lvl="1"/>
            <a:r>
              <a:rPr lang="en-US" dirty="0"/>
              <a:t>100% open source – free </a:t>
            </a:r>
          </a:p>
          <a:p>
            <a:pPr lvl="1"/>
            <a:r>
              <a:rPr lang="en-US" dirty="0"/>
              <a:t>Future depends on the community </a:t>
            </a:r>
          </a:p>
        </p:txBody>
      </p:sp>
    </p:spTree>
    <p:extLst>
      <p:ext uri="{BB962C8B-B14F-4D97-AF65-F5344CB8AC3E}">
        <p14:creationId xmlns:p14="http://schemas.microsoft.com/office/powerpoint/2010/main" val="2080459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D3BE-71BA-0749-8CE5-F74F32F3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 the 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1BDE-13EB-9F46-B938-D6E91F43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510193" cy="4390498"/>
          </a:xfrm>
        </p:spPr>
        <p:txBody>
          <a:bodyPr>
            <a:normAutofit fontScale="47500" lnSpcReduction="20000"/>
          </a:bodyPr>
          <a:lstStyle/>
          <a:p>
            <a:r>
              <a:rPr lang="en-US" sz="2900" dirty="0"/>
              <a:t>Exceptionally complete documentation (</a:t>
            </a:r>
            <a:r>
              <a:rPr lang="en-US" sz="2900" dirty="0">
                <a:hlinkClick r:id="rId2"/>
              </a:rPr>
              <a:t>https://mspass.org</a:t>
            </a:r>
            <a:r>
              <a:rPr lang="en-US" sz="2900" dirty="0"/>
              <a:t> ) for open-source package </a:t>
            </a:r>
          </a:p>
          <a:p>
            <a:pPr lvl="1"/>
            <a:r>
              <a:rPr lang="en-US" sz="2500" dirty="0"/>
              <a:t>Assume you have all had a quick look at that material</a:t>
            </a:r>
          </a:p>
          <a:p>
            <a:r>
              <a:rPr lang="en-US" sz="2900" dirty="0"/>
              <a:t>Database to manage large data sets</a:t>
            </a:r>
          </a:p>
          <a:p>
            <a:r>
              <a:rPr lang="en-US" sz="2900" dirty="0"/>
              <a:t>Parallel processing</a:t>
            </a:r>
          </a:p>
          <a:p>
            <a:pPr lvl="1"/>
            <a:r>
              <a:rPr lang="en-US" sz="2500" dirty="0"/>
              <a:t>HPC or cloud functionality</a:t>
            </a:r>
          </a:p>
          <a:p>
            <a:pPr lvl="1"/>
            <a:r>
              <a:rPr lang="en-US" sz="2500" dirty="0"/>
              <a:t>Clean error handling for long running jobs</a:t>
            </a:r>
          </a:p>
          <a:p>
            <a:r>
              <a:rPr lang="en-US" sz="2900" dirty="0"/>
              <a:t>Flexible but simple to use IO abstractions (read-write almost any format and from URL)</a:t>
            </a:r>
          </a:p>
          <a:p>
            <a:r>
              <a:rPr lang="en-US" sz="2900" dirty="0"/>
              <a:t>Python job control language</a:t>
            </a:r>
          </a:p>
          <a:p>
            <a:pPr lvl="1"/>
            <a:r>
              <a:rPr lang="en-US" sz="2500" dirty="0"/>
              <a:t>Reproducibility automatic if you submit </a:t>
            </a:r>
            <a:r>
              <a:rPr lang="en-US" sz="2500" dirty="0" err="1"/>
              <a:t>jupyter</a:t>
            </a:r>
            <a:r>
              <a:rPr lang="en-US" sz="2500" dirty="0"/>
              <a:t> notebook with your paper</a:t>
            </a:r>
          </a:p>
          <a:p>
            <a:r>
              <a:rPr lang="en-US" sz="2900" dirty="0">
                <a:hlinkClick r:id="rId3"/>
              </a:rPr>
              <a:t>Algorithms</a:t>
            </a:r>
            <a:r>
              <a:rPr lang="en-US" sz="2900" dirty="0"/>
              <a:t> – low level preprocessing (solved problem) focus</a:t>
            </a:r>
          </a:p>
          <a:p>
            <a:pPr lvl="1"/>
            <a:r>
              <a:rPr lang="en-US" sz="2500" dirty="0"/>
              <a:t>All </a:t>
            </a:r>
            <a:r>
              <a:rPr lang="en-US" sz="2500" dirty="0" err="1"/>
              <a:t>obspy</a:t>
            </a:r>
            <a:r>
              <a:rPr lang="en-US" sz="2500" dirty="0"/>
              <a:t> signal processing algorithms</a:t>
            </a:r>
          </a:p>
          <a:p>
            <a:pPr lvl="1"/>
            <a:r>
              <a:rPr lang="en-US" sz="2500" dirty="0"/>
              <a:t>Low-level windowing, bundling, and similar grungy stuff</a:t>
            </a:r>
          </a:p>
          <a:p>
            <a:pPr lvl="1"/>
            <a:r>
              <a:rPr lang="en-US" sz="2500" dirty="0"/>
              <a:t>Three-component primitives (rotation and transformation)</a:t>
            </a:r>
          </a:p>
          <a:p>
            <a:pPr lvl="1"/>
            <a:r>
              <a:rPr lang="en-US" sz="2500" dirty="0"/>
              <a:t>Trace </a:t>
            </a:r>
            <a:r>
              <a:rPr lang="en-US" sz="2500" dirty="0" err="1"/>
              <a:t>editng</a:t>
            </a:r>
            <a:endParaRPr lang="en-US" sz="2500" dirty="0"/>
          </a:p>
          <a:p>
            <a:pPr lvl="1"/>
            <a:r>
              <a:rPr lang="en-US" sz="2500" dirty="0"/>
              <a:t>Header math </a:t>
            </a:r>
          </a:p>
          <a:p>
            <a:pPr lvl="1"/>
            <a:r>
              <a:rPr lang="en-US" sz="2500" dirty="0"/>
              <a:t>SNR calculations </a:t>
            </a:r>
          </a:p>
          <a:p>
            <a:pPr lvl="1"/>
            <a:r>
              <a:rPr lang="en-US" sz="2500" dirty="0"/>
              <a:t>All common P receiver function  deconvolution</a:t>
            </a:r>
          </a:p>
          <a:p>
            <a:pPr lvl="1"/>
            <a:r>
              <a:rPr lang="en-US" sz="2500" dirty="0"/>
              <a:t>Array-based body wave arrival time estimation with multichannel correlation</a:t>
            </a:r>
          </a:p>
          <a:p>
            <a:pPr lvl="1"/>
            <a:r>
              <a:rPr lang="en-US" sz="2500" dirty="0"/>
              <a:t>Prototype array P wave deconvolution </a:t>
            </a:r>
          </a:p>
          <a:p>
            <a:r>
              <a:rPr lang="en-US" sz="2900" dirty="0"/>
              <a:t>Docker container or anaconda package distribution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050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7852-A7DD-2E70-1862-76FE73AC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Sermonette/Sales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B149-0D77-D08B-DB15-456B2B3EC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MsPASS</a:t>
            </a:r>
            <a:r>
              <a:rPr lang="en-US" dirty="0"/>
              <a:t> makes archaic</a:t>
            </a:r>
          </a:p>
          <a:p>
            <a:pPr lvl="1"/>
            <a:r>
              <a:rPr lang="en-US" dirty="0"/>
              <a:t>SAC</a:t>
            </a:r>
          </a:p>
          <a:p>
            <a:pPr lvl="1"/>
            <a:r>
              <a:rPr lang="en-US" dirty="0"/>
              <a:t>AH</a:t>
            </a:r>
          </a:p>
          <a:p>
            <a:pPr lvl="1"/>
            <a:r>
              <a:rPr lang="en-US" dirty="0"/>
              <a:t>Most, if not all, existing generic waveform handling tools</a:t>
            </a:r>
          </a:p>
          <a:p>
            <a:r>
              <a:rPr lang="en-US" dirty="0" err="1"/>
              <a:t>MsPASS</a:t>
            </a:r>
            <a:r>
              <a:rPr lang="en-US" dirty="0"/>
              <a:t> </a:t>
            </a:r>
            <a:r>
              <a:rPr lang="en-US" dirty="0" err="1"/>
              <a:t>supercedes</a:t>
            </a:r>
            <a:r>
              <a:rPr lang="en-US" dirty="0"/>
              <a:t> </a:t>
            </a:r>
            <a:r>
              <a:rPr lang="en-US" dirty="0" err="1"/>
              <a:t>ObsPy</a:t>
            </a:r>
            <a:endParaRPr lang="en-US" dirty="0"/>
          </a:p>
          <a:p>
            <a:pPr lvl="1"/>
            <a:r>
              <a:rPr lang="en-US" dirty="0"/>
              <a:t>If you use </a:t>
            </a:r>
            <a:r>
              <a:rPr lang="en-US" dirty="0" err="1"/>
              <a:t>ObsPy</a:t>
            </a:r>
            <a:r>
              <a:rPr lang="en-US" dirty="0"/>
              <a:t> you can use </a:t>
            </a:r>
            <a:r>
              <a:rPr lang="en-US" dirty="0" err="1"/>
              <a:t>MsPASS</a:t>
            </a:r>
            <a:r>
              <a:rPr lang="en-US" dirty="0"/>
              <a:t> with minimal effort</a:t>
            </a:r>
          </a:p>
          <a:p>
            <a:pPr lvl="1"/>
            <a:r>
              <a:rPr lang="en-US" dirty="0" err="1"/>
              <a:t>MsPASS</a:t>
            </a:r>
            <a:r>
              <a:rPr lang="en-US" dirty="0"/>
              <a:t> has integrated data management and parallel processing not possible with </a:t>
            </a:r>
            <a:r>
              <a:rPr lang="en-US" dirty="0" err="1"/>
              <a:t>ObsPy</a:t>
            </a:r>
            <a:endParaRPr lang="en-US" dirty="0"/>
          </a:p>
          <a:p>
            <a:r>
              <a:rPr lang="en-US" dirty="0" err="1"/>
              <a:t>MsPASS</a:t>
            </a:r>
            <a:r>
              <a:rPr lang="en-US" dirty="0"/>
              <a:t> is now a rock-solid package</a:t>
            </a:r>
          </a:p>
          <a:p>
            <a:pPr lvl="1"/>
            <a:r>
              <a:rPr lang="en-US" dirty="0"/>
              <a:t>Processed many millions of seismograms</a:t>
            </a:r>
          </a:p>
          <a:p>
            <a:pPr lvl="1"/>
            <a:r>
              <a:rPr lang="en-US" dirty="0"/>
              <a:t>Haven’t seen a seg fault in 3 years</a:t>
            </a:r>
          </a:p>
          <a:p>
            <a:pPr lvl="1"/>
            <a:r>
              <a:rPr lang="en-US" dirty="0"/>
              <a:t>Most errors are user errors or unexpected data problems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36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D850-3554-2200-EB33-F6515972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know </a:t>
            </a:r>
            <a:r>
              <a:rPr lang="en-US" dirty="0" err="1"/>
              <a:t>ObsPy</a:t>
            </a:r>
            <a:r>
              <a:rPr lang="en-US" dirty="0"/>
              <a:t> well, why should I move to </a:t>
            </a:r>
            <a:r>
              <a:rPr lang="en-US" dirty="0" err="1"/>
              <a:t>MsPASS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37B2F-9146-1595-63B2-E2547A42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48024"/>
            <a:ext cx="9613861" cy="359931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MsPASS</a:t>
            </a:r>
            <a:r>
              <a:rPr lang="en-US" dirty="0"/>
              <a:t> is </a:t>
            </a:r>
            <a:r>
              <a:rPr lang="en-US" dirty="0" err="1"/>
              <a:t>obspy</a:t>
            </a:r>
            <a:r>
              <a:rPr lang="en-US" dirty="0"/>
              <a:t> on steroids</a:t>
            </a:r>
          </a:p>
          <a:p>
            <a:pPr lvl="1"/>
            <a:r>
              <a:rPr lang="en-US" dirty="0" err="1"/>
              <a:t>MsPASS</a:t>
            </a:r>
            <a:r>
              <a:rPr lang="en-US" dirty="0"/>
              <a:t> is a superset of </a:t>
            </a:r>
            <a:r>
              <a:rPr lang="en-US" dirty="0" err="1"/>
              <a:t>obspy</a:t>
            </a:r>
            <a:endParaRPr lang="en-US" dirty="0"/>
          </a:p>
          <a:p>
            <a:pPr lvl="1"/>
            <a:r>
              <a:rPr lang="en-US" dirty="0"/>
              <a:t>All </a:t>
            </a:r>
            <a:r>
              <a:rPr lang="en-US" dirty="0" err="1"/>
              <a:t>obspy</a:t>
            </a:r>
            <a:r>
              <a:rPr lang="en-US" dirty="0"/>
              <a:t> waveform processing functions are part of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Most </a:t>
            </a:r>
            <a:r>
              <a:rPr lang="en-US" dirty="0" err="1"/>
              <a:t>obpsy</a:t>
            </a:r>
            <a:r>
              <a:rPr lang="en-US" dirty="0"/>
              <a:t> python scripts are easily convert to a </a:t>
            </a:r>
            <a:r>
              <a:rPr lang="en-US" dirty="0" err="1"/>
              <a:t>MsPASS</a:t>
            </a:r>
            <a:r>
              <a:rPr lang="en-US" dirty="0"/>
              <a:t> script</a:t>
            </a:r>
          </a:p>
          <a:p>
            <a:r>
              <a:rPr lang="en-US" dirty="0"/>
              <a:t>For large data sets</a:t>
            </a:r>
          </a:p>
          <a:p>
            <a:pPr lvl="1"/>
            <a:r>
              <a:rPr lang="en-US" dirty="0"/>
              <a:t>Integrated database for data management essential</a:t>
            </a:r>
          </a:p>
          <a:p>
            <a:pPr lvl="1"/>
            <a:r>
              <a:rPr lang="en-US" dirty="0"/>
              <a:t>Clean error handling to run large jobs running for hours</a:t>
            </a:r>
          </a:p>
          <a:p>
            <a:pPr lvl="1"/>
            <a:r>
              <a:rPr lang="en-US" dirty="0"/>
              <a:t>Parallel processing functionality</a:t>
            </a:r>
          </a:p>
          <a:p>
            <a:pPr lvl="1"/>
            <a:r>
              <a:rPr lang="en-US" dirty="0"/>
              <a:t>Cross-platform compatibility – runs on desktop to highest end supercomputer or cloud system</a:t>
            </a:r>
          </a:p>
          <a:p>
            <a:r>
              <a:rPr lang="en-US" dirty="0"/>
              <a:t>Cloud computing capable</a:t>
            </a:r>
          </a:p>
          <a:p>
            <a:r>
              <a:rPr lang="en-US" dirty="0"/>
              <a:t>Reproducibility</a:t>
            </a:r>
          </a:p>
          <a:p>
            <a:r>
              <a:rPr lang="en-US" dirty="0"/>
              <a:t>Key thing:   built for the future while </a:t>
            </a:r>
            <a:r>
              <a:rPr lang="en-US" dirty="0" err="1"/>
              <a:t>obspy</a:t>
            </a:r>
            <a:r>
              <a:rPr lang="en-US" dirty="0"/>
              <a:t> was designed almost 20 years ago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16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D8F0-BD51-A8EA-F65A-4D5B1C5F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Documentation, documentation, documentation: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0343-D89A-293A-ECC8-AC8BEA66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User Manual</a:t>
            </a:r>
            <a:endParaRPr lang="en-US" dirty="0"/>
          </a:p>
          <a:p>
            <a:r>
              <a:rPr lang="en-US" dirty="0">
                <a:hlinkClick r:id="rId4"/>
              </a:rPr>
              <a:t>Python API Reference</a:t>
            </a:r>
            <a:endParaRPr lang="en-US" dirty="0"/>
          </a:p>
          <a:p>
            <a:r>
              <a:rPr lang="en-US" dirty="0">
                <a:hlinkClick r:id="rId5"/>
              </a:rPr>
              <a:t>C++ API</a:t>
            </a:r>
            <a:endParaRPr lang="en-US" dirty="0"/>
          </a:p>
          <a:p>
            <a:r>
              <a:rPr lang="en-US" dirty="0">
                <a:hlinkClick r:id="rId6"/>
              </a:rPr>
              <a:t>Tutorials</a:t>
            </a:r>
            <a:r>
              <a:rPr lang="en-US" dirty="0"/>
              <a:t> – you are all using files in a directory of this repository</a:t>
            </a:r>
          </a:p>
        </p:txBody>
      </p:sp>
    </p:spTree>
    <p:extLst>
      <p:ext uri="{BB962C8B-B14F-4D97-AF65-F5344CB8AC3E}">
        <p14:creationId xmlns:p14="http://schemas.microsoft.com/office/powerpoint/2010/main" val="3366715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5653-1C4B-5D14-7D9B-29B94FA4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Consequence of good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AE5AE-10D7-CD63-8640-3CEB37F4A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reference material is there if you know the layout: </a:t>
            </a:r>
          </a:p>
          <a:p>
            <a:pPr lvl="1"/>
            <a:r>
              <a:rPr lang="en-US" dirty="0"/>
              <a:t>The last slide was an overview  </a:t>
            </a:r>
          </a:p>
          <a:p>
            <a:pPr lvl="1"/>
            <a:r>
              <a:rPr lang="en-US" dirty="0"/>
              <a:t>RTFM</a:t>
            </a:r>
          </a:p>
          <a:p>
            <a:r>
              <a:rPr lang="en-US" dirty="0"/>
              <a:t>The current generation AI’s are very good at answering questions about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The reason they are good is because the user manual is large</a:t>
            </a:r>
          </a:p>
          <a:p>
            <a:pPr lvl="1"/>
            <a:r>
              <a:rPr lang="en-US" dirty="0"/>
              <a:t>I’ll show you an example</a:t>
            </a:r>
          </a:p>
          <a:p>
            <a:pPr lvl="1"/>
            <a:r>
              <a:rPr lang="en-US" dirty="0"/>
              <a:t>Because of AI </a:t>
            </a:r>
            <a:r>
              <a:rPr lang="en-US" dirty="0" err="1"/>
              <a:t>capabilies</a:t>
            </a:r>
            <a:r>
              <a:rPr lang="en-US" dirty="0"/>
              <a:t> I will completely gloss over ”implementation details” and focus on fundamentals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0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EF39-568B-D2AF-636E-23511BD5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417D0-D5A9-1BF9-0FC9-3966448D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a little online poll</a:t>
            </a:r>
          </a:p>
        </p:txBody>
      </p:sp>
    </p:spTree>
    <p:extLst>
      <p:ext uri="{BB962C8B-B14F-4D97-AF65-F5344CB8AC3E}">
        <p14:creationId xmlns:p14="http://schemas.microsoft.com/office/powerpoint/2010/main" val="2622594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C14A-F5E7-83E1-F08A-6B98D541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Management: size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6821-368E-E1FA-CBBD-0A320ACE2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 humans handling more than a few hundred “things” at once is problematic</a:t>
            </a:r>
          </a:p>
          <a:p>
            <a:r>
              <a:rPr lang="en-US" dirty="0"/>
              <a:t>“Handling” means:</a:t>
            </a:r>
          </a:p>
          <a:p>
            <a:pPr lvl="1"/>
            <a:r>
              <a:rPr lang="en-US" dirty="0"/>
              <a:t>Being able to find the thing(s) you want to work with </a:t>
            </a:r>
          </a:p>
          <a:p>
            <a:pPr lvl="1"/>
            <a:r>
              <a:rPr lang="en-US" dirty="0"/>
              <a:t>Have the data organized into a stack of stuff in logical groupings</a:t>
            </a:r>
          </a:p>
          <a:p>
            <a:pPr lvl="2"/>
            <a:r>
              <a:rPr lang="en-US" dirty="0"/>
              <a:t>Paper files are the original database – centuries of experience prior to digital age</a:t>
            </a:r>
          </a:p>
          <a:p>
            <a:pPr lvl="2"/>
            <a:r>
              <a:rPr lang="en-US" dirty="0"/>
              <a:t>Computers files and folders (directories) are the logical extension of paper files</a:t>
            </a:r>
          </a:p>
          <a:p>
            <a:pPr lvl="1"/>
            <a:r>
              <a:rPr lang="en-US" dirty="0"/>
              <a:t>Being able to comprehend the contents of things you “find”</a:t>
            </a:r>
          </a:p>
          <a:p>
            <a:pPr lvl="2"/>
            <a:r>
              <a:rPr lang="en-US" dirty="0"/>
              <a:t>If you are an English speaker and a paper file is in Chinese you need a translator (data format)</a:t>
            </a:r>
          </a:p>
          <a:p>
            <a:pPr lvl="2"/>
            <a:r>
              <a:rPr lang="en-US" dirty="0"/>
              <a:t>For computer data you need to know the format and translate what the machine reads to something you can digest</a:t>
            </a:r>
          </a:p>
          <a:p>
            <a:r>
              <a:rPr lang="en-US" dirty="0"/>
              <a:t>“Big data” means a Database system is required to manage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23177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F2B5-BBF6-FD6C-0EF2-CE14B3D6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Management Systems (DBMS)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FD02-FCBB-3F4F-541C-97267BBDA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3403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Unix file system and the hierarchic database</a:t>
            </a:r>
          </a:p>
          <a:p>
            <a:pPr lvl="1"/>
            <a:r>
              <a:rPr lang="en-US" dirty="0"/>
              <a:t>Evolved from fundamental concept of a tree structure in early computer science</a:t>
            </a:r>
          </a:p>
          <a:p>
            <a:pPr lvl="1"/>
            <a:r>
              <a:rPr lang="en-US" dirty="0"/>
              <a:t>Viewed as archaic in the IT world</a:t>
            </a:r>
          </a:p>
          <a:p>
            <a:pPr lvl="1"/>
            <a:r>
              <a:rPr lang="en-US" dirty="0"/>
              <a:t>Still used by large fraction of seismologists as </a:t>
            </a:r>
            <a:r>
              <a:rPr lang="en-US" dirty="0" err="1"/>
              <a:t>unix</a:t>
            </a:r>
            <a:r>
              <a:rPr lang="en-US" dirty="0"/>
              <a:t> directory file structures</a:t>
            </a:r>
          </a:p>
          <a:p>
            <a:pPr lvl="2"/>
            <a:r>
              <a:rPr lang="en-US" dirty="0"/>
              <a:t>Directory path is grouping (e.g. year/day directory like 2012/245)</a:t>
            </a:r>
          </a:p>
          <a:p>
            <a:pPr lvl="2"/>
            <a:r>
              <a:rPr lang="en-US" dirty="0"/>
              <a:t>Files (leaf of tree) are waveform data or other data files (name convention)</a:t>
            </a:r>
          </a:p>
          <a:p>
            <a:pPr lvl="2"/>
            <a:r>
              <a:rPr lang="en-US" dirty="0"/>
              <a:t>We will see the </a:t>
            </a:r>
            <a:r>
              <a:rPr lang="en-US" dirty="0" err="1"/>
              <a:t>Earthscope</a:t>
            </a:r>
            <a:r>
              <a:rPr lang="en-US" dirty="0"/>
              <a:t> archive has a legacy structure like that</a:t>
            </a:r>
          </a:p>
          <a:p>
            <a:r>
              <a:rPr lang="en-US" dirty="0"/>
              <a:t>Relational Database systems</a:t>
            </a:r>
          </a:p>
          <a:p>
            <a:pPr lvl="1"/>
            <a:r>
              <a:rPr lang="en-US" dirty="0"/>
              <a:t>First used in seismology in nuclear monitoring research</a:t>
            </a:r>
          </a:p>
          <a:p>
            <a:pPr lvl="1"/>
            <a:r>
              <a:rPr lang="en-US" dirty="0"/>
              <a:t>Now a standard part of most network operations but “under the hood”</a:t>
            </a:r>
          </a:p>
          <a:p>
            <a:pPr lvl="1"/>
            <a:r>
              <a:rPr lang="en-US" dirty="0"/>
              <a:t>Relational == Tables</a:t>
            </a:r>
          </a:p>
          <a:p>
            <a:pPr lvl="1"/>
            <a:r>
              <a:rPr lang="en-US" dirty="0"/>
              <a:t>You likely use multiple RDBMS systems ”under the hood” every day when you ran many modern internet “Apps”</a:t>
            </a:r>
          </a:p>
          <a:p>
            <a:r>
              <a:rPr lang="en-US" dirty="0"/>
              <a:t>Document Database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Used because it is far less rigid than an RDBMS – more suitable for research applications</a:t>
            </a:r>
          </a:p>
          <a:p>
            <a:pPr lvl="1"/>
            <a:r>
              <a:rPr lang="en-US" dirty="0"/>
              <a:t>Unconventional, but </a:t>
            </a:r>
          </a:p>
          <a:p>
            <a:pPr lvl="2"/>
            <a:r>
              <a:rPr lang="en-US" dirty="0"/>
              <a:t>MongoDB is as stable as any RDBMS </a:t>
            </a:r>
          </a:p>
          <a:p>
            <a:pPr lvl="2"/>
            <a:r>
              <a:rPr lang="en-US" dirty="0"/>
              <a:t>You have likely used MongoDB when running some internet Apps.   You can’t tell from the application </a:t>
            </a:r>
            <a:r>
              <a:rPr lang="en-US" dirty="0" err="1"/>
              <a:t>laye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614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CC47-3D37-DB85-3293-E0147E82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question 2: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DF97-8E3D-A5A7-F130-2EBEA69F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Helpful for me to know my audience</a:t>
            </a:r>
          </a:p>
          <a:p>
            <a:r>
              <a:rPr lang="en-US" dirty="0"/>
              <a:t>Do the poll while we take a short break</a:t>
            </a:r>
          </a:p>
          <a:p>
            <a:r>
              <a:rPr lang="en-US" dirty="0"/>
              <a:t>After break we will work on Session1 notebook on </a:t>
            </a:r>
            <a:r>
              <a:rPr lang="en-US" dirty="0" err="1"/>
              <a:t>GeoLab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62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7DE63-68E5-A689-7CC8-4E61D2B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Key Concepts of Part 1 of the notebook</a:t>
            </a:r>
          </a:p>
        </p:txBody>
      </p:sp>
    </p:spTree>
    <p:extLst>
      <p:ext uri="{BB962C8B-B14F-4D97-AF65-F5344CB8AC3E}">
        <p14:creationId xmlns:p14="http://schemas.microsoft.com/office/powerpoint/2010/main" val="4065974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527F-33F6-DA9D-55D8-9AB46F13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MsPASS</a:t>
            </a:r>
            <a:r>
              <a:rPr lang="en-US" dirty="0"/>
              <a:t> Data Object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BD70-F41A-E7CB-D1FB-2DF4F55AA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Metadata and sample data are different things and need to be handled differently</a:t>
            </a:r>
          </a:p>
          <a:p>
            <a:pPr lvl="1"/>
            <a:r>
              <a:rPr lang="en-US" dirty="0"/>
              <a:t>Sample data stored in “array-like” containers</a:t>
            </a:r>
          </a:p>
          <a:p>
            <a:pPr lvl="1"/>
            <a:r>
              <a:rPr lang="en-US" dirty="0"/>
              <a:t>Header data stored in a “dictionary-like” container (Metadata)</a:t>
            </a:r>
          </a:p>
          <a:p>
            <a:pPr lvl="1"/>
            <a:r>
              <a:rPr lang="en-US" dirty="0"/>
              <a:t>”Is a” (</a:t>
            </a:r>
            <a:r>
              <a:rPr lang="en-US" dirty="0" err="1"/>
              <a:t>MsPASS</a:t>
            </a:r>
            <a:r>
              <a:rPr lang="en-US" dirty="0"/>
              <a:t>) versus “has a” (</a:t>
            </a:r>
            <a:r>
              <a:rPr lang="en-US" dirty="0" err="1"/>
              <a:t>obpsy</a:t>
            </a:r>
            <a:r>
              <a:rPr lang="en-US" dirty="0"/>
              <a:t>) perspective on header data </a:t>
            </a:r>
          </a:p>
          <a:p>
            <a:r>
              <a:rPr lang="en-US" dirty="0"/>
              <a:t>For parallel processing we require an ”</a:t>
            </a:r>
            <a:r>
              <a:rPr lang="en-US" dirty="0" err="1"/>
              <a:t>ErrorLogger</a:t>
            </a:r>
            <a:r>
              <a:rPr lang="en-US" dirty="0"/>
              <a:t>” container</a:t>
            </a:r>
          </a:p>
        </p:txBody>
      </p:sp>
    </p:spTree>
    <p:extLst>
      <p:ext uri="{BB962C8B-B14F-4D97-AF65-F5344CB8AC3E}">
        <p14:creationId xmlns:p14="http://schemas.microsoft.com/office/powerpoint/2010/main" val="50622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7FC402F-C035-AF4F-B1A5-AFF989E28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56" y="156356"/>
            <a:ext cx="4931078" cy="6545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CC849D-4F72-2E45-9605-41EC990CBFAC}"/>
              </a:ext>
            </a:extLst>
          </p:cNvPr>
          <p:cNvSpPr txBox="1"/>
          <p:nvPr/>
        </p:nvSpPr>
        <p:spPr>
          <a:xfrm>
            <a:off x="179882" y="5906125"/>
            <a:ext cx="6250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geeky details see:  https://</a:t>
            </a:r>
            <a:r>
              <a:rPr lang="en-US" dirty="0" err="1"/>
              <a:t>www.mspass.org</a:t>
            </a:r>
            <a:r>
              <a:rPr lang="en-US" dirty="0"/>
              <a:t>/</a:t>
            </a:r>
            <a:r>
              <a:rPr lang="en-US" dirty="0" err="1"/>
              <a:t>user_manual</a:t>
            </a:r>
            <a:r>
              <a:rPr lang="en-US" dirty="0"/>
              <a:t>/</a:t>
            </a:r>
            <a:r>
              <a:rPr lang="en-US" dirty="0" err="1"/>
              <a:t>data_object_design_concepts.html</a:t>
            </a:r>
            <a:r>
              <a:rPr lang="en-US" dirty="0"/>
              <a:t>#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33069-082B-234D-B6B0-86BAE9BB8C9A}"/>
              </a:ext>
            </a:extLst>
          </p:cNvPr>
          <p:cNvSpPr/>
          <p:nvPr/>
        </p:nvSpPr>
        <p:spPr>
          <a:xfrm>
            <a:off x="522514" y="544285"/>
            <a:ext cx="4441372" cy="50618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{ “</a:t>
            </a:r>
            <a:r>
              <a:rPr lang="en-US" dirty="0" err="1">
                <a:solidFill>
                  <a:schemeClr val="bg1"/>
                </a:solidFill>
              </a:rPr>
              <a:t>npts</a:t>
            </a:r>
            <a:r>
              <a:rPr lang="en-US" dirty="0">
                <a:solidFill>
                  <a:schemeClr val="bg1"/>
                </a:solidFill>
              </a:rPr>
              <a:t>” : 1024,</a:t>
            </a:r>
          </a:p>
          <a:p>
            <a:r>
              <a:rPr lang="en-US" dirty="0">
                <a:solidFill>
                  <a:schemeClr val="bg1"/>
                </a:solidFill>
              </a:rPr>
              <a:t>   “t0” : 601489897876697.89,</a:t>
            </a:r>
          </a:p>
          <a:p>
            <a:r>
              <a:rPr lang="en-US" dirty="0">
                <a:solidFill>
                  <a:schemeClr val="bg1"/>
                </a:solidFill>
              </a:rPr>
              <a:t>   “</a:t>
            </a:r>
            <a:r>
              <a:rPr lang="en-US" dirty="0" err="1">
                <a:solidFill>
                  <a:schemeClr val="bg1"/>
                </a:solidFill>
              </a:rPr>
              <a:t>sta</a:t>
            </a:r>
            <a:r>
              <a:rPr lang="en-US" dirty="0">
                <a:solidFill>
                  <a:schemeClr val="bg1"/>
                </a:solidFill>
              </a:rPr>
              <a:t>” : “AAK”</a:t>
            </a:r>
          </a:p>
          <a:p>
            <a:r>
              <a:rPr lang="en-US" dirty="0">
                <a:solidFill>
                  <a:schemeClr val="bg1"/>
                </a:solidFill>
              </a:rPr>
              <a:t>   ”</a:t>
            </a:r>
            <a:r>
              <a:rPr lang="en-US" dirty="0" err="1">
                <a:solidFill>
                  <a:schemeClr val="bg1"/>
                </a:solidFill>
              </a:rPr>
              <a:t>chan</a:t>
            </a:r>
            <a:r>
              <a:rPr lang="en-US" dirty="0">
                <a:solidFill>
                  <a:schemeClr val="bg1"/>
                </a:solidFill>
              </a:rPr>
              <a:t>” : “BHZ”</a:t>
            </a:r>
          </a:p>
          <a:p>
            <a:r>
              <a:rPr lang="en-US" dirty="0">
                <a:solidFill>
                  <a:schemeClr val="bg1"/>
                </a:solidFill>
              </a:rPr>
              <a:t>   … 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r>
              <a:rPr lang="en-US" dirty="0">
                <a:solidFill>
                  <a:schemeClr val="bg1"/>
                </a:solidFill>
              </a:rPr>
              <a:t>{ “</a:t>
            </a:r>
            <a:r>
              <a:rPr lang="en-US" dirty="0" err="1">
                <a:solidFill>
                  <a:schemeClr val="bg1"/>
                </a:solidFill>
              </a:rPr>
              <a:t>npts</a:t>
            </a:r>
            <a:r>
              <a:rPr lang="en-US" dirty="0">
                <a:solidFill>
                  <a:schemeClr val="bg1"/>
                </a:solidFill>
              </a:rPr>
              <a:t>” : 1024,</a:t>
            </a:r>
          </a:p>
          <a:p>
            <a:r>
              <a:rPr lang="en-US" dirty="0">
                <a:solidFill>
                  <a:schemeClr val="bg1"/>
                </a:solidFill>
              </a:rPr>
              <a:t>   “t0” : 601489897876684.24,</a:t>
            </a:r>
          </a:p>
          <a:p>
            <a:r>
              <a:rPr lang="en-US" dirty="0">
                <a:solidFill>
                  <a:schemeClr val="bg1"/>
                </a:solidFill>
              </a:rPr>
              <a:t>   “</a:t>
            </a:r>
            <a:r>
              <a:rPr lang="en-US" dirty="0" err="1">
                <a:solidFill>
                  <a:schemeClr val="bg1"/>
                </a:solidFill>
              </a:rPr>
              <a:t>sta</a:t>
            </a:r>
            <a:r>
              <a:rPr lang="en-US" dirty="0">
                <a:solidFill>
                  <a:schemeClr val="bg1"/>
                </a:solidFill>
              </a:rPr>
              <a:t>” : “BZN”</a:t>
            </a:r>
          </a:p>
          <a:p>
            <a:r>
              <a:rPr lang="en-US" dirty="0">
                <a:solidFill>
                  <a:schemeClr val="bg1"/>
                </a:solidFill>
              </a:rPr>
              <a:t>   ”</a:t>
            </a:r>
            <a:r>
              <a:rPr lang="en-US" dirty="0" err="1">
                <a:solidFill>
                  <a:schemeClr val="bg1"/>
                </a:solidFill>
              </a:rPr>
              <a:t>chan</a:t>
            </a:r>
            <a:r>
              <a:rPr lang="en-US" dirty="0">
                <a:solidFill>
                  <a:schemeClr val="bg1"/>
                </a:solidFill>
              </a:rPr>
              <a:t>” : “BHZ”</a:t>
            </a:r>
          </a:p>
          <a:p>
            <a:r>
              <a:rPr lang="en-US" dirty="0">
                <a:solidFill>
                  <a:schemeClr val="bg1"/>
                </a:solidFill>
              </a:rPr>
              <a:t>   … 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r>
              <a:rPr lang="en-US" dirty="0">
                <a:solidFill>
                  <a:schemeClr val="bg1"/>
                </a:solidFill>
              </a:rPr>
              <a:t>…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FB1FE-A8B8-DC41-8761-1D089394FF80}"/>
              </a:ext>
            </a:extLst>
          </p:cNvPr>
          <p:cNvSpPr txBox="1"/>
          <p:nvPr/>
        </p:nvSpPr>
        <p:spPr>
          <a:xfrm>
            <a:off x="729343" y="0"/>
            <a:ext cx="353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MongoDB collection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FF4D25-C01F-8E46-9A1C-C491785F6856}"/>
              </a:ext>
            </a:extLst>
          </p:cNvPr>
          <p:cNvGrpSpPr/>
          <p:nvPr/>
        </p:nvGrpSpPr>
        <p:grpSpPr>
          <a:xfrm>
            <a:off x="522514" y="1328057"/>
            <a:ext cx="7238984" cy="3156857"/>
            <a:chOff x="522514" y="1328057"/>
            <a:chExt cx="7238984" cy="31568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DADFF8-1185-EA43-9B3E-92CE094E20DA}"/>
                </a:ext>
              </a:extLst>
            </p:cNvPr>
            <p:cNvSpPr/>
            <p:nvPr/>
          </p:nvSpPr>
          <p:spPr>
            <a:xfrm>
              <a:off x="522514" y="2667000"/>
              <a:ext cx="3331029" cy="1817914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D17801-9DF2-9146-AC20-AB71DABFE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5315" y="1328057"/>
              <a:ext cx="3886183" cy="224790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27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4CE1-CCFE-8BAF-FCB8-F19F10E9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 MongoDB fundamentals</a:t>
            </a:r>
          </a:p>
        </p:txBody>
      </p:sp>
    </p:spTree>
    <p:extLst>
      <p:ext uri="{BB962C8B-B14F-4D97-AF65-F5344CB8AC3E}">
        <p14:creationId xmlns:p14="http://schemas.microsoft.com/office/powerpoint/2010/main" val="3134726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2708-1593-30FA-5465-09D62451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Database concept:  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71C8-741C-1382-90D3-A7E9EEC9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196786" cy="431910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Create</a:t>
            </a:r>
          </a:p>
          <a:p>
            <a:pPr marL="457200" lvl="1" indent="0">
              <a:buNone/>
            </a:pPr>
            <a:r>
              <a:rPr lang="en-US" dirty="0"/>
              <a:t>Stock MongoDB</a:t>
            </a:r>
          </a:p>
          <a:p>
            <a:pPr lvl="1"/>
            <a:r>
              <a:rPr lang="en-US" dirty="0" err="1"/>
              <a:t>Db.insert_one</a:t>
            </a:r>
            <a:endParaRPr lang="en-US" dirty="0"/>
          </a:p>
          <a:p>
            <a:pPr lvl="1"/>
            <a:r>
              <a:rPr lang="en-US" dirty="0" err="1"/>
              <a:t>Db.insert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 err="1"/>
              <a:t>MsPASS</a:t>
            </a:r>
            <a:r>
              <a:rPr lang="en-US" dirty="0"/>
              <a:t> Extension</a:t>
            </a:r>
          </a:p>
          <a:p>
            <a:pPr lvl="1"/>
            <a:r>
              <a:rPr lang="en-US" dirty="0" err="1"/>
              <a:t>Db.save_data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Db.save_inventory</a:t>
            </a:r>
            <a:endParaRPr lang="en-US" dirty="0"/>
          </a:p>
          <a:p>
            <a:pPr lvl="1"/>
            <a:r>
              <a:rPr lang="en-US" dirty="0" err="1"/>
              <a:t>Db.save_catalog</a:t>
            </a:r>
            <a:endParaRPr lang="en-US" dirty="0"/>
          </a:p>
          <a:p>
            <a:r>
              <a:rPr lang="en-US" dirty="0"/>
              <a:t>Read</a:t>
            </a:r>
          </a:p>
          <a:p>
            <a:pPr marL="457200" lvl="1" indent="0">
              <a:buNone/>
            </a:pPr>
            <a:r>
              <a:rPr lang="en-US" dirty="0"/>
              <a:t>Stock MongoDB</a:t>
            </a:r>
          </a:p>
          <a:p>
            <a:pPr lvl="1"/>
            <a:r>
              <a:rPr lang="en-US" dirty="0" err="1"/>
              <a:t>Db.find_one</a:t>
            </a:r>
            <a:endParaRPr lang="en-US" dirty="0"/>
          </a:p>
          <a:p>
            <a:pPr lvl="1"/>
            <a:r>
              <a:rPr lang="en-US" dirty="0" err="1"/>
              <a:t>Db.find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MsPASS</a:t>
            </a:r>
            <a:r>
              <a:rPr lang="en-US" dirty="0"/>
              <a:t> Extension</a:t>
            </a:r>
          </a:p>
          <a:p>
            <a:pPr lvl="1"/>
            <a:r>
              <a:rPr lang="en-US" dirty="0" err="1"/>
              <a:t>Db.read_data</a:t>
            </a:r>
            <a:endParaRPr lang="en-US" dirty="0"/>
          </a:p>
          <a:p>
            <a:r>
              <a:rPr lang="en-US" dirty="0"/>
              <a:t>Update</a:t>
            </a:r>
          </a:p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433925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4C6B-3EBD-1879-0B8D-800FA185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Create:  </a:t>
            </a:r>
            <a:r>
              <a:rPr lang="en-US" dirty="0" err="1"/>
              <a:t>MsPASS</a:t>
            </a:r>
            <a:r>
              <a:rPr lang="en-US" dirty="0"/>
              <a:t> </a:t>
            </a:r>
            <a:r>
              <a:rPr lang="en-US" dirty="0" err="1"/>
              <a:t>save_data</a:t>
            </a:r>
            <a:r>
              <a:rPr lang="en-US" dirty="0"/>
              <a:t> method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682F-7F63-7F02-9B58-95AEC50D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Key concepts:</a:t>
            </a:r>
          </a:p>
          <a:p>
            <a:pPr lvl="1"/>
            <a:r>
              <a:rPr lang="en-US" dirty="0"/>
              <a:t>Data object is torn to pieces with save</a:t>
            </a:r>
          </a:p>
          <a:p>
            <a:pPr lvl="1"/>
            <a:r>
              <a:rPr lang="en-US" dirty="0"/>
              <a:t>Different containers are saved in different “collections” or files</a:t>
            </a:r>
          </a:p>
          <a:p>
            <a:r>
              <a:rPr lang="en-US" dirty="0"/>
              <a:t>Header (Metadata container) saved in</a:t>
            </a:r>
          </a:p>
          <a:p>
            <a:pPr lvl="1"/>
            <a:r>
              <a:rPr lang="en-US" dirty="0" err="1"/>
              <a:t>wf_miniseed</a:t>
            </a:r>
            <a:endParaRPr lang="en-US" dirty="0"/>
          </a:p>
          <a:p>
            <a:pPr lvl="1"/>
            <a:r>
              <a:rPr lang="en-US" dirty="0" err="1"/>
              <a:t>wf_TimeSeries</a:t>
            </a:r>
            <a:endParaRPr lang="en-US" dirty="0"/>
          </a:p>
          <a:p>
            <a:pPr lvl="1"/>
            <a:r>
              <a:rPr lang="en-US" dirty="0" err="1"/>
              <a:t>wf_Seismogram</a:t>
            </a:r>
            <a:endParaRPr lang="en-US" dirty="0"/>
          </a:p>
          <a:p>
            <a:r>
              <a:rPr lang="en-US" dirty="0"/>
              <a:t>Sample data</a:t>
            </a:r>
          </a:p>
          <a:p>
            <a:pPr lvl="1"/>
            <a:r>
              <a:rPr lang="en-US" dirty="0"/>
              <a:t>Files </a:t>
            </a:r>
          </a:p>
          <a:p>
            <a:pPr lvl="1"/>
            <a:r>
              <a:rPr lang="en-US" dirty="0" err="1"/>
              <a:t>Gridfs</a:t>
            </a:r>
            <a:r>
              <a:rPr lang="en-US" dirty="0"/>
              <a:t> (internal to MongoDB)</a:t>
            </a:r>
          </a:p>
          <a:p>
            <a:r>
              <a:rPr lang="en-US" dirty="0"/>
              <a:t>Error log </a:t>
            </a:r>
          </a:p>
          <a:p>
            <a:r>
              <a:rPr lang="en-US" dirty="0"/>
              <a:t>Processing History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3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758C9429-2FD3-3C44-8092-832C40EC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3" y="843526"/>
            <a:ext cx="7423751" cy="5604933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A59FC2-4B19-0EE3-DC28-5396F98510DA}"/>
              </a:ext>
            </a:extLst>
          </p:cNvPr>
          <p:cNvSpPr/>
          <p:nvPr/>
        </p:nvSpPr>
        <p:spPr>
          <a:xfrm>
            <a:off x="1774555" y="882502"/>
            <a:ext cx="1998921" cy="978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0BB4E-7B33-938F-973D-2CCA33997910}"/>
              </a:ext>
            </a:extLst>
          </p:cNvPr>
          <p:cNvSpPr txBox="1"/>
          <p:nvPr/>
        </p:nvSpPr>
        <p:spPr>
          <a:xfrm>
            <a:off x="2093532" y="1041987"/>
            <a:ext cx="1392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FDSN data center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249EA3-2EF9-59AF-131A-B73EEC87F164}"/>
              </a:ext>
            </a:extLst>
          </p:cNvPr>
          <p:cNvCxnSpPr>
            <a:stCxn id="4" idx="3"/>
          </p:cNvCxnSpPr>
          <p:nvPr/>
        </p:nvCxnSpPr>
        <p:spPr>
          <a:xfrm>
            <a:off x="3773476" y="1371600"/>
            <a:ext cx="1382233" cy="1041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2E7BBA9-8705-AEED-E1CB-BA95E573F1F5}"/>
              </a:ext>
            </a:extLst>
          </p:cNvPr>
          <p:cNvSpPr txBox="1"/>
          <p:nvPr/>
        </p:nvSpPr>
        <p:spPr>
          <a:xfrm>
            <a:off x="477012" y="0"/>
            <a:ext cx="1195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Graphical Representation of Save/read operations</a:t>
            </a:r>
          </a:p>
        </p:txBody>
      </p:sp>
    </p:spTree>
    <p:extLst>
      <p:ext uri="{BB962C8B-B14F-4D97-AF65-F5344CB8AC3E}">
        <p14:creationId xmlns:p14="http://schemas.microsoft.com/office/powerpoint/2010/main" val="1975724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B5A1-E769-BA9B-02E9-92CCA3C0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6B809-FEA9-FF02-BC36-3957DA70F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concept of the R of CRUD</a:t>
            </a:r>
          </a:p>
          <a:p>
            <a:r>
              <a:rPr lang="en-US" dirty="0"/>
              <a:t>You almost never want “all” the things a database manages</a:t>
            </a:r>
          </a:p>
          <a:p>
            <a:r>
              <a:rPr lang="en-US" dirty="0"/>
              <a:t>All database systems use some “query language” to select the data desired</a:t>
            </a:r>
          </a:p>
          <a:p>
            <a:r>
              <a:rPr lang="en-US" dirty="0"/>
              <a:t>Standard in RDBMS is “Structured Query Language” (SQL)</a:t>
            </a:r>
          </a:p>
          <a:p>
            <a:r>
              <a:rPr lang="en-US" dirty="0"/>
              <a:t>MongoDB uses a different query language based on python dictionaries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844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65F1-9940-A954-F2F4-E4EDF227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Query Language (MQL)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9F9C6-B194-AEF7-1071-1D5C427C3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query methods:</a:t>
            </a:r>
          </a:p>
          <a:p>
            <a:pPr lvl="1"/>
            <a:r>
              <a:rPr lang="en-US" dirty="0" err="1"/>
              <a:t>find_one</a:t>
            </a:r>
            <a:r>
              <a:rPr lang="en-US" dirty="0"/>
              <a:t> – retrieve first document matching query</a:t>
            </a:r>
          </a:p>
          <a:p>
            <a:pPr lvl="1"/>
            <a:r>
              <a:rPr lang="en-US" dirty="0"/>
              <a:t>find – retrieve command cursor == list of documents matching query</a:t>
            </a:r>
          </a:p>
          <a:p>
            <a:pPr lvl="1"/>
            <a:r>
              <a:rPr lang="en-US" dirty="0"/>
              <a:t>arg0 of both is a python dictionary </a:t>
            </a:r>
          </a:p>
          <a:p>
            <a:r>
              <a:rPr lang="en-US" dirty="0"/>
              <a:t>Many online sources </a:t>
            </a:r>
          </a:p>
          <a:p>
            <a:pPr lvl="1"/>
            <a:r>
              <a:rPr lang="en-US" dirty="0"/>
              <a:t>Most are poor</a:t>
            </a:r>
          </a:p>
          <a:p>
            <a:pPr lvl="1"/>
            <a:r>
              <a:rPr lang="en-US" dirty="0"/>
              <a:t>Most just echo examples in MongoDB documentation</a:t>
            </a:r>
          </a:p>
          <a:p>
            <a:r>
              <a:rPr lang="en-US" dirty="0" err="1"/>
              <a:t>MsPASS</a:t>
            </a:r>
            <a:r>
              <a:rPr lang="en-US" dirty="0"/>
              <a:t> advice</a:t>
            </a:r>
          </a:p>
          <a:p>
            <a:pPr lvl="1"/>
            <a:r>
              <a:rPr lang="en-US" dirty="0"/>
              <a:t>See User Manual section </a:t>
            </a:r>
            <a:r>
              <a:rPr lang="en-US" dirty="0">
                <a:hlinkClick r:id="rId2"/>
              </a:rPr>
              <a:t>Using MongoDB with MsPASS</a:t>
            </a:r>
            <a:endParaRPr lang="en-US" dirty="0"/>
          </a:p>
          <a:p>
            <a:pPr lvl="1"/>
            <a:r>
              <a:rPr lang="en-US" dirty="0"/>
              <a:t>Today’s tutorial and similar tutorial found </a:t>
            </a:r>
            <a:r>
              <a:rPr lang="en-US" dirty="0">
                <a:hlinkClick r:id="rId3"/>
              </a:rPr>
              <a:t>here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429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5D02-4135-A6FA-4818-DF96F154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Queries are used in </a:t>
            </a:r>
            <a:r>
              <a:rPr lang="en-US" dirty="0" err="1"/>
              <a:t>MsPASS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305EA-D1D7-AA2E-28D8-E0D35C443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Serial Atomic read loops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Serial Ensemble read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04DD2-C1B5-DC4C-3713-9AF6720856D8}"/>
              </a:ext>
            </a:extLst>
          </p:cNvPr>
          <p:cNvSpPr txBox="1"/>
          <p:nvPr/>
        </p:nvSpPr>
        <p:spPr>
          <a:xfrm>
            <a:off x="1286533" y="2732561"/>
            <a:ext cx="7758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cursor = </a:t>
            </a:r>
            <a:r>
              <a:rPr lang="en-US" dirty="0" err="1"/>
              <a:t>db.wf_miniseed.find</a:t>
            </a:r>
            <a:r>
              <a:rPr lang="en-US" dirty="0"/>
              <a:t>(query)</a:t>
            </a:r>
          </a:p>
          <a:p>
            <a:r>
              <a:rPr lang="en-US" dirty="0"/>
              <a:t>for doc in cursor:</a:t>
            </a:r>
          </a:p>
          <a:p>
            <a:r>
              <a:rPr lang="en-US" dirty="0"/>
              <a:t>   d = </a:t>
            </a:r>
            <a:r>
              <a:rPr lang="en-US" dirty="0" err="1"/>
              <a:t>db.read_data</a:t>
            </a:r>
            <a:r>
              <a:rPr lang="en-US" dirty="0"/>
              <a:t>(</a:t>
            </a:r>
            <a:r>
              <a:rPr lang="en-US" dirty="0" err="1"/>
              <a:t>doc,collection</a:t>
            </a:r>
            <a:r>
              <a:rPr lang="en-US" dirty="0"/>
              <a:t>=‘</a:t>
            </a:r>
            <a:r>
              <a:rPr lang="en-US" dirty="0" err="1"/>
              <a:t>wf_TimeSeries</a:t>
            </a:r>
            <a:r>
              <a:rPr lang="en-US" dirty="0"/>
              <a:t>’)</a:t>
            </a:r>
          </a:p>
          <a:p>
            <a:r>
              <a:rPr lang="en-US" dirty="0"/>
              <a:t>   ...  Processing functions …</a:t>
            </a:r>
          </a:p>
          <a:p>
            <a:r>
              <a:rPr lang="en-US" dirty="0"/>
              <a:t>   </a:t>
            </a:r>
            <a:r>
              <a:rPr lang="en-US" dirty="0" err="1"/>
              <a:t>db.save_data</a:t>
            </a:r>
            <a:r>
              <a:rPr lang="en-US" dirty="0"/>
              <a:t>(d)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6D14B-7F26-9B51-B67E-6E3845A34A2D}"/>
              </a:ext>
            </a:extLst>
          </p:cNvPr>
          <p:cNvSpPr txBox="1"/>
          <p:nvPr/>
        </p:nvSpPr>
        <p:spPr>
          <a:xfrm>
            <a:off x="1233377" y="4540100"/>
            <a:ext cx="9675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srcid</a:t>
            </a:r>
            <a:r>
              <a:rPr lang="en-US" dirty="0"/>
              <a:t> = </a:t>
            </a:r>
            <a:r>
              <a:rPr lang="en-US" dirty="0" err="1"/>
              <a:t>db.source.find</a:t>
            </a:r>
            <a:r>
              <a:rPr lang="en-US" dirty="0"/>
              <a:t>(query).distinct(‘_id’)</a:t>
            </a:r>
          </a:p>
          <a:p>
            <a:r>
              <a:rPr lang="en-US" dirty="0"/>
              <a:t>for </a:t>
            </a:r>
            <a:r>
              <a:rPr lang="en-US" dirty="0" err="1"/>
              <a:t>sid</a:t>
            </a:r>
            <a:r>
              <a:rPr lang="en-US" dirty="0"/>
              <a:t> in </a:t>
            </a:r>
            <a:r>
              <a:rPr lang="en-US" dirty="0" err="1"/>
              <a:t>srcid</a:t>
            </a:r>
            <a:r>
              <a:rPr lang="en-US" dirty="0"/>
              <a:t>:</a:t>
            </a:r>
          </a:p>
          <a:p>
            <a:r>
              <a:rPr lang="en-US" dirty="0"/>
              <a:t>   </a:t>
            </a:r>
            <a:r>
              <a:rPr lang="en-US" dirty="0" err="1"/>
              <a:t>wf_query</a:t>
            </a:r>
            <a:r>
              <a:rPr lang="en-US" dirty="0"/>
              <a:t> = {‘</a:t>
            </a:r>
            <a:r>
              <a:rPr lang="en-US" dirty="0" err="1"/>
              <a:t>source_id</a:t>
            </a:r>
            <a:r>
              <a:rPr lang="en-US" dirty="0"/>
              <a:t>’ : </a:t>
            </a:r>
            <a:r>
              <a:rPr lang="en-US" dirty="0" err="1"/>
              <a:t>sid</a:t>
            </a:r>
            <a:r>
              <a:rPr lang="en-US" dirty="0"/>
              <a:t>}</a:t>
            </a:r>
          </a:p>
          <a:p>
            <a:r>
              <a:rPr lang="en-US" dirty="0"/>
              <a:t>   cursor = </a:t>
            </a:r>
            <a:r>
              <a:rPr lang="en-US" dirty="0" err="1"/>
              <a:t>db.wf_miniseed.find</a:t>
            </a:r>
            <a:r>
              <a:rPr lang="en-US" dirty="0"/>
              <a:t>(</a:t>
            </a:r>
            <a:r>
              <a:rPr lang="en-US" dirty="0" err="1"/>
              <a:t>wf_query</a:t>
            </a:r>
            <a:r>
              <a:rPr lang="en-US" dirty="0"/>
              <a:t>)</a:t>
            </a:r>
          </a:p>
          <a:p>
            <a:r>
              <a:rPr lang="en-US" dirty="0"/>
              <a:t>   ensemble = </a:t>
            </a:r>
            <a:r>
              <a:rPr lang="en-US" dirty="0" err="1"/>
              <a:t>db.read_data</a:t>
            </a:r>
            <a:r>
              <a:rPr lang="en-US" dirty="0"/>
              <a:t>(cursor)</a:t>
            </a:r>
          </a:p>
          <a:p>
            <a:r>
              <a:rPr lang="en-US" dirty="0"/>
              <a:t>   … Processing functions</a:t>
            </a:r>
          </a:p>
          <a:p>
            <a:r>
              <a:rPr lang="en-US" dirty="0"/>
              <a:t>   </a:t>
            </a:r>
            <a:r>
              <a:rPr lang="en-US" dirty="0" err="1"/>
              <a:t>db.save_data</a:t>
            </a:r>
            <a:r>
              <a:rPr lang="en-US" dirty="0"/>
              <a:t>(</a:t>
            </a:r>
            <a:r>
              <a:rPr lang="en-US" dirty="0" err="1"/>
              <a:t>ensemble,collection</a:t>
            </a:r>
            <a:r>
              <a:rPr lang="en-US" dirty="0"/>
              <a:t>=‘</a:t>
            </a:r>
            <a:r>
              <a:rPr lang="en-US" dirty="0" err="1"/>
              <a:t>wf_TimeSeries</a:t>
            </a:r>
            <a:r>
              <a:rPr lang="en-US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367884058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8689</TotalTime>
  <Words>2912</Words>
  <Application>Microsoft Macintosh PowerPoint</Application>
  <PresentationFormat>Widescreen</PresentationFormat>
  <Paragraphs>406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Arial</vt:lpstr>
      <vt:lpstr>Trebuchet MS</vt:lpstr>
      <vt:lpstr>Berlin</vt:lpstr>
      <vt:lpstr>Using MsPASS for Data Processing on HPC and Cloud Systems  Session 1:   Data Management with MsPASS</vt:lpstr>
      <vt:lpstr>Introductions</vt:lpstr>
      <vt:lpstr>Ian Wang</vt:lpstr>
      <vt:lpstr>Course would not have been possible without Earthscope staff:</vt:lpstr>
      <vt:lpstr>Course Business</vt:lpstr>
      <vt:lpstr>EarthScope Digital Credential</vt:lpstr>
      <vt:lpstr>How to Claim Your Credential</vt:lpstr>
      <vt:lpstr>Axioms of the modern world:</vt:lpstr>
      <vt:lpstr>Career corollaries:</vt:lpstr>
      <vt:lpstr>Career corollary 2:  AI and the future</vt:lpstr>
      <vt:lpstr>Course Corollaries:</vt:lpstr>
      <vt:lpstr>Assumptions</vt:lpstr>
      <vt:lpstr>Assignments after each session</vt:lpstr>
      <vt:lpstr>Course Agenda</vt:lpstr>
      <vt:lpstr>How these sessions will work</vt:lpstr>
      <vt:lpstr>Using the Notebooks</vt:lpstr>
      <vt:lpstr>PowerPoint Presentation</vt:lpstr>
      <vt:lpstr>A fundamental qualifier:   “research computing”</vt:lpstr>
      <vt:lpstr>Production versus Research IT systems</vt:lpstr>
      <vt:lpstr>Key Roles MsPASS can play in research today</vt:lpstr>
      <vt:lpstr>What is MsPASS good for</vt:lpstr>
      <vt:lpstr>Aside:  Reproducible Science</vt:lpstr>
      <vt:lpstr>MsPASS is NOT</vt:lpstr>
      <vt:lpstr>What is in the box?</vt:lpstr>
      <vt:lpstr>Sermonette/Sales Pitch</vt:lpstr>
      <vt:lpstr>I know ObsPy well, why should I move to MsPASS?</vt:lpstr>
      <vt:lpstr>Documentation, documentation, documentation:</vt:lpstr>
      <vt:lpstr>IMPORTANT Consequence of good documentation</vt:lpstr>
      <vt:lpstr>Data Management</vt:lpstr>
      <vt:lpstr>Data Management: size matters</vt:lpstr>
      <vt:lpstr>Database Management Systems (DBMS)</vt:lpstr>
      <vt:lpstr>Poll question 2:  </vt:lpstr>
      <vt:lpstr>Review of Key Concepts of Part 1 of the notebook</vt:lpstr>
      <vt:lpstr>MsPASS Data Object Concepts</vt:lpstr>
      <vt:lpstr>PowerPoint Presentation</vt:lpstr>
      <vt:lpstr>Part 2:  MongoDB fundamentals</vt:lpstr>
      <vt:lpstr>Generic Database concept:  CRUD</vt:lpstr>
      <vt:lpstr>Create:  MsPASS save_data method concepts</vt:lpstr>
      <vt:lpstr>PowerPoint Presentation</vt:lpstr>
      <vt:lpstr>Database Queries</vt:lpstr>
      <vt:lpstr>MongoDB Query Language (MQL)</vt:lpstr>
      <vt:lpstr>How Queries are used in MsPASS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Massively Parallel Analysis System for Seismology  (MsPASS)</dc:title>
  <dc:creator>Pavlis, Gary Lee</dc:creator>
  <cp:lastModifiedBy>Pavlis, Gary Lee</cp:lastModifiedBy>
  <cp:revision>96</cp:revision>
  <dcterms:created xsi:type="dcterms:W3CDTF">2024-05-12T10:45:01Z</dcterms:created>
  <dcterms:modified xsi:type="dcterms:W3CDTF">2026-07-13T19:09:21Z</dcterms:modified>
</cp:coreProperties>
</file>